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</p:sldMasterIdLst>
  <p:notesMasterIdLst>
    <p:notesMasterId r:id="rId6"/>
  </p:notesMasterIdLst>
  <p:sldIdLst>
    <p:sldId id="305" r:id="rId3"/>
    <p:sldId id="307" r:id="rId4"/>
    <p:sldId id="306" r:id="rId5"/>
  </p:sldIdLst>
  <p:sldSz cx="12192000" cy="6858000"/>
  <p:notesSz cx="7010400" cy="9296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F58A27E-24A7-47AF-982F-6DF91EB26FC0}">
          <p14:sldIdLst>
            <p14:sldId id="305"/>
            <p14:sldId id="307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D9D9D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67" autoAdjust="0"/>
    <p:restoredTop sz="86424" autoAdjust="0"/>
  </p:normalViewPr>
  <p:slideViewPr>
    <p:cSldViewPr snapToGrid="0">
      <p:cViewPr varScale="1">
        <p:scale>
          <a:sx n="78" d="100"/>
          <a:sy n="78" d="100"/>
        </p:scale>
        <p:origin x="120" y="4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임재홍" userId="dd14a72c-bfb9-4b91-8d21-07474b2ff6f5" providerId="ADAL" clId="{02B88EE5-7F74-47B5-9EDC-8BC54C8E5419}"/>
    <pc:docChg chg="modSld">
      <pc:chgData name="임재홍" userId="dd14a72c-bfb9-4b91-8d21-07474b2ff6f5" providerId="ADAL" clId="{02B88EE5-7F74-47B5-9EDC-8BC54C8E5419}" dt="2026-04-09T04:38:55.344" v="2" actId="33553"/>
      <pc:docMkLst>
        <pc:docMk/>
      </pc:docMkLst>
      <pc:sldChg chg="modSp mod">
        <pc:chgData name="임재홍" userId="dd14a72c-bfb9-4b91-8d21-07474b2ff6f5" providerId="ADAL" clId="{02B88EE5-7F74-47B5-9EDC-8BC54C8E5419}" dt="2026-04-09T04:38:50.567" v="0" actId="33553"/>
        <pc:sldMkLst>
          <pc:docMk/>
          <pc:sldMk cId="4242751264" sldId="305"/>
        </pc:sldMkLst>
        <pc:spChg chg="mod">
          <ac:chgData name="임재홍" userId="dd14a72c-bfb9-4b91-8d21-07474b2ff6f5" providerId="ADAL" clId="{02B88EE5-7F74-47B5-9EDC-8BC54C8E5419}" dt="2026-04-09T04:38:50.567" v="0" actId="33553"/>
          <ac:spMkLst>
            <pc:docMk/>
            <pc:sldMk cId="4242751264" sldId="305"/>
            <ac:spMk id="13" creationId="{273224DD-DAAF-BB42-7591-9935C6D7707B}"/>
          </ac:spMkLst>
        </pc:spChg>
      </pc:sldChg>
      <pc:sldChg chg="modSp mod">
        <pc:chgData name="임재홍" userId="dd14a72c-bfb9-4b91-8d21-07474b2ff6f5" providerId="ADAL" clId="{02B88EE5-7F74-47B5-9EDC-8BC54C8E5419}" dt="2026-04-09T04:38:55.344" v="2" actId="33553"/>
        <pc:sldMkLst>
          <pc:docMk/>
          <pc:sldMk cId="3674032988" sldId="306"/>
        </pc:sldMkLst>
        <pc:spChg chg="mod">
          <ac:chgData name="임재홍" userId="dd14a72c-bfb9-4b91-8d21-07474b2ff6f5" providerId="ADAL" clId="{02B88EE5-7F74-47B5-9EDC-8BC54C8E5419}" dt="2026-04-09T04:38:55.344" v="2" actId="33553"/>
          <ac:spMkLst>
            <pc:docMk/>
            <pc:sldMk cId="3674032988" sldId="306"/>
            <ac:spMk id="13" creationId="{F421C61E-173D-322C-D4E4-A258E9D35555}"/>
          </ac:spMkLst>
        </pc:spChg>
      </pc:sldChg>
      <pc:sldChg chg="modSp mod">
        <pc:chgData name="임재홍" userId="dd14a72c-bfb9-4b91-8d21-07474b2ff6f5" providerId="ADAL" clId="{02B88EE5-7F74-47B5-9EDC-8BC54C8E5419}" dt="2026-04-09T04:38:53.764" v="1" actId="33553"/>
        <pc:sldMkLst>
          <pc:docMk/>
          <pc:sldMk cId="3979293642" sldId="307"/>
        </pc:sldMkLst>
        <pc:spChg chg="mod">
          <ac:chgData name="임재홍" userId="dd14a72c-bfb9-4b91-8d21-07474b2ff6f5" providerId="ADAL" clId="{02B88EE5-7F74-47B5-9EDC-8BC54C8E5419}" dt="2026-04-09T04:38:53.764" v="1" actId="33553"/>
          <ac:spMkLst>
            <pc:docMk/>
            <pc:sldMk cId="3979293642" sldId="307"/>
            <ac:spMk id="13" creationId="{3EDED3C4-D3BE-2EAF-2248-6CB940A112C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&#52852;&#52852;&#50724;&#53665;%20&#48155;&#51008;%20&#54028;&#51068;\20260408_&#49340;&#49457;&#51204;&#51088;_SOP_&#51333;&#54633;&#48516;&#49437;_2026Q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&#52852;&#52852;&#50724;&#53665;%20&#48155;&#51008;%20&#54028;&#51068;\20260408_&#49340;&#49457;&#51204;&#51088;_SOP_&#51333;&#54633;&#48516;&#49437;_2026Q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cuments\&#52852;&#52852;&#50724;&#53665;%20&#48155;&#51008;%20&#54028;&#51068;\&#49340;&#49457;&#51204;&#51088;_SOP_&#51333;&#54633;&#48516;&#49437;_2026Q2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cuments\&#52852;&#52852;&#50724;&#53665;%20&#48155;&#51008;%20&#54028;&#51068;\20260408_&#49340;&#49457;&#51204;&#51088;_SOP_&#51333;&#54633;&#48516;&#49437;_2026Q2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cuments\&#52852;&#52852;&#50724;&#53665;%20&#48155;&#51008;%20&#54028;&#51068;\20260408_&#49340;&#49457;&#51204;&#51088;_SOP_&#51333;&#54633;&#48516;&#49437;_2026Q2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cuments\&#52852;&#52852;&#50724;&#53665;%20&#48155;&#51008;%20&#54028;&#51068;\20260408_&#49340;&#49457;&#51204;&#51088;_SOP_&#51333;&#54633;&#48516;&#49437;_2026Q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Bracket</a:t>
            </a:r>
            <a:r>
              <a:rPr lang="en-US" altLang="ko-KR" baseline="0" dirty="0"/>
              <a:t> W13 SOP vs M&amp;C </a:t>
            </a:r>
            <a:r>
              <a:rPr lang="ko-KR" altLang="en-US" baseline="0" dirty="0"/>
              <a:t>실적 비교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'브라켓제품 분석'!$T$3</c:f>
              <c:strCache>
                <c:ptCount val="1"/>
                <c:pt idx="0">
                  <c:v>W13 SOP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'브라켓제품 분석'!$S$4:$S$7</c:f>
              <c:strCache>
                <c:ptCount val="4"/>
                <c:pt idx="0">
                  <c:v>A176</c:v>
                </c:pt>
                <c:pt idx="1">
                  <c:v>A376</c:v>
                </c:pt>
                <c:pt idx="2">
                  <c:v>A266</c:v>
                </c:pt>
                <c:pt idx="3">
                  <c:v>A366</c:v>
                </c:pt>
              </c:strCache>
            </c:strRef>
          </c:cat>
          <c:val>
            <c:numRef>
              <c:f>'브라켓제품 분석'!$T$4:$T$7</c:f>
              <c:numCache>
                <c:formatCode>_(* #,##0_);_(* \(#,##0\);_(* "-"_);_(@_)</c:formatCode>
                <c:ptCount val="4"/>
                <c:pt idx="0">
                  <c:v>2085039</c:v>
                </c:pt>
                <c:pt idx="1">
                  <c:v>1016214</c:v>
                </c:pt>
                <c:pt idx="2">
                  <c:v>173632</c:v>
                </c:pt>
                <c:pt idx="3">
                  <c:v>123161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B8-407E-8A95-E7A30AB1897F}"/>
            </c:ext>
          </c:extLst>
        </c:ser>
        <c:ser>
          <c:idx val="1"/>
          <c:order val="1"/>
          <c:tx>
            <c:strRef>
              <c:f>'브라켓제품 분석'!$U$3</c:f>
              <c:strCache>
                <c:ptCount val="1"/>
                <c:pt idx="0">
                  <c:v>M&amp;C 실적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'브라켓제품 분석'!$S$4:$S$7</c:f>
              <c:strCache>
                <c:ptCount val="4"/>
                <c:pt idx="0">
                  <c:v>A176</c:v>
                </c:pt>
                <c:pt idx="1">
                  <c:v>A376</c:v>
                </c:pt>
                <c:pt idx="2">
                  <c:v>A266</c:v>
                </c:pt>
                <c:pt idx="3">
                  <c:v>A366</c:v>
                </c:pt>
              </c:strCache>
            </c:strRef>
          </c:cat>
          <c:val>
            <c:numRef>
              <c:f>'브라켓제품 분석'!$U$4:$U$7</c:f>
              <c:numCache>
                <c:formatCode>_(* #,##0_);_(* \(#,##0\);_(* "-"_);_(@_)</c:formatCode>
                <c:ptCount val="4"/>
                <c:pt idx="0">
                  <c:v>851170</c:v>
                </c:pt>
                <c:pt idx="1">
                  <c:v>222600</c:v>
                </c:pt>
                <c:pt idx="2">
                  <c:v>0</c:v>
                </c:pt>
                <c:pt idx="3">
                  <c:v>60960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B8-407E-8A95-E7A30AB189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337327"/>
        <c:axId val="83343087"/>
      </c:lineChart>
      <c:catAx>
        <c:axId val="83337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343087"/>
        <c:crosses val="autoZero"/>
        <c:auto val="1"/>
        <c:lblAlgn val="ctr"/>
        <c:lblOffset val="100"/>
        <c:noMultiLvlLbl val="0"/>
      </c:catAx>
      <c:valAx>
        <c:axId val="8334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337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Block</a:t>
            </a:r>
            <a:r>
              <a:rPr lang="en-US" altLang="ko-KR" baseline="0" dirty="0"/>
              <a:t> CNC W13 SOP vs M&amp;C </a:t>
            </a:r>
            <a:r>
              <a:rPr lang="ko-KR" altLang="en-US" baseline="0" dirty="0"/>
              <a:t>실적 비교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'가공제품 분석'!$S$3</c:f>
              <c:strCache>
                <c:ptCount val="1"/>
                <c:pt idx="0">
                  <c:v>W13 SOP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'가공제품 분석'!$R$4:$R$8</c:f>
              <c:strCache>
                <c:ptCount val="5"/>
                <c:pt idx="0">
                  <c:v>B7</c:v>
                </c:pt>
                <c:pt idx="1">
                  <c:v>B7R</c:v>
                </c:pt>
                <c:pt idx="2">
                  <c:v>M1</c:v>
                </c:pt>
                <c:pt idx="3">
                  <c:v>M3</c:v>
                </c:pt>
                <c:pt idx="4">
                  <c:v>PA1</c:v>
                </c:pt>
              </c:strCache>
            </c:strRef>
          </c:cat>
          <c:val>
            <c:numRef>
              <c:f>'가공제품 분석'!$S$4:$S$8</c:f>
              <c:numCache>
                <c:formatCode>_(* #,##0_);_(* \(#,##0\);_(* "-"_);_(@_)</c:formatCode>
                <c:ptCount val="5"/>
                <c:pt idx="0">
                  <c:v>73619</c:v>
                </c:pt>
                <c:pt idx="1">
                  <c:v>6905</c:v>
                </c:pt>
                <c:pt idx="2">
                  <c:v>582498</c:v>
                </c:pt>
                <c:pt idx="3">
                  <c:v>928686</c:v>
                </c:pt>
                <c:pt idx="4">
                  <c:v>68381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6F-4E45-9985-9C94ED3812D0}"/>
            </c:ext>
          </c:extLst>
        </c:ser>
        <c:ser>
          <c:idx val="1"/>
          <c:order val="1"/>
          <c:tx>
            <c:strRef>
              <c:f>'가공제품 분석'!$T$3</c:f>
              <c:strCache>
                <c:ptCount val="1"/>
                <c:pt idx="0">
                  <c:v>M&amp;C 실적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'가공제품 분석'!$R$4:$R$8</c:f>
              <c:strCache>
                <c:ptCount val="5"/>
                <c:pt idx="0">
                  <c:v>B7</c:v>
                </c:pt>
                <c:pt idx="1">
                  <c:v>B7R</c:v>
                </c:pt>
                <c:pt idx="2">
                  <c:v>M1</c:v>
                </c:pt>
                <c:pt idx="3">
                  <c:v>M3</c:v>
                </c:pt>
                <c:pt idx="4">
                  <c:v>PA1</c:v>
                </c:pt>
              </c:strCache>
            </c:strRef>
          </c:cat>
          <c:val>
            <c:numRef>
              <c:f>'가공제품 분석'!$T$4:$T$8</c:f>
              <c:numCache>
                <c:formatCode>_(* #,##0_);_(* \(#,##0\);_(* "-"_);_(@_)</c:formatCode>
                <c:ptCount val="5"/>
                <c:pt idx="0">
                  <c:v>151200</c:v>
                </c:pt>
                <c:pt idx="1">
                  <c:v>0</c:v>
                </c:pt>
                <c:pt idx="2">
                  <c:v>115454</c:v>
                </c:pt>
                <c:pt idx="3">
                  <c:v>115495</c:v>
                </c:pt>
                <c:pt idx="4">
                  <c:v>138000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6F-4E45-9985-9C94ED3812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4619711"/>
        <c:axId val="1294619231"/>
      </c:lineChart>
      <c:catAx>
        <c:axId val="129461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4619231"/>
        <c:crosses val="autoZero"/>
        <c:auto val="1"/>
        <c:lblAlgn val="ctr"/>
        <c:lblOffset val="100"/>
        <c:noMultiLvlLbl val="0"/>
      </c:catAx>
      <c:valAx>
        <c:axId val="1294619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4619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 rot="0"/>
          <a:lstStyle/>
          <a:p>
            <a:pPr>
              <a:defRPr sz="1300" b="0" u="none" strike="noStrike">
                <a:uFillTx/>
                <a:latin typeface="Arial"/>
              </a:defRPr>
            </a:pPr>
            <a:r>
              <a:rPr lang="en-US" altLang="ko-KR" sz="1800" b="1" u="none" strike="noStrike" dirty="0">
                <a:solidFill>
                  <a:srgbClr val="000000"/>
                </a:solidFill>
                <a:uFillTx/>
                <a:latin typeface="Calibri"/>
              </a:rPr>
              <a:t>Bracket</a:t>
            </a:r>
            <a:r>
              <a:rPr lang="ko-KR" altLang="en-US" sz="1800" b="1" u="none" strike="noStrike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altLang="ko-KR" sz="1800" b="1" u="none" strike="noStrike" dirty="0">
                <a:solidFill>
                  <a:srgbClr val="000000"/>
                </a:solidFill>
                <a:uFillTx/>
                <a:latin typeface="Calibri"/>
              </a:rPr>
              <a:t>3~6</a:t>
            </a:r>
            <a:r>
              <a:rPr lang="ko-KR" altLang="en-US" sz="1800" b="1" u="none" strike="noStrike" dirty="0">
                <a:solidFill>
                  <a:srgbClr val="000000"/>
                </a:solidFill>
                <a:uFillTx/>
                <a:latin typeface="Calibri"/>
              </a:rPr>
              <a:t>월 생산량 추이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A176</c:v>
          </c:tx>
          <c:spPr>
            <a:ln w="24840">
              <a:solidFill>
                <a:srgbClr val="4472C4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48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strRef>
              <c:f>'브라켓제품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'브라켓제품 분석'!$D$4:$G$4</c:f>
              <c:numCache>
                <c:formatCode>#,##0</c:formatCode>
                <c:ptCount val="4"/>
                <c:pt idx="0">
                  <c:v>2085039</c:v>
                </c:pt>
                <c:pt idx="1">
                  <c:v>1871622</c:v>
                </c:pt>
                <c:pt idx="2">
                  <c:v>1843612</c:v>
                </c:pt>
                <c:pt idx="3">
                  <c:v>1690422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185-4AAD-9A21-1335A13029F4}"/>
            </c:ext>
          </c:extLst>
        </c:ser>
        <c:ser>
          <c:idx val="1"/>
          <c:order val="1"/>
          <c:tx>
            <c:v>A276</c:v>
          </c:tx>
          <c:marker>
            <c:symbol val="none"/>
          </c:marker>
          <c:cat>
            <c:strRef>
              <c:f>'브라켓제품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'브라켓제품 분석'!#REF!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185-4AAD-9A21-1335A13029F4}"/>
            </c:ext>
          </c:extLst>
        </c:ser>
        <c:ser>
          <c:idx val="2"/>
          <c:order val="2"/>
          <c:tx>
            <c:v>A376</c:v>
          </c:tx>
          <c:spPr>
            <a:ln w="24840">
              <a:solidFill>
                <a:srgbClr val="ED7D31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48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strRef>
              <c:f>'브라켓제품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'브라켓제품 분석'!$D$5:$G$5</c:f>
              <c:numCache>
                <c:formatCode>#,##0</c:formatCode>
                <c:ptCount val="4"/>
                <c:pt idx="0">
                  <c:v>1016214</c:v>
                </c:pt>
                <c:pt idx="1">
                  <c:v>373431</c:v>
                </c:pt>
                <c:pt idx="2">
                  <c:v>913447</c:v>
                </c:pt>
                <c:pt idx="3">
                  <c:v>491693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6185-4AAD-9A21-1335A13029F4}"/>
            </c:ext>
          </c:extLst>
        </c:ser>
        <c:ser>
          <c:idx val="3"/>
          <c:order val="3"/>
          <c:tx>
            <c:v>A266</c:v>
          </c:tx>
          <c:spPr>
            <a:ln w="24840">
              <a:solidFill>
                <a:srgbClr val="00B050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48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strRef>
              <c:f>'브라켓제품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'브라켓제품 분석'!$D$6:$G$6</c:f>
              <c:numCache>
                <c:formatCode>#,##0</c:formatCode>
                <c:ptCount val="4"/>
                <c:pt idx="0">
                  <c:v>173632</c:v>
                </c:pt>
                <c:pt idx="1">
                  <c:v>207440</c:v>
                </c:pt>
                <c:pt idx="2">
                  <c:v>262330</c:v>
                </c:pt>
                <c:pt idx="3">
                  <c:v>70280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6185-4AAD-9A21-1335A13029F4}"/>
            </c:ext>
          </c:extLst>
        </c:ser>
        <c:ser>
          <c:idx val="4"/>
          <c:order val="4"/>
          <c:tx>
            <c:v>A366</c:v>
          </c:tx>
          <c:spPr>
            <a:ln w="24840">
              <a:solidFill>
                <a:srgbClr val="C00000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48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strRef>
              <c:f>'브라켓제품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'브라켓제품 분석'!$D$7:$G$7</c:f>
              <c:numCache>
                <c:formatCode>#,##0</c:formatCode>
                <c:ptCount val="4"/>
                <c:pt idx="0">
                  <c:v>123161</c:v>
                </c:pt>
                <c:pt idx="1">
                  <c:v>91609</c:v>
                </c:pt>
                <c:pt idx="2">
                  <c:v>27345</c:v>
                </c:pt>
                <c:pt idx="3">
                  <c:v>5370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6185-4AAD-9A21-1335A13029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smooth val="0"/>
        <c:axId val="4732468"/>
        <c:axId val="99935272"/>
      </c:lineChart>
      <c:catAx>
        <c:axId val="47324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ko-KR"/>
          </a:p>
        </c:txPr>
        <c:crossAx val="99935272"/>
        <c:crosses val="autoZero"/>
        <c:auto val="1"/>
        <c:lblAlgn val="ctr"/>
        <c:lblOffset val="100"/>
        <c:noMultiLvlLbl val="0"/>
      </c:catAx>
      <c:valAx>
        <c:axId val="9993527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uFillTx/>
                    <a:latin typeface="Arial"/>
                  </a:defRPr>
                </a:pPr>
                <a:r>
                  <a:rPr lang="ko-KR" alt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생산량 </a:t>
                </a:r>
                <a:r>
                  <a:rPr lang="en-US" altLang="ko-KR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(</a:t>
                </a:r>
                <a:r>
                  <a:rPr 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EA)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#,##0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ko-KR"/>
          </a:p>
        </c:txPr>
        <c:crossAx val="4732468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ko-KR"/>
        </a:p>
      </c:txPr>
    </c:legend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 rot="0"/>
          <a:lstStyle/>
          <a:p>
            <a:pPr>
              <a:defRPr sz="1300" b="0" u="none" strike="noStrike">
                <a:uFillTx/>
                <a:latin typeface="Arial"/>
              </a:defRPr>
            </a:pPr>
            <a:r>
              <a:rPr lang="en-US" altLang="ko-KR" sz="1800" b="1" u="none" strike="noStrike" dirty="0">
                <a:solidFill>
                  <a:srgbClr val="000000"/>
                </a:solidFill>
                <a:uFillTx/>
                <a:latin typeface="Calibri"/>
              </a:rPr>
              <a:t>Bracket </a:t>
            </a:r>
            <a:r>
              <a:rPr lang="ko-KR" altLang="en-US" sz="1800" b="1" u="none" strike="noStrike" dirty="0">
                <a:solidFill>
                  <a:srgbClr val="000000"/>
                </a:solidFill>
                <a:uFillTx/>
                <a:latin typeface="Calibri"/>
              </a:rPr>
              <a:t>모델별 생산량 비교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Q2 합계</c:v>
          </c:tx>
          <c:spPr>
            <a:solidFill>
              <a:srgbClr val="4F81BD"/>
            </a:solidFill>
            <a:ln w="12600">
              <a:solidFill>
                <a:srgbClr val="F9F9F9"/>
              </a:solidFill>
              <a:round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E46B-4406-A74B-9C5ABBF8CE1D}"/>
              </c:ext>
            </c:extLst>
          </c:dPt>
          <c:dPt>
            <c:idx val="1"/>
            <c:invertIfNegative val="0"/>
            <c:bubble3D val="0"/>
            <c:spPr>
              <a:solidFill>
                <a:srgbClr val="999999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E46B-4406-A74B-9C5ABBF8CE1D}"/>
              </c:ext>
            </c:extLst>
          </c:dPt>
          <c:dPt>
            <c:idx val="2"/>
            <c:invertIfNegative val="0"/>
            <c:bubble3D val="0"/>
            <c:spPr>
              <a:solidFill>
                <a:srgbClr val="ED7D31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5-E46B-4406-A74B-9C5ABBF8CE1D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E46B-4406-A74B-9C5ABBF8CE1D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9-E46B-4406-A74B-9C5ABBF8CE1D}"/>
              </c:ext>
            </c:extLst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6B-4406-A74B-9C5ABBF8CE1D}"/>
                </c:ext>
              </c:extLst>
            </c:dLbl>
            <c:dLbl>
              <c:idx val="1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46B-4406-A74B-9C5ABBF8CE1D}"/>
                </c:ext>
              </c:extLst>
            </c:dLbl>
            <c:dLbl>
              <c:idx val="2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46B-4406-A74B-9C5ABBF8CE1D}"/>
                </c:ext>
              </c:extLst>
            </c:dLbl>
            <c:dLbl>
              <c:idx val="3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46B-4406-A74B-9C5ABBF8CE1D}"/>
                </c:ext>
              </c:extLst>
            </c:dLbl>
            <c:dLbl>
              <c:idx val="4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46B-4406-A74B-9C5ABBF8CE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0">
                      <a:solidFill>
                        <a:srgbClr val="F9F9F9"/>
                      </a:solidFill>
                    </a:ln>
                  </c:spPr>
                </c15:leaderLines>
              </c:ext>
            </c:extLst>
          </c:dLbls>
          <c:cat>
            <c:strRef>
              <c:f>'브라켓제품 분석'!$A$4:$A$7</c:f>
              <c:strCache>
                <c:ptCount val="4"/>
                <c:pt idx="0">
                  <c:v>A176</c:v>
                </c:pt>
                <c:pt idx="1">
                  <c:v>A376</c:v>
                </c:pt>
                <c:pt idx="2">
                  <c:v>A266</c:v>
                </c:pt>
                <c:pt idx="3">
                  <c:v>A366</c:v>
                </c:pt>
              </c:strCache>
            </c:strRef>
          </c:cat>
          <c:val>
            <c:numRef>
              <c:f>'브라켓제품 분석'!$H$4:$H$7</c:f>
              <c:numCache>
                <c:formatCode>#,##0</c:formatCode>
                <c:ptCount val="4"/>
                <c:pt idx="0">
                  <c:v>7490695</c:v>
                </c:pt>
                <c:pt idx="1">
                  <c:v>2794785</c:v>
                </c:pt>
                <c:pt idx="2">
                  <c:v>713682</c:v>
                </c:pt>
                <c:pt idx="3">
                  <c:v>247485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46B-4406-A74B-9C5ABBF8CE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8259515"/>
        <c:axId val="24670964"/>
      </c:barChart>
      <c:catAx>
        <c:axId val="882595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ko-KR"/>
          </a:p>
        </c:txPr>
        <c:crossAx val="24670964"/>
        <c:crosses val="autoZero"/>
        <c:auto val="1"/>
        <c:lblAlgn val="ctr"/>
        <c:lblOffset val="100"/>
        <c:noMultiLvlLbl val="0"/>
      </c:catAx>
      <c:valAx>
        <c:axId val="2467096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uFillTx/>
                    <a:latin typeface="Arial"/>
                  </a:defRPr>
                </a:pPr>
                <a:r>
                  <a:rPr lang="ko-KR" alt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생산량 </a:t>
                </a:r>
                <a:r>
                  <a:rPr lang="en-US" altLang="ko-KR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(</a:t>
                </a:r>
                <a:r>
                  <a:rPr 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EA)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#,##0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ko-KR"/>
          </a:p>
        </c:txPr>
        <c:crossAx val="88259515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 rot="0"/>
          <a:lstStyle/>
          <a:p>
            <a:pPr>
              <a:defRPr sz="1300" b="0" u="none" strike="noStrike">
                <a:uFillTx/>
                <a:latin typeface="Arial"/>
              </a:defRPr>
            </a:pPr>
            <a:r>
              <a:rPr lang="en-US" altLang="ko-KR" sz="1800" b="1" u="none" strike="noStrike" dirty="0">
                <a:solidFill>
                  <a:srgbClr val="000000"/>
                </a:solidFill>
                <a:uFillTx/>
                <a:latin typeface="Calibri"/>
              </a:rPr>
              <a:t>CNC</a:t>
            </a:r>
            <a:r>
              <a:rPr lang="en-US" altLang="ko-KR" sz="1800" b="1" u="none" strike="noStrike" baseline="0" dirty="0">
                <a:solidFill>
                  <a:srgbClr val="000000"/>
                </a:solidFill>
                <a:uFillTx/>
                <a:latin typeface="Calibri"/>
              </a:rPr>
              <a:t> Block</a:t>
            </a:r>
            <a:r>
              <a:rPr lang="ko-KR" altLang="en-US" sz="1800" b="1" u="none" strike="noStrike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altLang="ko-KR" sz="1800" b="1" u="none" strike="noStrike" dirty="0">
                <a:solidFill>
                  <a:srgbClr val="000000"/>
                </a:solidFill>
                <a:uFillTx/>
                <a:latin typeface="Calibri"/>
              </a:rPr>
              <a:t>3~6</a:t>
            </a:r>
            <a:r>
              <a:rPr lang="ko-KR" altLang="en-US" sz="1800" b="1" u="none" strike="noStrike" dirty="0">
                <a:solidFill>
                  <a:srgbClr val="000000"/>
                </a:solidFill>
                <a:uFillTx/>
                <a:latin typeface="Calibri"/>
              </a:rPr>
              <a:t>월 생산량 추이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B7</c:v>
          </c:tx>
          <c:spPr>
            <a:ln w="24840">
              <a:solidFill>
                <a:srgbClr val="C00000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48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strRef>
              <c:f>'가공제품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'가공제품 분석'!$D$4:$G$4</c:f>
              <c:numCache>
                <c:formatCode>#,##0</c:formatCode>
                <c:ptCount val="4"/>
                <c:pt idx="0">
                  <c:v>73619</c:v>
                </c:pt>
                <c:pt idx="1">
                  <c:v>54543</c:v>
                </c:pt>
                <c:pt idx="2">
                  <c:v>17994</c:v>
                </c:pt>
                <c:pt idx="3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D9-448A-A2CE-FB888B05A2A7}"/>
            </c:ext>
          </c:extLst>
        </c:ser>
        <c:ser>
          <c:idx val="1"/>
          <c:order val="1"/>
          <c:tx>
            <c:v>B7R</c:v>
          </c:tx>
          <c:spPr>
            <a:ln w="24840">
              <a:solidFill>
                <a:srgbClr val="ED7D31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48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strRef>
              <c:f>'가공제품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'가공제품 분석'!$D$5:$G$5</c:f>
              <c:numCache>
                <c:formatCode>#,##0</c:formatCode>
                <c:ptCount val="4"/>
                <c:pt idx="0">
                  <c:v>6905</c:v>
                </c:pt>
                <c:pt idx="1">
                  <c:v>12110</c:v>
                </c:pt>
                <c:pt idx="2">
                  <c:v>6520</c:v>
                </c:pt>
                <c:pt idx="3">
                  <c:v>3507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6D9-448A-A2CE-FB888B05A2A7}"/>
            </c:ext>
          </c:extLst>
        </c:ser>
        <c:ser>
          <c:idx val="2"/>
          <c:order val="2"/>
          <c:tx>
            <c:v>M1</c:v>
          </c:tx>
          <c:spPr>
            <a:ln w="24840">
              <a:solidFill>
                <a:srgbClr val="4472C4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48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strRef>
              <c:f>'가공제품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'가공제품 분석'!$D$6:$G$6</c:f>
              <c:numCache>
                <c:formatCode>#,##0</c:formatCode>
                <c:ptCount val="4"/>
                <c:pt idx="0">
                  <c:v>582498</c:v>
                </c:pt>
                <c:pt idx="1">
                  <c:v>434514</c:v>
                </c:pt>
                <c:pt idx="2">
                  <c:v>590722</c:v>
                </c:pt>
                <c:pt idx="3">
                  <c:v>599560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6D9-448A-A2CE-FB888B05A2A7}"/>
            </c:ext>
          </c:extLst>
        </c:ser>
        <c:ser>
          <c:idx val="3"/>
          <c:order val="3"/>
          <c:tx>
            <c:v>M3</c:v>
          </c:tx>
          <c:spPr>
            <a:ln w="24840">
              <a:solidFill>
                <a:srgbClr val="00B050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48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strRef>
              <c:f>'가공제품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'가공제품 분석'!$D$7:$G$7</c:f>
              <c:numCache>
                <c:formatCode>#,##0</c:formatCode>
                <c:ptCount val="4"/>
                <c:pt idx="0">
                  <c:v>928686</c:v>
                </c:pt>
                <c:pt idx="1">
                  <c:v>586672</c:v>
                </c:pt>
                <c:pt idx="2">
                  <c:v>770546</c:v>
                </c:pt>
                <c:pt idx="3">
                  <c:v>541827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E6D9-448A-A2CE-FB888B05A2A7}"/>
            </c:ext>
          </c:extLst>
        </c:ser>
        <c:ser>
          <c:idx val="4"/>
          <c:order val="4"/>
          <c:tx>
            <c:v>PA1</c:v>
          </c:tx>
          <c:spPr>
            <a:ln w="24840">
              <a:solidFill>
                <a:srgbClr val="7030A0"/>
              </a:solidFill>
              <a:round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24840">
                      <a:solidFill>
                        <a:srgbClr val="000000"/>
                      </a:solidFill>
                    </a:ln>
                  </c:spPr>
                </c15:leaderLines>
              </c:ext>
            </c:extLst>
          </c:dLbls>
          <c:cat>
            <c:strRef>
              <c:f>'가공제품 분석'!$D$3:$G$3</c:f>
              <c:strCache>
                <c:ptCount val="4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</c:strCache>
            </c:strRef>
          </c:cat>
          <c:val>
            <c:numRef>
              <c:f>'가공제품 분석'!$D$8:$G$8</c:f>
              <c:numCache>
                <c:formatCode>#,##0</c:formatCode>
                <c:ptCount val="4"/>
                <c:pt idx="0">
                  <c:v>68381</c:v>
                </c:pt>
                <c:pt idx="1">
                  <c:v>77075</c:v>
                </c:pt>
                <c:pt idx="2">
                  <c:v>92658</c:v>
                </c:pt>
                <c:pt idx="3">
                  <c:v>103107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E6D9-448A-A2CE-FB888B05A2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smooth val="0"/>
        <c:axId val="32102587"/>
        <c:axId val="43934371"/>
      </c:lineChart>
      <c:catAx>
        <c:axId val="321025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ko-KR"/>
          </a:p>
        </c:txPr>
        <c:crossAx val="43934371"/>
        <c:crosses val="autoZero"/>
        <c:auto val="1"/>
        <c:lblAlgn val="ctr"/>
        <c:lblOffset val="100"/>
        <c:noMultiLvlLbl val="0"/>
      </c:catAx>
      <c:valAx>
        <c:axId val="4393437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uFillTx/>
                    <a:latin typeface="Arial"/>
                  </a:defRPr>
                </a:pPr>
                <a:r>
                  <a:rPr lang="ko-KR" alt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생산량 </a:t>
                </a:r>
                <a:r>
                  <a:rPr lang="en-US" altLang="ko-KR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(</a:t>
                </a:r>
                <a:r>
                  <a:rPr 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EA)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#,##0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ko-KR"/>
          </a:p>
        </c:txPr>
        <c:crossAx val="32102587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ko-KR"/>
        </a:p>
      </c:txPr>
    </c:legend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 rot="0"/>
          <a:lstStyle/>
          <a:p>
            <a:pPr>
              <a:defRPr sz="1300" b="0" u="none" strike="noStrike">
                <a:uFillTx/>
                <a:latin typeface="Arial"/>
              </a:defRPr>
            </a:pPr>
            <a:r>
              <a:rPr lang="en-US" altLang="ko-KR" sz="1800" b="1" u="none" strike="noStrike" dirty="0">
                <a:solidFill>
                  <a:srgbClr val="000000"/>
                </a:solidFill>
                <a:uFillTx/>
                <a:latin typeface="Calibri"/>
              </a:rPr>
              <a:t>CNC Block 3~6</a:t>
            </a:r>
            <a:r>
              <a:rPr lang="ko-KR" altLang="en-US" sz="1800" b="1" u="none" strike="noStrike" dirty="0">
                <a:solidFill>
                  <a:srgbClr val="000000"/>
                </a:solidFill>
                <a:uFillTx/>
                <a:latin typeface="Calibri"/>
              </a:rPr>
              <a:t>월 생산량 추이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Q2 합계</c:v>
          </c:tx>
          <c:spPr>
            <a:solidFill>
              <a:srgbClr val="4472C4"/>
            </a:solidFill>
            <a:ln w="12600">
              <a:solidFill>
                <a:srgbClr val="F9F9F9"/>
              </a:solidFill>
              <a:round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C78F-4BAF-95DA-27A5B0DCD6BA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C78F-4BAF-95DA-27A5B0DCD6BA}"/>
              </c:ext>
            </c:extLst>
          </c:dPt>
          <c:dPt>
            <c:idx val="2"/>
            <c:invertIfNegative val="0"/>
            <c:bubble3D val="0"/>
            <c:spPr>
              <a:solidFill>
                <a:srgbClr val="4472C4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5-C78F-4BAF-95DA-27A5B0DCD6BA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C78F-4BAF-95DA-27A5B0DCD6BA}"/>
              </c:ext>
            </c:extLst>
          </c:dPt>
          <c:dPt>
            <c:idx val="4"/>
            <c:invertIfNegative val="0"/>
            <c:bubble3D val="0"/>
            <c:spPr>
              <a:solidFill>
                <a:srgbClr val="7030A0"/>
              </a:solidFill>
              <a:ln w="9360">
                <a:solidFill>
                  <a:srgbClr val="F9F9F9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9-C78F-4BAF-95DA-27A5B0DCD6BA}"/>
              </c:ext>
            </c:extLst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8F-4BAF-95DA-27A5B0DCD6BA}"/>
                </c:ext>
              </c:extLst>
            </c:dLbl>
            <c:dLbl>
              <c:idx val="1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78F-4BAF-95DA-27A5B0DCD6BA}"/>
                </c:ext>
              </c:extLst>
            </c:dLbl>
            <c:dLbl>
              <c:idx val="2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78F-4BAF-95DA-27A5B0DCD6BA}"/>
                </c:ext>
              </c:extLst>
            </c:dLbl>
            <c:dLbl>
              <c:idx val="3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78F-4BAF-95DA-27A5B0DCD6BA}"/>
                </c:ext>
              </c:extLst>
            </c:dLbl>
            <c:dLbl>
              <c:idx val="4"/>
              <c:spPr/>
              <c:txPr>
                <a:bodyPr wrap="none"/>
                <a:lstStyle/>
                <a:p>
                  <a:pPr>
                    <a:defRPr sz="1000" b="0" u="none" strike="noStrike">
                      <a:uFillTx/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78F-4BAF-95DA-27A5B0DCD6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u="none" strike="noStrike">
                    <a:uFillTx/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0">
                      <a:solidFill>
                        <a:srgbClr val="F9F9F9"/>
                      </a:solidFill>
                    </a:ln>
                  </c:spPr>
                </c15:leaderLines>
              </c:ext>
            </c:extLst>
          </c:dLbls>
          <c:cat>
            <c:strRef>
              <c:f>'가공제품 분석'!$A$4:$A$8</c:f>
              <c:strCache>
                <c:ptCount val="5"/>
                <c:pt idx="0">
                  <c:v>B7</c:v>
                </c:pt>
                <c:pt idx="1">
                  <c:v>B7R</c:v>
                </c:pt>
                <c:pt idx="2">
                  <c:v>M1</c:v>
                </c:pt>
                <c:pt idx="3">
                  <c:v>M3</c:v>
                </c:pt>
                <c:pt idx="4">
                  <c:v>PA1</c:v>
                </c:pt>
              </c:strCache>
            </c:strRef>
          </c:cat>
          <c:val>
            <c:numRef>
              <c:f>'가공제품 분석'!$H$4:$H$8</c:f>
              <c:numCache>
                <c:formatCode>#,##0</c:formatCode>
                <c:ptCount val="5"/>
                <c:pt idx="0">
                  <c:v>146156</c:v>
                </c:pt>
                <c:pt idx="1">
                  <c:v>29042</c:v>
                </c:pt>
                <c:pt idx="2">
                  <c:v>2207294</c:v>
                </c:pt>
                <c:pt idx="3">
                  <c:v>2827731</c:v>
                </c:pt>
                <c:pt idx="4">
                  <c:v>341221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8F-4BAF-95DA-27A5B0DCD6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909692"/>
        <c:axId val="90164454"/>
      </c:barChart>
      <c:catAx>
        <c:axId val="909096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ko-KR"/>
          </a:p>
        </c:txPr>
        <c:crossAx val="90164454"/>
        <c:crosses val="autoZero"/>
        <c:auto val="1"/>
        <c:lblAlgn val="ctr"/>
        <c:lblOffset val="100"/>
        <c:noMultiLvlLbl val="0"/>
      </c:catAx>
      <c:valAx>
        <c:axId val="9016445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uFillTx/>
                    <a:latin typeface="Arial"/>
                  </a:defRPr>
                </a:pPr>
                <a:r>
                  <a:rPr lang="ko-KR" alt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생산량 </a:t>
                </a:r>
                <a:r>
                  <a:rPr lang="en-US" altLang="ko-KR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(</a:t>
                </a:r>
                <a:r>
                  <a:rPr lang="en-US" sz="1000" b="1" u="none" strike="noStrike">
                    <a:solidFill>
                      <a:srgbClr val="000000"/>
                    </a:solidFill>
                    <a:uFillTx/>
                    <a:latin typeface="Calibri"/>
                  </a:rPr>
                  <a:t>EA)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#,##0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endParaRPr lang="ko-KR"/>
          </a:p>
        </c:txPr>
        <c:crossAx val="9090969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3E919C3-6558-45A1-A4B4-3B0BD86E2233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522D562-4729-499F-B676-73FDF203C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71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71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">
            <a:extLst>
              <a:ext uri="{FF2B5EF4-FFF2-40B4-BE49-F238E27FC236}">
                <a16:creationId xmlns:a16="http://schemas.microsoft.com/office/drawing/2014/main" id="{AEBDE53E-8439-42DF-9DE9-22A7CF5C670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8170" y="507035"/>
            <a:ext cx="11025006" cy="1048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975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4AD2FD6-46FB-843F-2AC9-E61838DC47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86832" y="254538"/>
            <a:ext cx="1138245" cy="2693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8959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04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07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781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32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16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52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89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73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266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003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30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9;p3"/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83960" y="166783"/>
            <a:ext cx="1223108" cy="4238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20;p3"/>
          <p:cNvGrpSpPr/>
          <p:nvPr userDrawn="1"/>
        </p:nvGrpSpPr>
        <p:grpSpPr>
          <a:xfrm>
            <a:off x="-921" y="50892"/>
            <a:ext cx="12192000" cy="539750"/>
            <a:chOff x="0" y="188586"/>
            <a:chExt cx="9906000" cy="540070"/>
          </a:xfrm>
        </p:grpSpPr>
        <p:cxnSp>
          <p:nvCxnSpPr>
            <p:cNvPr id="7" name="Google Shape;21;p3"/>
            <p:cNvCxnSpPr/>
            <p:nvPr/>
          </p:nvCxnSpPr>
          <p:spPr>
            <a:xfrm>
              <a:off x="0" y="728656"/>
              <a:ext cx="8553450" cy="0"/>
            </a:xfrm>
            <a:prstGeom prst="straightConnector1">
              <a:avLst/>
            </a:prstGeom>
            <a:noFill/>
            <a:ln w="2857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" name="Google Shape;22;p3"/>
            <p:cNvCxnSpPr/>
            <p:nvPr/>
          </p:nvCxnSpPr>
          <p:spPr>
            <a:xfrm rot="10800000" flipH="1">
              <a:off x="8542338" y="188586"/>
              <a:ext cx="358775" cy="540070"/>
            </a:xfrm>
            <a:prstGeom prst="straightConnector1">
              <a:avLst/>
            </a:prstGeom>
            <a:noFill/>
            <a:ln w="2857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" name="Google Shape;23;p3"/>
            <p:cNvCxnSpPr/>
            <p:nvPr/>
          </p:nvCxnSpPr>
          <p:spPr>
            <a:xfrm>
              <a:off x="8890000" y="188586"/>
              <a:ext cx="1016000" cy="0"/>
            </a:xfrm>
            <a:prstGeom prst="straightConnector1">
              <a:avLst/>
            </a:prstGeom>
            <a:noFill/>
            <a:ln w="28575" cap="flat" cmpd="sng">
              <a:solidFill>
                <a:srgbClr val="4A7DB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23523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24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9DBFC-E2E2-4558-88A3-885FAE75EBD1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9FB59-222A-4F53-86CE-C3AA9E51BA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00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5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4.xml"/><Relationship Id="rId6" Type="http://schemas.openxmlformats.org/officeDocument/2006/relationships/package" Target="../embeddings/Microsoft_Excel_Worksheet.xlsx"/><Relationship Id="rId5" Type="http://schemas.openxmlformats.org/officeDocument/2006/relationships/image" Target="../media/image4.emf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273224DD-DAAF-BB42-7591-9935C6D7707B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0" y="157046"/>
            <a:ext cx="6651938" cy="369332"/>
          </a:xfrm>
          <a:prstGeom prst="rect">
            <a:avLst/>
          </a:prstGeom>
          <a:noFill/>
          <a:ln w="9525">
            <a:noFill/>
            <a:prstDash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W13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기준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(3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월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) SOP vs M&amp;C 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실적 비교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B52E7EB-85E2-EB19-D18E-E13EB5337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76" y="4427114"/>
            <a:ext cx="4837185" cy="1562100"/>
          </a:xfrm>
          <a:prstGeom prst="rect">
            <a:avLst/>
          </a:prstGeom>
        </p:spPr>
      </p:pic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50ED6122-6169-F8E3-5116-B04135A480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0361426"/>
              </p:ext>
            </p:extLst>
          </p:nvPr>
        </p:nvGraphicFramePr>
        <p:xfrm>
          <a:off x="928621" y="15358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50EF665D-B3D6-FE1E-AE27-81E45172A9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4417160"/>
              </p:ext>
            </p:extLst>
          </p:nvPr>
        </p:nvGraphicFramePr>
        <p:xfrm>
          <a:off x="6369943" y="1535806"/>
          <a:ext cx="483718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FA4FAA7A-452C-C31D-D4BE-2107E77641DD}"/>
              </a:ext>
            </a:extLst>
          </p:cNvPr>
          <p:cNvSpPr txBox="1"/>
          <p:nvPr/>
        </p:nvSpPr>
        <p:spPr>
          <a:xfrm>
            <a:off x="253694" y="655003"/>
            <a:ext cx="11684609" cy="3391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※ </a:t>
            </a:r>
            <a:r>
              <a:rPr lang="ko-KR" altLang="en-US" sz="1200" dirty="0"/>
              <a:t>해당 자료는 삼성에서 협력사에게 공유한 </a:t>
            </a:r>
            <a:r>
              <a:rPr lang="en-US" altLang="ko-KR" sz="1200" dirty="0"/>
              <a:t>SOP 13</a:t>
            </a:r>
            <a:r>
              <a:rPr lang="ko-KR" altLang="en-US" sz="1200" dirty="0"/>
              <a:t>주차 자료를 기반으로 작성</a:t>
            </a:r>
            <a:r>
              <a:rPr lang="en-US" altLang="ko-KR" sz="1200" dirty="0"/>
              <a:t>, 3</a:t>
            </a:r>
            <a:r>
              <a:rPr lang="ko-KR" altLang="en-US" sz="1200" dirty="0"/>
              <a:t>월 수량은 실적이 아닌 삼성 예상치로 </a:t>
            </a:r>
            <a:r>
              <a:rPr lang="ko-KR" altLang="en-US" sz="1200" b="1" dirty="0"/>
              <a:t>예상 수량의 흐름만 참고하는 것이 타당할 것으로 판단</a:t>
            </a:r>
            <a:endParaRPr lang="en-US" altLang="ko-KR" sz="12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415803-74AE-44A1-3F8F-887BBCFF8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085" y="4427114"/>
            <a:ext cx="4152900" cy="1562100"/>
          </a:xfrm>
          <a:prstGeom prst="rect">
            <a:avLst/>
          </a:prstGeom>
        </p:spPr>
      </p:pic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06FFFEE6-F021-E066-B8C6-F906821C2A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06228"/>
              </p:ext>
            </p:extLst>
          </p:nvPr>
        </p:nvGraphicFramePr>
        <p:xfrm>
          <a:off x="10268125" y="6014749"/>
          <a:ext cx="696627" cy="662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6" imgW="914400" imgH="792685" progId="Excel.Sheet.12">
                  <p:embed/>
                </p:oleObj>
              </mc:Choice>
              <mc:Fallback>
                <p:oleObj name="Worksheet" showAsIcon="1" r:id="rId6" imgW="914400" imgH="792685" progId="Excel.Sheet.12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06FFFEE6-F021-E066-B8C6-F906821C2A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68125" y="6014749"/>
                        <a:ext cx="696627" cy="662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FD2714-E096-E242-FB98-980F75EBEE5D}"/>
              </a:ext>
            </a:extLst>
          </p:cNvPr>
          <p:cNvSpPr txBox="1"/>
          <p:nvPr/>
        </p:nvSpPr>
        <p:spPr>
          <a:xfrm>
            <a:off x="6712086" y="1154841"/>
            <a:ext cx="4152900" cy="52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1000" dirty="0"/>
              <a:t>※ </a:t>
            </a:r>
            <a:r>
              <a:rPr lang="ko-KR" altLang="en-US" sz="1000" dirty="0"/>
              <a:t>계획 대비 당사 실적이 초과하는 것으로 나타남 </a:t>
            </a:r>
            <a:r>
              <a:rPr lang="en-US" altLang="ko-KR" sz="1000" dirty="0"/>
              <a:t>(</a:t>
            </a:r>
            <a:r>
              <a:rPr lang="ko-KR" altLang="en-US" sz="1000" dirty="0"/>
              <a:t>엑셀 원본 참고</a:t>
            </a:r>
            <a:r>
              <a:rPr lang="en-US" altLang="ko-KR" sz="10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03A73-2E7B-9F1C-4CDF-86EC9C02978C}"/>
              </a:ext>
            </a:extLst>
          </p:cNvPr>
          <p:cNvSpPr txBox="1"/>
          <p:nvPr/>
        </p:nvSpPr>
        <p:spPr>
          <a:xfrm>
            <a:off x="6712085" y="6014749"/>
            <a:ext cx="3695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</a:rPr>
              <a:t>계획 대비 당사 실적이 초과하는 것으로 나타남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삼성 측에서 </a:t>
            </a:r>
            <a:endParaRPr lang="en-US" altLang="ko-KR" sz="1000" dirty="0">
              <a:latin typeface="+mn-ea"/>
            </a:endParaRPr>
          </a:p>
          <a:p>
            <a:r>
              <a:rPr lang="ko-KR" altLang="en-US" sz="1000" dirty="0">
                <a:latin typeface="+mn-ea"/>
              </a:rPr>
              <a:t>실적 업데이트를 하여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공유하는 것은 아닌 것으로 확인</a:t>
            </a:r>
            <a:endParaRPr lang="en-US" altLang="ko-KR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75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52DD-73A9-C6AE-D699-13DB2B08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3EDED3C4-D3BE-2EAF-2248-6CB940A112CE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0" y="157046"/>
            <a:ext cx="3848100" cy="369332"/>
          </a:xfrm>
          <a:prstGeom prst="rect">
            <a:avLst/>
          </a:prstGeom>
          <a:noFill/>
          <a:ln w="9525">
            <a:noFill/>
            <a:prstDash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브라켓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2026.3~6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월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SOP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 현황</a:t>
            </a:r>
          </a:p>
        </p:txBody>
      </p:sp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369494AD-A4F0-0BCC-361B-9C38E9564A03}"/>
              </a:ext>
            </a:extLst>
          </p:cNvPr>
          <p:cNvGraphicFramePr>
            <a:graphicFrameLocks/>
          </p:cNvGraphicFramePr>
          <p:nvPr/>
        </p:nvGraphicFramePr>
        <p:xfrm>
          <a:off x="396240" y="1891222"/>
          <a:ext cx="7170098" cy="3484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2">
            <a:extLst>
              <a:ext uri="{FF2B5EF4-FFF2-40B4-BE49-F238E27FC236}">
                <a16:creationId xmlns:a16="http://schemas.microsoft.com/office/drawing/2014/main" id="{2787B41B-0D08-589B-6DA9-9FB5D443BAFD}"/>
              </a:ext>
            </a:extLst>
          </p:cNvPr>
          <p:cNvGraphicFramePr>
            <a:graphicFrameLocks/>
          </p:cNvGraphicFramePr>
          <p:nvPr/>
        </p:nvGraphicFramePr>
        <p:xfrm>
          <a:off x="7714445" y="1891222"/>
          <a:ext cx="4081316" cy="3484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0B98FBDE-2763-CCC8-FBE3-5ABEEEF3B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39" y="5504708"/>
            <a:ext cx="11399521" cy="11962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C3C8BE6-B025-7F54-E63F-DB2CCA2CF018}"/>
              </a:ext>
            </a:extLst>
          </p:cNvPr>
          <p:cNvSpPr txBox="1"/>
          <p:nvPr/>
        </p:nvSpPr>
        <p:spPr>
          <a:xfrm>
            <a:off x="253694" y="655003"/>
            <a:ext cx="102932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200" dirty="0"/>
              <a:t>1</a:t>
            </a:r>
            <a:r>
              <a:rPr lang="ko-KR" altLang="en-US" sz="1200" dirty="0"/>
              <a:t>분기 → </a:t>
            </a:r>
            <a:r>
              <a:rPr lang="en-US" altLang="ko-KR" sz="1200" dirty="0"/>
              <a:t>2</a:t>
            </a:r>
            <a:r>
              <a:rPr lang="ko-KR" altLang="en-US" sz="1200" dirty="0"/>
              <a:t>분기 생산량 하락세 진입</a:t>
            </a:r>
            <a:r>
              <a:rPr lang="en-US" altLang="ko-KR" sz="1200" dirty="0"/>
              <a:t>. 1</a:t>
            </a:r>
            <a:r>
              <a:rPr lang="ko-KR" altLang="en-US" sz="1200" dirty="0"/>
              <a:t>분기 신제품 효과가 감소하며 연중 가장 낮은 수준 기록 예상</a:t>
            </a:r>
            <a:endParaRPr lang="en-US" altLang="ko-KR" sz="12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/>
              <a:t>매년 흐름이 유사하나</a:t>
            </a:r>
            <a:r>
              <a:rPr lang="en-US" altLang="ko-KR" sz="1200" dirty="0"/>
              <a:t>, 2026</a:t>
            </a:r>
            <a:r>
              <a:rPr lang="ko-KR" altLang="en-US" sz="1200" dirty="0"/>
              <a:t>년 메모리 반도체 가격 상승으로 </a:t>
            </a:r>
            <a:r>
              <a:rPr lang="en-US" altLang="ko-KR" sz="1200" dirty="0"/>
              <a:t>MX</a:t>
            </a:r>
            <a:r>
              <a:rPr lang="ko-KR" altLang="en-US" sz="1200" dirty="0"/>
              <a:t>사업부에서는 수익성 방어에 초점을 맞추고 생산량을 추가 조정할 가능성 있음</a:t>
            </a:r>
            <a:endParaRPr lang="en-US" altLang="ko-KR" sz="12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200" dirty="0"/>
              <a:t>A26, A36</a:t>
            </a:r>
            <a:r>
              <a:rPr lang="ko-KR" altLang="en-US" sz="1200" dirty="0"/>
              <a:t>시리즈 단종시점에 맞춰 </a:t>
            </a:r>
            <a:r>
              <a:rPr lang="en-US" altLang="ko-KR" sz="1200" dirty="0"/>
              <a:t>A27 </a:t>
            </a:r>
            <a:r>
              <a:rPr lang="ko-KR" altLang="en-US" sz="1200" dirty="0"/>
              <a:t>생산 투입으로 감소분은 일부 만회할 것으로 예상</a:t>
            </a:r>
            <a:endParaRPr lang="en-US" altLang="ko-KR" sz="1200" dirty="0"/>
          </a:p>
          <a:p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979293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73E1-AD02-96D5-D76B-51A684818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>
            <a:extLst>
              <a:ext uri="{FF2B5EF4-FFF2-40B4-BE49-F238E27FC236}">
                <a16:creationId xmlns:a16="http://schemas.microsoft.com/office/drawing/2014/main" id="{F421C61E-173D-322C-D4E4-A258E9D35555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0" y="157046"/>
            <a:ext cx="3848100" cy="369332"/>
          </a:xfrm>
          <a:prstGeom prst="rect">
            <a:avLst/>
          </a:prstGeom>
          <a:noFill/>
          <a:ln w="9525">
            <a:noFill/>
            <a:prstDash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브라켓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2026.3~6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월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SOP</a:t>
            </a:r>
            <a:r>
              <a:rPr kumimoji="1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charset="0"/>
              </a:rPr>
              <a:t> 현황</a:t>
            </a:r>
          </a:p>
        </p:txBody>
      </p:sp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8092626"/>
              </p:ext>
            </p:extLst>
          </p:nvPr>
        </p:nvGraphicFramePr>
        <p:xfrm>
          <a:off x="396240" y="1789631"/>
          <a:ext cx="7171200" cy="348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2">
            <a:extLst>
              <a:ext uri="{FF2B5EF4-FFF2-40B4-BE49-F238E27FC236}">
                <a16:creationId xmlns:a16="http://schemas.microsoft.com/office/drawing/2014/main" id="{00000000-0008-0000-02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5650769"/>
              </p:ext>
            </p:extLst>
          </p:nvPr>
        </p:nvGraphicFramePr>
        <p:xfrm>
          <a:off x="7698960" y="1789631"/>
          <a:ext cx="4096800" cy="348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B0A5B7FF-AABE-7C28-93DC-ED1EB1E83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" y="5398579"/>
            <a:ext cx="11399520" cy="13023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4223A9-D739-025D-3E9E-DB3ACFD52EE7}"/>
              </a:ext>
            </a:extLst>
          </p:cNvPr>
          <p:cNvSpPr txBox="1"/>
          <p:nvPr/>
        </p:nvSpPr>
        <p:spPr>
          <a:xfrm>
            <a:off x="253694" y="655003"/>
            <a:ext cx="10716395" cy="616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200" dirty="0"/>
              <a:t>S25 (PA1), B7 (Flip 7) </a:t>
            </a:r>
            <a:r>
              <a:rPr lang="ko-KR" altLang="en-US" sz="1200" dirty="0"/>
              <a:t>단종</a:t>
            </a:r>
            <a:r>
              <a:rPr lang="en-US" altLang="ko-KR" sz="1200" dirty="0"/>
              <a:t> </a:t>
            </a:r>
            <a:r>
              <a:rPr lang="ko-KR" altLang="en-US" sz="1200" dirty="0"/>
              <a:t>→ 삼성 계획상 </a:t>
            </a:r>
            <a:r>
              <a:rPr lang="en-US" altLang="ko-KR" sz="1200" dirty="0"/>
              <a:t>W17</a:t>
            </a:r>
            <a:r>
              <a:rPr lang="ko-KR" altLang="en-US" sz="1200" dirty="0"/>
              <a:t>주차 </a:t>
            </a:r>
            <a:r>
              <a:rPr lang="en-US" altLang="ko-KR" sz="1200" dirty="0"/>
              <a:t>Q8</a:t>
            </a:r>
            <a:r>
              <a:rPr lang="ko-KR" altLang="en-US" sz="1200" dirty="0"/>
              <a:t> </a:t>
            </a:r>
            <a:r>
              <a:rPr lang="en-US" altLang="ko-KR" sz="1200" dirty="0"/>
              <a:t>(Fold) </a:t>
            </a:r>
            <a:r>
              <a:rPr lang="ko-KR" altLang="en-US" sz="1200" dirty="0"/>
              <a:t>생산 착수 예정</a:t>
            </a:r>
            <a:endParaRPr lang="en-US" altLang="ko-KR" sz="1200" dirty="0"/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/>
              <a:t>현시점 생산량 감소는 단순한 시장 위축이 아닌</a:t>
            </a:r>
            <a:r>
              <a:rPr lang="en-US" altLang="ko-KR" sz="1200" dirty="0"/>
              <a:t>, </a:t>
            </a:r>
            <a:r>
              <a:rPr lang="ko-KR" altLang="en-US" sz="1200" dirty="0"/>
              <a:t>제품 세대 교체 주기에 직면해 있으며</a:t>
            </a:r>
            <a:r>
              <a:rPr lang="en-US" altLang="ko-KR" sz="1200" dirty="0"/>
              <a:t>, </a:t>
            </a:r>
            <a:r>
              <a:rPr lang="ko-KR" altLang="en-US" sz="1200" dirty="0"/>
              <a:t>신규 제품 계획은 반영되어 있지 않으므로</a:t>
            </a:r>
            <a:r>
              <a:rPr lang="en-US" altLang="ko-KR" sz="1200" dirty="0"/>
              <a:t> </a:t>
            </a:r>
            <a:r>
              <a:rPr lang="ko-KR" altLang="en-US" sz="1200" dirty="0"/>
              <a:t>추가 정보 입수 필요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6740329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15948</TotalTime>
  <Words>240</Words>
  <Application>Microsoft Office PowerPoint</Application>
  <PresentationFormat>와이드스크린</PresentationFormat>
  <Paragraphs>22</Paragraphs>
  <Slides>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맑은 고딕</vt:lpstr>
      <vt:lpstr>Arial</vt:lpstr>
      <vt:lpstr>Arial Narrow</vt:lpstr>
      <vt:lpstr>Calibri</vt:lpstr>
      <vt:lpstr>Calibri Light</vt:lpstr>
      <vt:lpstr>Wingdings</vt:lpstr>
      <vt:lpstr>1_Office 테마</vt:lpstr>
      <vt:lpstr>Office 2013 - 2022 테마</vt:lpstr>
      <vt:lpstr>Worksheet</vt:lpstr>
      <vt:lpstr>W13 기준 (3월) SOP vs M&amp;C 실적 비교</vt:lpstr>
      <vt:lpstr>브라켓 2026.3~6월 SOP 현황</vt:lpstr>
      <vt:lpstr>브라켓 2026.3~6월 SOP 현황</vt:lpstr>
    </vt:vector>
  </TitlesOfParts>
  <Company>CORP.LGCNS.COM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박명호</dc:creator>
  <cp:lastModifiedBy>임재홍</cp:lastModifiedBy>
  <cp:revision>298</cp:revision>
  <cp:lastPrinted>2025-07-23T09:17:50Z</cp:lastPrinted>
  <dcterms:created xsi:type="dcterms:W3CDTF">2023-01-27T03:46:14Z</dcterms:created>
  <dcterms:modified xsi:type="dcterms:W3CDTF">2026-04-09T04:39:00Z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b836264-2ad1-494f-931f-6f22e32c668b_Enabled">
    <vt:lpwstr>true</vt:lpwstr>
  </property>
  <property fmtid="{D5CDD505-2E9C-101B-9397-08002B2CF9AE}" pid="3" name="MSIP_Label_2b836264-2ad1-494f-931f-6f22e32c668b_SetDate">
    <vt:lpwstr>2023-10-20T00:20:00Z</vt:lpwstr>
  </property>
  <property fmtid="{D5CDD505-2E9C-101B-9397-08002B2CF9AE}" pid="4" name="MSIP_Label_2b836264-2ad1-494f-931f-6f22e32c668b_Method">
    <vt:lpwstr>Privileged</vt:lpwstr>
  </property>
  <property fmtid="{D5CDD505-2E9C-101B-9397-08002B2CF9AE}" pid="5" name="MSIP_Label_2b836264-2ad1-494f-931f-6f22e32c668b_Name">
    <vt:lpwstr>Restricted</vt:lpwstr>
  </property>
  <property fmtid="{D5CDD505-2E9C-101B-9397-08002B2CF9AE}" pid="6" name="MSIP_Label_2b836264-2ad1-494f-931f-6f22e32c668b_SiteId">
    <vt:lpwstr>e6c7989d-a5fe-4b7b-a335-3288406db2fd</vt:lpwstr>
  </property>
  <property fmtid="{D5CDD505-2E9C-101B-9397-08002B2CF9AE}" pid="7" name="MSIP_Label_2b836264-2ad1-494f-931f-6f22e32c668b_ActionId">
    <vt:lpwstr>b684c5ec-f4b1-409e-9fe5-e3d0e050bdef</vt:lpwstr>
  </property>
  <property fmtid="{D5CDD505-2E9C-101B-9397-08002B2CF9AE}" pid="8" name="MSIP_Label_2b836264-2ad1-494f-931f-6f22e32c668b_ContentBits">
    <vt:lpwstr>3</vt:lpwstr>
  </property>
</Properties>
</file>