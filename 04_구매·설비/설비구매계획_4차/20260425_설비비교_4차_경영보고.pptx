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임재홍" userId="dd14a72c-bfb9-4b91-8d21-07474b2ff6f5" providerId="ADAL" clId="{02B88EE5-7F74-47B5-9EDC-8BC54C8E5419}"/>
    <pc:docChg chg="modSld">
      <pc:chgData name="임재홍" userId="dd14a72c-bfb9-4b91-8d21-07474b2ff6f5" providerId="ADAL" clId="{02B88EE5-7F74-47B5-9EDC-8BC54C8E5419}" dt="2026-04-25T08:40:38.914" v="0" actId="14100"/>
      <pc:docMkLst>
        <pc:docMk/>
      </pc:docMkLst>
      <pc:sldChg chg="modSp mod">
        <pc:chgData name="임재홍" userId="dd14a72c-bfb9-4b91-8d21-07474b2ff6f5" providerId="ADAL" clId="{02B88EE5-7F74-47B5-9EDC-8BC54C8E5419}" dt="2026-04-25T08:40:38.914" v="0" actId="14100"/>
        <pc:sldMkLst>
          <pc:docMk/>
          <pc:sldMk cId="0" sldId="260"/>
        </pc:sldMkLst>
        <pc:spChg chg="mod">
          <ac:chgData name="임재홍" userId="dd14a72c-bfb9-4b91-8d21-07474b2ff6f5" providerId="ADAL" clId="{02B88EE5-7F74-47B5-9EDC-8BC54C8E5419}" dt="2026-04-25T08:40:38.914" v="0" actId="14100"/>
          <ac:spMkLst>
            <pc:docMk/>
            <pc:sldMk cId="0" sldId="260"/>
            <ac:spMk id="7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altLang="ko-KR" sz="1400" b="0" i="0" u="none" strike="noStrike">
                <a:solidFill>
                  <a:srgbClr val="1E2761"/>
                </a:solidFill>
                <a:latin typeface="Arial"/>
              </a:rPr>
              <a:t>1</a:t>
            </a:r>
            <a:r>
              <a:rPr lang="ko-KR" altLang="en-US" sz="1400" b="0" i="0" u="none" strike="noStrike">
                <a:solidFill>
                  <a:srgbClr val="1E2761"/>
                </a:solidFill>
                <a:latin typeface="Arial"/>
              </a:rPr>
              <a:t>대당 </a:t>
            </a:r>
            <a:r>
              <a:rPr lang="en-US" sz="1400" b="0" i="0" u="none" strike="noStrike">
                <a:solidFill>
                  <a:srgbClr val="1E2761"/>
                </a:solidFill>
                <a:latin typeface="Arial"/>
              </a:rPr>
              <a:t>USD </a:t>
            </a:r>
            <a:r>
              <a:rPr lang="ko-KR" altLang="en-US" sz="1400" b="0" i="0" u="none" strike="noStrike">
                <a:solidFill>
                  <a:srgbClr val="1E2761"/>
                </a:solidFill>
                <a:latin typeface="Arial"/>
              </a:rPr>
              <a:t>가격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 환산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RXP500</c:v>
                </c:pt>
                <c:pt idx="1">
                  <c:v>RXP400</c:v>
                </c:pt>
                <c:pt idx="2">
                  <c:v>V33i (UP)</c:v>
                </c:pt>
                <c:pt idx="3">
                  <c:v>KT420A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269195</c:v>
                </c:pt>
                <c:pt idx="1">
                  <c:v>247703</c:v>
                </c:pt>
                <c:pt idx="2">
                  <c:v>229989</c:v>
                </c:pt>
                <c:pt idx="3">
                  <c:v>59500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8D-4714-BBCA-567F2F1986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ko-KR" altLang="en-US" sz="1300" b="0" i="0" u="none" strike="noStrike">
                <a:solidFill>
                  <a:srgbClr val="1E2761"/>
                </a:solidFill>
                <a:latin typeface="Arial"/>
              </a:rPr>
              <a:t>최대 스핀들 </a:t>
            </a:r>
            <a:r>
              <a:rPr lang="en-US" sz="1300" b="0" i="0" u="none" strike="noStrike">
                <a:solidFill>
                  <a:srgbClr val="1E2761"/>
                </a:solidFill>
                <a:latin typeface="Arial"/>
              </a:rPr>
              <a:t>RPM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최대 RPM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RXP500</c:v>
                </c:pt>
                <c:pt idx="1">
                  <c:v>RXP400</c:v>
                </c:pt>
                <c:pt idx="2">
                  <c:v>V33i (UP)</c:v>
                </c:pt>
                <c:pt idx="3">
                  <c:v>KT420A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42000</c:v>
                </c:pt>
                <c:pt idx="1">
                  <c:v>50000</c:v>
                </c:pt>
                <c:pt idx="2">
                  <c:v>30000</c:v>
                </c:pt>
                <c:pt idx="3">
                  <c:v>24000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96-4847-AE46-DDAA70FE3D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5년 TCO 구성 (USD)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초기투자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RXP500</c:v>
                </c:pt>
                <c:pt idx="1">
                  <c:v>RXP400</c:v>
                </c:pt>
                <c:pt idx="2">
                  <c:v>V33i (UP)</c:v>
                </c:pt>
                <c:pt idx="3">
                  <c:v>KT420A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274195</c:v>
                </c:pt>
                <c:pt idx="1">
                  <c:v>252703</c:v>
                </c:pt>
                <c:pt idx="2">
                  <c:v>229989</c:v>
                </c:pt>
                <c:pt idx="3">
                  <c:v>64500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7D-427D-A2B9-D6529E9143D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5년 순운영비 (잔존가치 차감)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RXP500</c:v>
                </c:pt>
                <c:pt idx="1">
                  <c:v>RXP400</c:v>
                </c:pt>
                <c:pt idx="2">
                  <c:v>V33i (UP)</c:v>
                </c:pt>
                <c:pt idx="3">
                  <c:v>KT420A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24619</c:v>
                </c:pt>
                <c:pt idx="1">
                  <c:v>14500</c:v>
                </c:pt>
                <c:pt idx="2">
                  <c:v>16670</c:v>
                </c:pt>
                <c:pt idx="3">
                  <c:v>17425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7D-427D-A2B9-D6529E9143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76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카테고리별 점수 비교</a:t>
            </a:r>
          </a:p>
        </c:rich>
      </c:tx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RXP500</c:v>
                </c:pt>
              </c:strCache>
            </c:strRef>
          </c:tx>
          <c:spPr>
            <a:ln w="254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가격</c:v>
                </c:pt>
                <c:pt idx="1">
                  <c:v>사양</c:v>
                </c:pt>
                <c:pt idx="2">
                  <c:v>성능</c:v>
                </c:pt>
                <c:pt idx="3">
                  <c:v>납기</c:v>
                </c:pt>
                <c:pt idx="4">
                  <c:v>A/S</c:v>
                </c:pt>
                <c:pt idx="5">
                  <c:v>TCO</c:v>
                </c:pt>
                <c:pt idx="6">
                  <c:v>레퍼런스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65</c:v>
                </c:pt>
                <c:pt idx="1">
                  <c:v>92</c:v>
                </c:pt>
                <c:pt idx="2">
                  <c:v>90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42-4A17-9B7B-728C89AA631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RXP400</c:v>
                </c:pt>
              </c:strCache>
            </c:strRef>
          </c:tx>
          <c:spPr>
            <a:ln w="25400" cap="flat">
              <a:solidFill>
                <a:srgbClr val="D4A01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A017"/>
              </a:solidFill>
              <a:ln w="9525" cap="flat">
                <a:solidFill>
                  <a:srgbClr val="D4A017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가격</c:v>
                </c:pt>
                <c:pt idx="1">
                  <c:v>사양</c:v>
                </c:pt>
                <c:pt idx="2">
                  <c:v>성능</c:v>
                </c:pt>
                <c:pt idx="3">
                  <c:v>납기</c:v>
                </c:pt>
                <c:pt idx="4">
                  <c:v>A/S</c:v>
                </c:pt>
                <c:pt idx="5">
                  <c:v>TCO</c:v>
                </c:pt>
                <c:pt idx="6">
                  <c:v>레퍼런스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72</c:v>
                </c:pt>
                <c:pt idx="1">
                  <c:v>95</c:v>
                </c:pt>
                <c:pt idx="2">
                  <c:v>95</c:v>
                </c:pt>
                <c:pt idx="3">
                  <c:v>65</c:v>
                </c:pt>
                <c:pt idx="4">
                  <c:v>70</c:v>
                </c:pt>
                <c:pt idx="5">
                  <c:v>78</c:v>
                </c:pt>
                <c:pt idx="6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142-4A17-9B7B-728C89AA631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V33i (UP)</c:v>
                </c:pt>
              </c:strCache>
            </c:strRef>
          </c:tx>
          <c:spPr>
            <a:ln w="25400" cap="flat">
              <a:solidFill>
                <a:srgbClr val="2E7D3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32"/>
              </a:solidFill>
              <a:ln w="9525" cap="flat">
                <a:solidFill>
                  <a:srgbClr val="2E7D32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가격</c:v>
                </c:pt>
                <c:pt idx="1">
                  <c:v>사양</c:v>
                </c:pt>
                <c:pt idx="2">
                  <c:v>성능</c:v>
                </c:pt>
                <c:pt idx="3">
                  <c:v>납기</c:v>
                </c:pt>
                <c:pt idx="4">
                  <c:v>A/S</c:v>
                </c:pt>
                <c:pt idx="5">
                  <c:v>TCO</c:v>
                </c:pt>
                <c:pt idx="6">
                  <c:v>레퍼런스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80</c:v>
                </c:pt>
                <c:pt idx="1">
                  <c:v>90</c:v>
                </c:pt>
                <c:pt idx="2">
                  <c:v>92</c:v>
                </c:pt>
                <c:pt idx="3">
                  <c:v>85</c:v>
                </c:pt>
                <c:pt idx="4">
                  <c:v>95</c:v>
                </c:pt>
                <c:pt idx="5">
                  <c:v>80</c:v>
                </c:pt>
                <c:pt idx="6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142-4A17-9B7B-728C89AA631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KT420A</c:v>
                </c:pt>
              </c:strCache>
            </c:strRef>
          </c:tx>
          <c:spPr>
            <a:ln w="25400" cap="flat">
              <a:solidFill>
                <a:srgbClr val="EF6C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F6C00"/>
              </a:solidFill>
              <a:ln w="9525" cap="flat">
                <a:solidFill>
                  <a:srgbClr val="EF6C00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가격</c:v>
                </c:pt>
                <c:pt idx="1">
                  <c:v>사양</c:v>
                </c:pt>
                <c:pt idx="2">
                  <c:v>성능</c:v>
                </c:pt>
                <c:pt idx="3">
                  <c:v>납기</c:v>
                </c:pt>
                <c:pt idx="4">
                  <c:v>A/S</c:v>
                </c:pt>
                <c:pt idx="5">
                  <c:v>TCO</c:v>
                </c:pt>
                <c:pt idx="6">
                  <c:v>레퍼런스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100</c:v>
                </c:pt>
                <c:pt idx="1">
                  <c:v>60</c:v>
                </c:pt>
                <c:pt idx="2">
                  <c:v>65</c:v>
                </c:pt>
                <c:pt idx="3">
                  <c:v>100</c:v>
                </c:pt>
                <c:pt idx="4">
                  <c:v>85</c:v>
                </c:pt>
                <c:pt idx="5">
                  <c:v>90</c:v>
                </c:pt>
                <c:pt idx="6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142-4A17-9B7B-728C89AA63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1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76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639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457200" cy="13716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고속가공기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견적 비교 경영보고서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Roeders  ·  Makino  ·  Komatech  4개 모델 종합 평가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10698480" cy="11887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설비구매계획 4차  </a:t>
            </a:r>
            <a:r>
              <a:rPr lang="en-US" sz="14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  M&amp;C Electronics VINA  |  2026년 4월 25일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가중치 평가법 적용  ·  TCO 5년 시뮬레이션  ·  리스크 매트릭스  ·  벤더별 협상 포인트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37160" cy="8229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결론 한눈에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868680"/>
          </a:xfrm>
          <a:prstGeom prst="rect">
            <a:avLst/>
          </a:prstGeom>
          <a:solidFill>
            <a:srgbClr val="FFF8E1"/>
          </a:solidFill>
          <a:ln w="254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0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 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88720" y="1417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Makino V33i 사양 업그레이드 반영  </a:t>
            </a:r>
            <a:r>
              <a:rPr lang="en-US" sz="13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</a:t>
            </a:r>
            <a:r>
              <a:rPr lang="en-US" sz="13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30K rpm + 60ATC + DAP Bac Ninh</a:t>
            </a:r>
            <a:r>
              <a:rPr lang="en-US" sz="13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으로 사양 대폭 향상 (가격 USD 215→230K, +6.9%). 이로 인해 종합 평가에서 </a:t>
            </a: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V33i가 1위로 부상</a:t>
            </a:r>
            <a:r>
              <a:rPr lang="en-US" sz="13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Komatech은 여전히 BT30 탭핑센터 클래스로 별도 검토 필요.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2697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26974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정밀+용량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9718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Roeders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RXP500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0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USD 269K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" y="4023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RPM: </a:t>
            </a:r>
            <a:r>
              <a:rPr lang="en-US" sz="1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42,000 rpm  </a:t>
            </a: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납기: </a:t>
            </a:r>
            <a:r>
              <a:rPr lang="en-US" sz="1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5~7개월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2468880"/>
            <a:ext cx="2697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246120" y="2468880"/>
            <a:ext cx="26974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246120" y="25146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초정밀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29718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Roeders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RXP400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37560" y="3611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0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USD 248K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337560" y="4023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RPM: </a:t>
            </a:r>
            <a:r>
              <a:rPr lang="en-US" sz="1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50,000 rpm  </a:t>
            </a: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납기: </a:t>
            </a:r>
            <a:r>
              <a:rPr lang="en-US" sz="1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5~7개월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2468880"/>
            <a:ext cx="2697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035040" y="2468880"/>
            <a:ext cx="269748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035040" y="25146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1순위 추천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29718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Makino V33i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(업그레이드)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26480" y="3611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0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USD 230K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126480" y="4023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RPM: </a:t>
            </a:r>
            <a:r>
              <a:rPr lang="en-US" sz="1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30,000 rpm  </a:t>
            </a: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납기: </a:t>
            </a:r>
            <a:r>
              <a:rPr lang="en-US" sz="1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3~4개월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23960" y="2468880"/>
            <a:ext cx="2697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8823960" y="2468880"/>
            <a:ext cx="2697480" cy="41148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8823960" y="25146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최저가·단납기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915400" y="29718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Komatech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KT420A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915400" y="3611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0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USD 60K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915400" y="4023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RPM: </a:t>
            </a:r>
            <a:r>
              <a:rPr lang="en-US" sz="1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24,000 rpm  </a:t>
            </a: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납기: </a:t>
            </a:r>
            <a:r>
              <a:rPr lang="en-US" sz="1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3개월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40080" y="4937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권고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53492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정밀+양산 균형 (1순위) → </a:t>
            </a:r>
            <a:r>
              <a:rPr lang="en-US" sz="1300" b="1" dirty="0">
                <a:solidFill>
                  <a:srgbClr val="D4A0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Makino V33i (30K + 60ATC + DAP)  </a:t>
            </a:r>
            <a:r>
              <a:rPr lang="en-US" sz="1100" i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종합 1위, 통관·운송 책임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초정밀 다이몰드 → </a:t>
            </a: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Roeders RXP400  </a:t>
            </a:r>
            <a:r>
              <a:rPr lang="en-US" sz="1100" i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(50K rpm, 리니어모터 5년 보증)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탭핑·홀가공 양산 → </a:t>
            </a: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Komatech KT420A ×4대  </a:t>
            </a:r>
            <a:r>
              <a:rPr lang="en-US" sz="1100" i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(저가·단납기, 클래스 다름 인지 필요)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M&amp;C Electronics VINA  |  설비구매계획 4차  |  2026.04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4712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37160" cy="8229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방법론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TCO 관점의 다항목 가중치 평가법 (Weighted Scoring Method)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943600" cy="4114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 카테고리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가중치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 방식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가격·비용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정량 (USD 환산)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 사양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정량 (RPM·정밀도)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가공 성능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정성 + 데모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납기·공급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정량 (개월)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A/S·유지보수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운영비 (TCO)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정량 (5년 시뮬레이션)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레퍼런스·신뢰성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766560" y="1371600"/>
            <a:ext cx="493776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6949440" y="1508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객관성 확보 — 점수 환산 공식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040880" y="1965960"/>
            <a:ext cx="4572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정량 (낮을수록 좋음)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점수 = (최저값 / 평가값) × 100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정량 (높을수록 좋음)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점수 = (평가값 / 최고값) × 100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정성 평가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평가위원 다수 점수 → 평균 (1~100)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D4A0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 종합점수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Σ (카테고리 점수 × 가중치)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40080" y="57150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Apple-to-Apple 정규화 원칙  </a:t>
            </a: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①통화 USD 통일  ②Incoterms CIF Vietnam 통일  ③동일 옵션 카테고리 통일  ④ISO/VDI 정밀도 환산  ⑤동급(고속가공기 vs 탭핑센터) 별도 그룹화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M&amp;C Electronics VINA  |  설비구매계획 4차  |  2026.04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4712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37160" cy="8229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비교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1대당 USD 환산 (환율: EUR 1.08 / JPY 150 / KRW 1,440)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80160"/>
          <a:ext cx="68580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280160"/>
            <a:ext cx="420624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7772400" y="1417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인사이트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0" y="1828800"/>
            <a:ext cx="39319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가격 차이 </a:t>
            </a:r>
            <a:r>
              <a:rPr lang="en-US" sz="1100" b="1" dirty="0">
                <a:solidFill>
                  <a:srgbClr val="EF6C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최저 vs 최고 = 4.5배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단, 클래스 차이 → 단순비교 부적절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Roeders 2종 차이 (USD 21K)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RXP500 = 큰 영역+15kW, RXP400 = 50K초정밀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Makino V33i (★ 업그레이드)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30K rpm + 60ATC + DAP Bac Ninh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Discount 22.0%, USD 230K (이전대비 +6.9%)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Makino Vietnam이 통관·운송 책임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Komatech 4대 = USD 238K (V33i 1대급)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단가 재협상 여지 큼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5577840"/>
            <a:ext cx="1124712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40080" y="5623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0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 견적 (각사 통화)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RXP500: EUR 249,255 </a:t>
            </a:r>
            <a:r>
              <a:rPr lang="en-US" sz="900" i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(CIF VN)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383280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RXP400: EUR 229,355 </a:t>
            </a:r>
            <a:r>
              <a:rPr lang="en-US" sz="900" i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(CIF VN)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26480" y="5989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V33i: JPY 34,498,418 </a:t>
            </a:r>
            <a:r>
              <a:rPr lang="en-US" sz="900" i="1" dirty="0">
                <a:solidFill>
                  <a:srgbClr val="D4A0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(DAP Bac Ninh)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44000" y="5989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KT420A: USD 59,500 </a:t>
            </a:r>
            <a:r>
              <a:rPr lang="en-US" sz="900" i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(FOB Busan)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M&amp;C Electronics VINA  |  설비구매계획 4차  |  2026.04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4712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37160" cy="8229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사양 비교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스핀들 RPM·정밀도·작업영역 한눈에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80160"/>
          <a:ext cx="57607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280160"/>
          <a:ext cx="5394960" cy="3941064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RXP500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RXP400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V33i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KT420A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공구 인터페이스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HSK-E40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HSK-E32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HSK-F63 (UP)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BT30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 / Y / Z (mm)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500/455/240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410/294/210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560/420/480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스핀들 출력 (kW)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공구매거진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 places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 places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 ATC (UP)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 (TWIN)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구동 방식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리니어모터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리니어모터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볼스크류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볼스크류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정밀도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리니어 정밀급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리니어 정밀급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0.05µm scale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≤3µm 반복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CNC 제어기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Roeders RMS6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Roeders RMS6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FANUC + Super GI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Mitsubishi M80A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기계 보증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12개월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12개월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 (FANUC 24)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12개월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리니어모터 보증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60개월 (5년)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60개월 (5년)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297680"/>
            <a:ext cx="5760720" cy="15544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/>
          <p:nvPr/>
        </p:nvSpPr>
        <p:spPr>
          <a:xfrm>
            <a:off x="640080" y="4389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분류 — 동급 비교 원칙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40080" y="470916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정밀 고속가공기 (HSK · 40K~50K rpm)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Roeders RXP500 / RXP400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정밀 머시닝센터 (HSK-F63 · 30K rpm + 60ATC)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Makino V33i (업그레이드)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EF6C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탭핑·홀가공 센터 (BT30 · 24K rpm)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Komatech KT420A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400800" y="5349240"/>
            <a:ext cx="5394960" cy="1097280"/>
          </a:xfrm>
          <a:prstGeom prst="rect">
            <a:avLst/>
          </a:prstGeom>
          <a:solidFill>
            <a:srgbClr val="FFF3E0"/>
          </a:solidFill>
          <a:ln w="12700">
            <a:solidFill>
              <a:srgbClr val="EF6C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6583680" y="5440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주의: </a:t>
            </a: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Komatech은 정밀도 ≤3µm로 </a:t>
            </a:r>
            <a:r>
              <a:rPr lang="en-US" sz="11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 다이몰드 가공에는 부적합</a:t>
            </a: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단순 탭핑·홀가공 양산용으로만 적합합니다. Roeders/Makino와 직접 비교 시 정밀도·표면조도에서 클래스 차이 명확.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M&amp;C Electronics VINA  |  설비구매계획 4차  |  2026.04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4712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37160" cy="8229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TCO 5년 시뮬레이션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구입가 + 5년 운영비 - 잔존가치 (가동 4,000h/년, 전력 USD 0.10/kWh)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80160"/>
          <a:ext cx="77724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1280160"/>
            <a:ext cx="3291840" cy="4206240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68680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5년 TCO 합계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0" y="18288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RXP500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875520" y="1828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$298,814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0" y="2606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RXP400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875520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$267,203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86800" y="33832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V33i (UP)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875520" y="3383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$246,659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686800" y="41605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KT420A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875520" y="4160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F6C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$81,925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640080" y="57150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TCO 가정  </a:t>
            </a: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운영기간 5년 / 가동 4,000h/년 / 전력단가 USD 0.10/kWh / 유지보수 구입가 3%/년 / 소모품 별도 / 잔존가치 30%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M&amp;C Electronics VINA  |  설비구매계획 4차  |  2026.04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4712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37160" cy="8229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 평가 점수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가중치 적용 결과 (100점 만점)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280160"/>
          <a:ext cx="5943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280160"/>
          <a:ext cx="5394960" cy="3200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종합점수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V33i (UP)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86.5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30K+60ATC+DAP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RXP400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82.1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초정밀+5년 보증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6E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KT420A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80.8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최저가·단납기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RXP500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78.5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큰 영역·고출력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400800" y="4572000"/>
            <a:ext cx="539496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583680" y="4663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해석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583680" y="4983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RXP400, V33i, KT420A 점수 </a:t>
            </a: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근소한 차이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가공 요구 정밀도에 따라 다른 결론 도출 가능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r>
              <a:rPr lang="en-US" sz="1100" b="1" dirty="0">
                <a:solidFill>
                  <a:srgbClr val="D4A0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 변경 시 순위 역전</a:t>
            </a: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가능 (Excel 시뮬레이션 가능)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M&amp;C Electronics VINA  |  설비구매계획 4차  |  2026.04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4712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37160" cy="8229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 평가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심각도 × 발생가능성 = 리스크 지수 (1~25)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475488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8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리스크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대응 방안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Komatech은 정밀가공 부적합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KT420A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용도 명확화 — 정밀가공에는 사용 제외, 단순 탭핑·홀가공 양산에만 한정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EUR 환율 +10% 시 RXP500 USD 27만→30만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RXP 시리즈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6C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선물환 헤지 또는 분할 결제, 계약 환율 락인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KRW 환율 ±5% 변동 시 KT420A 재견적 조항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KT420A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6C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신속 발주로 환율 변동 노출 최소화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독일 본사 A/S 의존 시 출장비·시간 부담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RXP 시리즈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6C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베트남 현지 엔지니어 사전 양성, 5년 풀서비스 계약 협의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독일 BAFA 수출허가 지연 (+1~2개월)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RXP 시리즈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6C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계약 시 BAFA 진행 사전 확인, 납기 버퍼 확보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오일미스트·소음·진동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집진기·차음·방진 별도 시공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리니어모터 마모 시 교체비 고가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RXP 시리즈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5년 보증 기간 내 예방정비 강화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취소 시 ORGALIME 약관 (Roeders 유리)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RXP 시리즈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국문 번역본 확보 + 협상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범례:  </a:t>
            </a:r>
            <a:r>
              <a:rPr lang="en-US" sz="14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</a:t>
            </a: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매우높음(15+)  </a:t>
            </a:r>
            <a:r>
              <a:rPr lang="en-US" sz="1400" b="1" dirty="0">
                <a:solidFill>
                  <a:srgbClr val="EF6C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</a:t>
            </a: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높음(9~14)  </a:t>
            </a:r>
            <a:r>
              <a:rPr lang="en-US" sz="1400" b="1" dirty="0">
                <a:solidFill>
                  <a:srgbClr val="FFC10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</a:t>
            </a: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중간(4~8)  </a:t>
            </a:r>
            <a:r>
              <a:rPr lang="en-US" sz="14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</a:t>
            </a: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낮음(1~3)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M&amp;C Electronics VINA  |  설비구매계획 4차  |  2026.04</a:t>
            </a:r>
            <a:endParaRPr lang="en-US" sz="900" dirty="0"/>
          </a:p>
        </p:txBody>
      </p:sp>
      <p:sp>
        <p:nvSpPr>
          <p:cNvPr id="5" name="Text 6"/>
          <p:cNvSpPr/>
          <p:nvPr/>
        </p:nvSpPr>
        <p:spPr>
          <a:xfrm>
            <a:off x="1124712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37160" cy="8229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시나리오별 권고 모델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가공 요구 시나리오에 따른 최적 모델 매칭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7033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09728" cy="2377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6459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초정밀 다이몰드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(≤±2μm)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331720"/>
            <a:ext cx="32461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23317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Roeders RXP400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88036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50,000 RPM, HSK-E32, 리니어모터 5년 보증, 표면조도 최우수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1280160"/>
            <a:ext cx="37033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297680" y="1280160"/>
            <a:ext cx="109728" cy="2377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26280" y="14173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26280" y="16459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중대형 정밀가공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(≤±5μm)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26280" y="2331720"/>
            <a:ext cx="32461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526280" y="23317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Roeders RXP500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26280" y="288036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X500/Y455 큰 영역 + 400kg 워크피스, 42,000 RPM HSK-E40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38160" y="1280160"/>
            <a:ext cx="37033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138160" y="1280160"/>
            <a:ext cx="109728" cy="2377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366760" y="14173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66760" y="16459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정밀+양산 균형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(★ 1순위)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366760" y="2331720"/>
            <a:ext cx="324612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366760" y="23317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Makino V33i (UP)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66760" y="288036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30K rpm + 60ATC, DAP Bac Ninh 통관·운송 책임, Super GI .5, MARPOSS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794760"/>
            <a:ext cx="37033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57200" y="3794760"/>
            <a:ext cx="109728" cy="237744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85800" y="39319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 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" y="41605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탭핑·홀가공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양산 (4대 동시)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85800" y="4846320"/>
            <a:ext cx="3246120" cy="45720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85800" y="48463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Komatech KT420A ×4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" y="539496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USD 23.8만 (V33i 1대급), 3개월 단납기, BT30 24K rpm 충분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97680" y="3794760"/>
            <a:ext cx="37033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4297680" y="3794760"/>
            <a:ext cx="109728" cy="2377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526280" y="39319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 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26280" y="41605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 투자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시범+확장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26280" y="4846320"/>
            <a:ext cx="324612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526280" y="48463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KT420A 1대 → V33i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26280" y="539496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 KT420A 양산 시작 → 2단계 V33i/RXP400 추가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138160" y="3794760"/>
            <a:ext cx="37033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8138160" y="3794760"/>
            <a:ext cx="109728" cy="2377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8366760" y="39319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 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366760" y="41605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균형 포트폴리오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(정밀+양산)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366760" y="4846320"/>
            <a:ext cx="32461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8366760" y="48463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RXP400 + KT420A×2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366760" y="539496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초정밀은 RXP400, 양산 보조는 KT420A로 비용 효율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M&amp;C Electronics VINA  |  설비구매계획 4차  |  2026.04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4712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37160" cy="8229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벤더별 협상 포인트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Negotiation Levers — 추가 가치 확보 전략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7490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7490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Roeders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3291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</a:t>
            </a: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옵션 패키지 무상화 (RMS6/SO, RMSEdit/Cam, 매뉴얼도어)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</a:t>
            </a: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운송비·보험 추가 할인 (현 CIF 6,830 EUR)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</a:t>
            </a: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베트남 현지 엔지니어 양성 프로그램 (3~5명)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</a:t>
            </a: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5년 풀서비스 계약 단가 협상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</a:t>
            </a: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환율 락인 (계약 환율 고정 또는 분할 결제)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371600"/>
            <a:ext cx="37490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343400" y="1371600"/>
            <a:ext cx="3749040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26280" y="1371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Makino (1순위)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2148840"/>
            <a:ext cx="3291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</a:t>
            </a: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Discount 추가 협상 (현 22.0% → 25%)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</a:t>
            </a: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Super GI .5 무상 옵션화 (현 1.7M JPY)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</a:t>
            </a: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FANUC 보증 36개월 연장 (현 24개월)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</a:t>
            </a: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Makino Vietnam 24/7 SLA + DAP 유지 명문화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</a:t>
            </a: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운영자 교육 무상 인원 확대 + 데모 가공 무상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1371600"/>
            <a:ext cx="37490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229600" y="1371600"/>
            <a:ext cx="3749040" cy="64008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412480" y="1371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Komatech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58200" y="2148840"/>
            <a:ext cx="3291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F6C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</a:t>
            </a: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4대 동시 발주 → 단가 재협상 (5K~10K USD/대 절감)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F6C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</a:t>
            </a: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FOB Busan → CIF Hai Phong 무상 전환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F6C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</a:t>
            </a: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보증 24개월 연장 (현 12개월)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F6C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</a:t>
            </a: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옵션 추가 무상화 (현 무상 옵션 외)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F6C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</a:t>
            </a: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환율 변동 흡수 폭 확대 (±5% → ±10%)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M&amp;C Electronics VINA  |  설비구매계획 4차  |  2026.04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37160" cy="8229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 결정 전 최종 체크리스트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 항목 — 모두 ☑ 확인 후 발주 추천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114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2801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2344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가공 대상 제품의 정밀도 요구사항 (μm 단위)이 문서로 확정되어 있는가?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4114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21792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12801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86600" y="12344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5년 가공 물량 및 가동률 예측이 합리적인가? (TCO 시나리오 기반)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4114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21945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21488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베트남 공장 현장 환경(전력·온습도·바닥평탄도)이 사양 요구를 충족하는가?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2194560"/>
            <a:ext cx="4114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21792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20840" y="21945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86600" y="21488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견적서 기재 옵션 외 추가 필요 옵션 (집진기·CAM·계측기) 비용이 산정되어 있는가?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4114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5720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31089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25880" y="30632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A/S SLA(응답시간·출장비·부품 단가)가 계약서에 명문화되었는가?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3108960"/>
            <a:ext cx="4114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21792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20840" y="31089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86600" y="30632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조건(L/C·T/T)에 대한 자금 조달 계획이 수립되었는가?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023360"/>
            <a:ext cx="4114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5720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60120" y="40233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25880" y="39776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환헤지(선물환·옵션) 또는 계약 환율 고정 조항이 협의되었는가?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4023360"/>
            <a:ext cx="4114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21792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20840" y="40233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086600" y="39776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시운전(Acceptance Test) 합격 기준이 정량화되어 있는가? (정밀도·가공시간·표면조도)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937760"/>
            <a:ext cx="4114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57200" y="4937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60120" y="49377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325880" y="48920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운영자·정비자 교육 계획이 수립되었는가? (인원·기간·내용)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17920" y="4937760"/>
            <a:ext cx="4114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217920" y="4937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20840" y="49377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086600" y="48920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동종 산업 레퍼런스 방문 또는 데모 가공이 완료되었는가?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M&amp;C Electronics VINA  |  설비구매계획 4차  |  2026.04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4712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457200" cy="10972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 Steps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결정·발주 전 진행할 단계별 액션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6974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69748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Week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가공 요구 정밀도 확정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제품·공정·μm 단위 명문화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920240"/>
            <a:ext cx="26974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246120" y="1920240"/>
            <a:ext cx="269748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383280" y="19202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Week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25603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후보 2~3종 선정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429000" y="36118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보고서 기준 1차 압축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920240"/>
            <a:ext cx="26974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035040" y="1920240"/>
            <a:ext cx="269748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172200" y="19202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Week 3-4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5603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벤더 협상 + 데모 가공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217920" y="36118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협상 포인트 적용, 레퍼런스 방문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823960" y="1920240"/>
            <a:ext cx="26974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8823960" y="1920240"/>
            <a:ext cx="269748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961120" y="19202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Week 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006840" y="25603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결재 + 발주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006840" y="36118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결제·환헤지·SLA 계약서 체결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937760"/>
            <a:ext cx="11247120" cy="14630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0080" y="5029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권고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5440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균형형 의사결정</a:t>
            </a:r>
            <a:r>
              <a:rPr lang="en-US" sz="13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2026년 신규 도입 1순위는 </a:t>
            </a: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Makino V33i (60ATC + 30K rpm + DAP Bac Ninh)</a:t>
            </a:r>
            <a:r>
              <a:rPr lang="en-US" sz="13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초정밀 가공이 추가로 필요할 시 RXP400 보완. Komatech은 별도 양산 라인 검토. 데모 가공 필수.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M&amp;C Electronics VINA  |  설비구매계획 4차  |  2026.04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1958</Words>
  <Application>Microsoft Office PowerPoint</Application>
  <PresentationFormat>와이드스크린</PresentationFormat>
  <Paragraphs>379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고속가공기 견적 비교 경영보고</dc:title>
  <dc:subject>PptxGenJS Presentation</dc:subject>
  <dc:creator>M&amp;C Electronics VINA</dc:creator>
  <cp:lastModifiedBy>임재홍</cp:lastModifiedBy>
  <cp:revision>1</cp:revision>
  <dcterms:created xsi:type="dcterms:W3CDTF">2026-04-25T02:40:56Z</dcterms:created>
  <dcterms:modified xsi:type="dcterms:W3CDTF">2026-04-25T08:40:49Z</dcterms:modified>
</cp:coreProperties>
</file>