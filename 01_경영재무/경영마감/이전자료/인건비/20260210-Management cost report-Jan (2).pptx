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63" r:id="rId2"/>
    <p:sldMasterId id="2147483673" r:id="rId3"/>
  </p:sldMasterIdLst>
  <p:notesMasterIdLst>
    <p:notesMasterId r:id="rId17"/>
  </p:notesMasterIdLst>
  <p:handoutMasterIdLst>
    <p:handoutMasterId r:id="rId18"/>
  </p:handoutMasterIdLst>
  <p:sldIdLst>
    <p:sldId id="2387" r:id="rId4"/>
    <p:sldId id="2381" r:id="rId5"/>
    <p:sldId id="2393" r:id="rId6"/>
    <p:sldId id="2422" r:id="rId7"/>
    <p:sldId id="2423" r:id="rId8"/>
    <p:sldId id="2424" r:id="rId9"/>
    <p:sldId id="2394" r:id="rId10"/>
    <p:sldId id="2413" r:id="rId11"/>
    <p:sldId id="2425" r:id="rId12"/>
    <p:sldId id="2416" r:id="rId13"/>
    <p:sldId id="2419" r:id="rId14"/>
    <p:sldId id="2420" r:id="rId15"/>
    <p:sldId id="2421" r:id="rId16"/>
  </p:sldIdLst>
  <p:sldSz cx="9906000" cy="6858000" type="A4"/>
  <p:notesSz cx="6797675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126">
          <p15:clr>
            <a:srgbClr val="A4A3A4"/>
          </p15:clr>
        </p15:guide>
        <p15:guide id="3" pos="30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6F2"/>
    <a:srgbClr val="F8CBAD"/>
    <a:srgbClr val="C5D9F1"/>
    <a:srgbClr val="0000CC"/>
    <a:srgbClr val="0000FF"/>
    <a:srgbClr val="BDD7EE"/>
    <a:srgbClr val="FFFF99"/>
    <a:srgbClr val="00CC00"/>
    <a:srgbClr val="0070C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1" autoAdjust="0"/>
    <p:restoredTop sz="99290" autoAdjust="0"/>
  </p:normalViewPr>
  <p:slideViewPr>
    <p:cSldViewPr>
      <p:cViewPr varScale="1">
        <p:scale>
          <a:sx n="115" d="100"/>
          <a:sy n="115" d="100"/>
        </p:scale>
        <p:origin x="1422" y="114"/>
      </p:cViewPr>
      <p:guideLst>
        <p:guide orient="horz" pos="2205"/>
        <p:guide pos="126"/>
        <p:guide pos="3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3990" y="90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072" cy="495936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1003" y="0"/>
            <a:ext cx="2945072" cy="495936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DB5C9A13-03EA-4153-90E7-64CB6544750C}" type="datetimeFigureOut">
              <a:rPr lang="en-US"/>
              <a:pPr>
                <a:defRPr/>
              </a:pPr>
              <a:t>2/12/2026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30705"/>
            <a:ext cx="2945072" cy="495936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1003" y="9430705"/>
            <a:ext cx="2945072" cy="495936"/>
          </a:xfrm>
          <a:prstGeom prst="rect">
            <a:avLst/>
          </a:prstGeom>
        </p:spPr>
        <p:txBody>
          <a:bodyPr vert="horz" wrap="square" lIns="91431" tIns="45715" rIns="91431" bIns="45715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3D32E10-4494-41C4-9885-B0E787CCA86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328469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072" cy="495936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1003" y="0"/>
            <a:ext cx="2945072" cy="495936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6AF093C0-20F9-48E4-AA16-FB02A0489609}" type="datetimeFigureOut">
              <a:rPr lang="ko-KR" altLang="en-US"/>
              <a:pPr>
                <a:defRPr/>
              </a:pPr>
              <a:t>2026-02-12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5" rIns="91431" bIns="45715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250" y="4715353"/>
            <a:ext cx="5437179" cy="4468177"/>
          </a:xfrm>
          <a:prstGeom prst="rect">
            <a:avLst/>
          </a:prstGeom>
        </p:spPr>
        <p:txBody>
          <a:bodyPr vert="horz" lIns="91431" tIns="45715" rIns="91431" bIns="45715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705"/>
            <a:ext cx="2945072" cy="495936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1003" y="9430705"/>
            <a:ext cx="2945072" cy="495936"/>
          </a:xfrm>
          <a:prstGeom prst="rect">
            <a:avLst/>
          </a:prstGeom>
        </p:spPr>
        <p:txBody>
          <a:bodyPr vert="horz" wrap="square" lIns="91431" tIns="45715" rIns="91431" bIns="45715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8B44670-C299-4ED8-9CB8-3DED7816EFB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3933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1" y="4716463"/>
            <a:ext cx="5438775" cy="44672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D99B6-8C63-46D3-AC4E-F19BB306C25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815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B44670-C299-4ED8-9CB8-3DED7816EFB6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7831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B44670-C299-4ED8-9CB8-3DED7816EFB6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728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6"/>
          <p:cNvSpPr/>
          <p:nvPr userDrawn="1"/>
        </p:nvSpPr>
        <p:spPr>
          <a:xfrm>
            <a:off x="0" y="0"/>
            <a:ext cx="4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cxnSp>
        <p:nvCxnSpPr>
          <p:cNvPr id="3" name="직선 연결선 2"/>
          <p:cNvCxnSpPr/>
          <p:nvPr userDrawn="1"/>
        </p:nvCxnSpPr>
        <p:spPr>
          <a:xfrm flipV="1">
            <a:off x="415925" y="3213100"/>
            <a:ext cx="9490075" cy="158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4149725"/>
            <a:ext cx="2879725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9804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963" y="304800"/>
            <a:ext cx="993775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그룹 28"/>
          <p:cNvGrpSpPr>
            <a:grpSpLocks/>
          </p:cNvGrpSpPr>
          <p:nvPr userDrawn="1"/>
        </p:nvGrpSpPr>
        <p:grpSpPr bwMode="auto">
          <a:xfrm>
            <a:off x="0" y="188913"/>
            <a:ext cx="9906000" cy="539750"/>
            <a:chOff x="0" y="188586"/>
            <a:chExt cx="9906000" cy="540070"/>
          </a:xfrm>
        </p:grpSpPr>
        <p:cxnSp>
          <p:nvCxnSpPr>
            <p:cNvPr id="4" name="직선 연결선 7"/>
            <p:cNvCxnSpPr/>
            <p:nvPr userDrawn="1"/>
          </p:nvCxnSpPr>
          <p:spPr>
            <a:xfrm>
              <a:off x="0" y="728656"/>
              <a:ext cx="855345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연결선 7"/>
            <p:cNvCxnSpPr/>
            <p:nvPr userDrawn="1"/>
          </p:nvCxnSpPr>
          <p:spPr>
            <a:xfrm flipV="1">
              <a:off x="8542338" y="188586"/>
              <a:ext cx="358775" cy="54007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7"/>
            <p:cNvCxnSpPr/>
            <p:nvPr userDrawn="1"/>
          </p:nvCxnSpPr>
          <p:spPr>
            <a:xfrm>
              <a:off x="8890000" y="188586"/>
              <a:ext cx="1016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 userDrawn="1"/>
        </p:nvSpPr>
        <p:spPr>
          <a:xfrm>
            <a:off x="9201472" y="6607571"/>
            <a:ext cx="1125538" cy="277813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fld id="{D1C4E95F-9563-46A9-9EB6-D394B7B21AD3}" type="slidenum">
              <a:rPr kumimoji="0"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hangingPunct="1"/>
              <a:t>‹#›</a:t>
            </a:fld>
            <a:endParaRPr kumimoji="0"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2474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CE51BE2-9DB0-4E8B-8D64-12DD0A8B5E76}" type="slidenum">
              <a:rPr kumimoji="0" lang="ko-KR" altLang="en-US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kumimoji="0" lang="ko-KR" altLang="en-US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7551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9582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191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3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842958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36C311-8ED8-49F5-8800-41EDEBCD2E02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2026-02-12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179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3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3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FDED5-6D09-4E5D-ACFB-26E99AF8E165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2026-02-12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8797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0179EE-A4D0-4756-8715-32E6600E2D9D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2026-02-12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747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B8C053-CB01-43BB-BA35-94F4793F2B04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2026-02-12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9646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3ECA0D-9461-4095-8CFB-A82A789CA739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2026-02-12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47773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2" y="273052"/>
            <a:ext cx="5537729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006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3BD97-7C83-4AAA-9989-428C7347FFF7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2026-02-12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4459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8AF198-EB07-4988-A7D1-464160EAFF6C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2026-02-12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98898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3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7F70CB-A4CE-45B8-8E65-61F3FA5A7819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2026-02-12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7298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40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40"/>
            <a:ext cx="65214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9FDD4A-57D3-44BA-AC50-237085C96134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2026-02-12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7715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299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508000" y="1557338"/>
            <a:ext cx="89154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 latinLnBrk="1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2052" name="제목 개체 틀 1"/>
          <p:cNvSpPr>
            <a:spLocks noGrp="1"/>
          </p:cNvSpPr>
          <p:nvPr>
            <p:ph type="title"/>
          </p:nvPr>
        </p:nvSpPr>
        <p:spPr bwMode="auto">
          <a:xfrm>
            <a:off x="9525" y="-14288"/>
            <a:ext cx="9867900" cy="635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800475" y="6524625"/>
            <a:ext cx="2311400" cy="311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latinLnBrk="1">
              <a:defRPr kumimoji="1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</a:lstStyle>
          <a:p>
            <a:pPr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2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HY헤드라인M" pitchFamily="18" charset="-127"/>
          <a:ea typeface="HY헤드라인M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"/>
        <a:defRPr sz="2400" b="1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  <p:sp>
        <p:nvSpPr>
          <p:cNvPr id="3075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08BDBC4-D6A0-4D5C-94E5-512CF430AA8C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hf hdr="0" ftr="0" dt="0"/>
  <p:txStyles>
    <p:titleStyle>
      <a:lvl1pPr algn="ctr" rtl="0" fontAlgn="base" latinLnBrk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272480" y="980728"/>
            <a:ext cx="9360000" cy="36000"/>
          </a:xfrm>
          <a:prstGeom prst="rect">
            <a:avLst/>
          </a:prstGeom>
          <a:solidFill>
            <a:srgbClr val="001C5C"/>
          </a:solidFill>
          <a:ln>
            <a:solidFill>
              <a:srgbClr val="001C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7" name="그림 16"/>
          <p:cNvPicPr/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497" y="6252495"/>
            <a:ext cx="6457503" cy="610741"/>
          </a:xfrm>
          <a:prstGeom prst="rect">
            <a:avLst/>
          </a:prstGeom>
        </p:spPr>
      </p:pic>
      <p:pic>
        <p:nvPicPr>
          <p:cNvPr id="8" name="그림 5" descr="회사 로고.png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9424" y="404664"/>
            <a:ext cx="1066367" cy="526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4099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856984" y="5229200"/>
            <a:ext cx="2150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2026.02.</a:t>
            </a:r>
            <a:r>
              <a:rPr kumimoji="0" lang="en-US" altLang="ko-KR" sz="1600" b="1" noProof="0" dirty="0" smtClean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1057571" y="1268760"/>
            <a:ext cx="7679776" cy="1500198"/>
          </a:xfrm>
          <a:prstGeom prst="rect">
            <a:avLst/>
          </a:prstGeom>
          <a:noFill/>
          <a:ln w="12700">
            <a:noFill/>
            <a:prstDash val="dash"/>
            <a:miter lim="800000"/>
            <a:headEnd/>
            <a:tailEnd/>
          </a:ln>
          <a:effectLst/>
        </p:spPr>
        <p:txBody>
          <a:bodyPr lIns="0" anchor="ctr">
            <a:normAutofit fontScale="92500" lnSpcReduction="20000"/>
          </a:bodyPr>
          <a:lstStyle/>
          <a:p>
            <a:pPr lvl="0" algn="ctr" fontAlgn="auto" latinLnBrk="0">
              <a:lnSpc>
                <a:spcPct val="150000"/>
              </a:lnSpc>
              <a:spcAft>
                <a:spcPts val="0"/>
              </a:spcAft>
              <a:defRPr/>
            </a:pPr>
            <a:r>
              <a:rPr kumimoji="0" lang="en-US" altLang="ko-KR" sz="3800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2026</a:t>
            </a:r>
            <a:r>
              <a:rPr kumimoji="0" lang="en-US" altLang="ko-KR" sz="3800" b="1" kern="0" noProof="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kumimoji="0" lang="en-US" altLang="ko-KR" sz="3800" b="1" kern="0" noProof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JAN</a:t>
            </a:r>
            <a:r>
              <a:rPr kumimoji="0" lang="en-US" altLang="ko-KR" sz="3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kumimoji="0" lang="en-US" altLang="ko-KR" sz="3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altLang="ko-KR" sz="38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 </a:t>
            </a:r>
            <a:r>
              <a:rPr kumimoji="0" lang="en-US" altLang="ko-KR" sz="38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MANAGEMENT DEP’T</a:t>
            </a:r>
            <a:r>
              <a:rPr kumimoji="0" lang="ko-KR" altLang="en-US" sz="3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ko-KR" sz="38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REPORT</a:t>
            </a:r>
            <a:r>
              <a:rPr kumimoji="0" lang="en-US" altLang="ko-KR" sz="3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" name="그림 5" descr="회사 로고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6215" y="3717032"/>
            <a:ext cx="2122487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6489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92430" y="188718"/>
            <a:ext cx="76467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2026Y</a:t>
            </a:r>
            <a:r>
              <a:rPr lang="en-US" altLang="ko-KR" sz="20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0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– </a:t>
            </a:r>
            <a:r>
              <a:rPr lang="en-US" altLang="ko-KR" sz="20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JAN</a:t>
            </a:r>
            <a:endParaRPr lang="en-US" altLang="ko-KR" sz="2000" b="1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488504" y="947463"/>
            <a:ext cx="8839201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 eaLnBrk="0" hangingPunct="0">
              <a:spcBef>
                <a:spcPct val="20000"/>
              </a:spcBef>
              <a:buFont typeface="Wingdings" pitchFamily="2" charset="2"/>
              <a:buChar char=""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CATEGORY</a:t>
            </a:r>
            <a:r>
              <a:rPr lang="ko-KR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3" name="Rectangle 2"/>
          <p:cNvSpPr/>
          <p:nvPr/>
        </p:nvSpPr>
        <p:spPr>
          <a:xfrm>
            <a:off x="920552" y="1268760"/>
            <a:ext cx="7632848" cy="2160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1.1: Salary report by title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1.2: Salary report by dep’t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1.3: OT report by title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1.4: OT report by dep’t</a:t>
            </a:r>
          </a:p>
          <a:p>
            <a:pPr>
              <a:lnSpc>
                <a:spcPct val="150000"/>
              </a:lnSpc>
            </a:pP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1.5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OT standard &amp; OT amount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20552" y="3284984"/>
            <a:ext cx="5688632" cy="115212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 COST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2.1: Utility – EHS cost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2.2: Office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920552" y="4437112"/>
            <a:ext cx="3816424" cy="129614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PURCHASING COST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3.1: Purchase cost by item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3.2: Purchase cost by dep’t </a:t>
            </a:r>
          </a:p>
        </p:txBody>
      </p:sp>
    </p:spTree>
    <p:extLst>
      <p:ext uri="{BB962C8B-B14F-4D97-AF65-F5344CB8AC3E}">
        <p14:creationId xmlns:p14="http://schemas.microsoft.com/office/powerpoint/2010/main" val="1995130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303211" y="861699"/>
            <a:ext cx="3353645" cy="305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 eaLnBrk="0" hangingPunct="0">
              <a:spcBef>
                <a:spcPct val="20000"/>
              </a:spcBef>
              <a:buFont typeface="Wingdings" pitchFamily="2" charset="2"/>
              <a:buChar char=""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COST TOTAL REPORT IN </a:t>
            </a:r>
            <a:r>
              <a:rPr lang="en-US" altLang="ko-KR" sz="14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JAN</a:t>
            </a:r>
            <a:endParaRPr lang="ko-KR" altLang="en-US" sz="1400" b="1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2432" y="188640"/>
            <a:ext cx="76467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2026Y</a:t>
            </a:r>
            <a:r>
              <a:rPr lang="en-US" altLang="ko-KR" sz="20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– JAN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001838"/>
              </p:ext>
            </p:extLst>
          </p:nvPr>
        </p:nvGraphicFramePr>
        <p:xfrm>
          <a:off x="416496" y="1167069"/>
          <a:ext cx="8784976" cy="4998236"/>
        </p:xfrm>
        <a:graphic>
          <a:graphicData uri="http://schemas.openxmlformats.org/drawingml/2006/table">
            <a:tbl>
              <a:tblPr/>
              <a:tblGrid>
                <a:gridCol w="471097">
                  <a:extLst>
                    <a:ext uri="{9D8B030D-6E8A-4147-A177-3AD203B41FA5}">
                      <a16:colId xmlns:a16="http://schemas.microsoft.com/office/drawing/2014/main" val="1146784531"/>
                    </a:ext>
                  </a:extLst>
                </a:gridCol>
                <a:gridCol w="1058453">
                  <a:extLst>
                    <a:ext uri="{9D8B030D-6E8A-4147-A177-3AD203B41FA5}">
                      <a16:colId xmlns:a16="http://schemas.microsoft.com/office/drawing/2014/main" val="4208431605"/>
                    </a:ext>
                  </a:extLst>
                </a:gridCol>
                <a:gridCol w="630690">
                  <a:extLst>
                    <a:ext uri="{9D8B030D-6E8A-4147-A177-3AD203B41FA5}">
                      <a16:colId xmlns:a16="http://schemas.microsoft.com/office/drawing/2014/main" val="2722533980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22464029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774352762"/>
                    </a:ext>
                  </a:extLst>
                </a:gridCol>
                <a:gridCol w="1055290">
                  <a:extLst>
                    <a:ext uri="{9D8B030D-6E8A-4147-A177-3AD203B41FA5}">
                      <a16:colId xmlns:a16="http://schemas.microsoft.com/office/drawing/2014/main" val="3265383457"/>
                    </a:ext>
                  </a:extLst>
                </a:gridCol>
                <a:gridCol w="1013078">
                  <a:extLst>
                    <a:ext uri="{9D8B030D-6E8A-4147-A177-3AD203B41FA5}">
                      <a16:colId xmlns:a16="http://schemas.microsoft.com/office/drawing/2014/main" val="3295320802"/>
                    </a:ext>
                  </a:extLst>
                </a:gridCol>
                <a:gridCol w="1171992">
                  <a:extLst>
                    <a:ext uri="{9D8B030D-6E8A-4147-A177-3AD203B41FA5}">
                      <a16:colId xmlns:a16="http://schemas.microsoft.com/office/drawing/2014/main" val="615735776"/>
                    </a:ext>
                  </a:extLst>
                </a:gridCol>
              </a:tblGrid>
              <a:tr h="303533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82" marR="7982" marT="79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 marL="7982" marR="7982" marT="7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82" marR="7982" marT="7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82" marR="7982" marT="7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82" marR="7982" marT="7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82" marR="7982" marT="7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82" marR="7982" marT="7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[1USD/26,000vnd]</a:t>
                      </a:r>
                    </a:p>
                  </a:txBody>
                  <a:tcPr marL="7982" marR="7982" marT="79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5451444"/>
                  </a:ext>
                </a:extLst>
              </a:tr>
              <a:tr h="4377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Dept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2025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Average 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Dec-25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Jan-2026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 Total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90733"/>
                  </a:ext>
                </a:extLst>
              </a:tr>
              <a:tr h="3381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HR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Salary cost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      38,141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457,686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489,093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489,093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697450"/>
                  </a:ext>
                </a:extLst>
              </a:tr>
              <a:tr h="338156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5" grid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UTILITY/EHS/GA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Electricity cost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    290,765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295,691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294,889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294,889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715794"/>
                  </a:ext>
                </a:extLst>
              </a:tr>
              <a:tr h="3381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Water cost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        2,093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2,236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  2,344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2,344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786016"/>
                  </a:ext>
                </a:extLst>
              </a:tr>
              <a:tr h="4033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Waste treatment cost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      31,500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38,069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38,388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38,388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833449"/>
                  </a:ext>
                </a:extLst>
              </a:tr>
              <a:tr h="3381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Maitainance cost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      65,801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35,619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176,778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176,778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141137"/>
                  </a:ext>
                </a:extLst>
              </a:tr>
              <a:tr h="3381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Office cost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      89,225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89,481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85,557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85,557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298128"/>
                  </a:ext>
                </a:extLst>
              </a:tr>
              <a:tr h="3381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PURCHASING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Purchase cost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 1,818,730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1,646,484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1,989,086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1,989,086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9113442"/>
                  </a:ext>
                </a:extLst>
              </a:tr>
              <a:tr h="343306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 2,336,255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2,565,267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3,076,135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</a:t>
                      </a:r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3,076,135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698749"/>
                  </a:ext>
                </a:extLst>
              </a:tr>
              <a:tr h="159638">
                <a:tc gridSpan="2"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82" marR="7982" marT="798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82" marR="7982" marT="798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82" marR="7982" marT="798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82" marR="7982" marT="798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82" marR="7982" marT="798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82" marR="7982" marT="798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82" marR="7982" marT="798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54321"/>
                  </a:ext>
                </a:extLst>
              </a:tr>
              <a:tr h="446297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Month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2025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Average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Dec-25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 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265533"/>
                  </a:ext>
                </a:extLst>
              </a:tr>
              <a:tr h="437714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OT/ Hours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71,463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75,366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81,998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81,998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38468"/>
                  </a:ext>
                </a:extLst>
              </a:tr>
              <a:tr h="437714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OT. Amount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    174,804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181,512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206,388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  </a:t>
                      </a:r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206,388 </a:t>
                      </a:r>
                    </a:p>
                  </a:txBody>
                  <a:tcPr marL="7982" marR="7982" marT="79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593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2833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2480" y="3400828"/>
            <a:ext cx="38738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Font typeface="Wingdings" pitchFamily="2" charset="2"/>
              <a:buChar char=""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SALARY &amp; OT COST USAGE ANALYSIS</a:t>
            </a:r>
            <a:endParaRPr lang="ko-KR" altLang="en-US" sz="1400" b="1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7971" y="3726041"/>
            <a:ext cx="9145016" cy="2912839"/>
          </a:xfrm>
          <a:prstGeom prst="rect">
            <a:avLst/>
          </a:prstGeom>
          <a:solidFill>
            <a:schemeClr val="bg1"/>
          </a:solidFill>
          <a:ln w="1270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just"/>
            <a:endParaRPr lang="en-US" altLang="ko-KR" sz="1300" b="1" u="sng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ko-KR" sz="13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ko-KR" sz="13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 </a:t>
            </a:r>
            <a:r>
              <a:rPr lang="en-US" altLang="ko-KR" sz="13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ko-KR" sz="13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</a:t>
            </a:r>
            <a:r>
              <a:rPr lang="en-US" altLang="ko-KR" sz="13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 &amp; others </a:t>
            </a:r>
            <a:r>
              <a:rPr lang="en-US" altLang="ko-KR" sz="13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Jan</a:t>
            </a:r>
            <a:endParaRPr lang="en-US" altLang="ko-KR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Salary in Jan 2026 is higher than in Dec 2025 ($ 31,407) 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due to the following </a:t>
            </a:r>
            <a:r>
              <a:rPr 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reasons</a:t>
            </a:r>
            <a:endParaRPr lang="en-US" altLang="ko-K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Salary increase adjustment from January 2026 (223 people), the increase is $</a:t>
            </a:r>
            <a:r>
              <a:rPr lang="en-US" altLang="ko-KR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8,664</a:t>
            </a:r>
          </a:p>
          <a:p>
            <a:pPr algn="just"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Overtime pay for 223 people increased by $10,511 compared to December </a:t>
            </a:r>
            <a:r>
              <a:rPr lang="en-US" altLang="ko-KR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  <a:p>
            <a:pPr algn="just"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Overtime hours in January 2026 increased by 6,632 hours compared to December 2025    </a:t>
            </a:r>
          </a:p>
          <a:p>
            <a:pPr algn="just">
              <a:lnSpc>
                <a:spcPct val="150000"/>
              </a:lnSpc>
            </a:pP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Samsung bracket goods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33%,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Samsung (</a:t>
            </a:r>
            <a:r>
              <a:rPr lang="en-US" altLang="ko-KR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SEVT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process goods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%;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 goods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 33%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ko-KR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Qualcom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goods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%; </a:t>
            </a:r>
            <a:r>
              <a:rPr lang="en-US" altLang="ko-KR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ZF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goods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 5%; </a:t>
            </a:r>
            <a:r>
              <a:rPr lang="en-US" altLang="ko-KR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Mando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goods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 5%. </a:t>
            </a:r>
            <a:r>
              <a:rPr lang="vi-VN" sz="1300" dirty="0"/>
              <a:t>hosiden tháng 2 tăng: 17%, Samsung bracket tăng: 51%, samsung CNC tăng: 25% LG tăng: 12% ZF tăng: 47%, hanwha tăng: 46% Innorex</a:t>
            </a:r>
            <a:endParaRPr lang="en-US" altLang="ko-KR" sz="1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algn="just">
              <a:lnSpc>
                <a:spcPct val="150000"/>
              </a:lnSpc>
            </a:pPr>
            <a:endParaRPr lang="en-US" altLang="ko-KR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algn="just">
              <a:lnSpc>
                <a:spcPct val="150000"/>
              </a:lnSpc>
            </a:pPr>
            <a:endParaRPr lang="en-US" altLang="ko-KR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ko-KR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7444" y="898847"/>
            <a:ext cx="317574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Font typeface="Wingdings" pitchFamily="2" charset="2"/>
              <a:buChar char=""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SALARY &amp; OT REPORT IN </a:t>
            </a:r>
            <a:r>
              <a:rPr lang="en-US" altLang="ko-KR" sz="14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JAN</a:t>
            </a:r>
            <a:endParaRPr lang="ko-KR" altLang="en-US" sz="1400" b="1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272480" y="277106"/>
            <a:ext cx="32762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000" b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REPORT EXPLANATION</a:t>
            </a:r>
            <a:endParaRPr lang="en-US" altLang="ko-KR" sz="2000" b="1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74124"/>
              </p:ext>
            </p:extLst>
          </p:nvPr>
        </p:nvGraphicFramePr>
        <p:xfrm>
          <a:off x="398453" y="842987"/>
          <a:ext cx="9019042" cy="2428875"/>
        </p:xfrm>
        <a:graphic>
          <a:graphicData uri="http://schemas.openxmlformats.org/drawingml/2006/table">
            <a:tbl>
              <a:tblPr/>
              <a:tblGrid>
                <a:gridCol w="518050">
                  <a:extLst>
                    <a:ext uri="{9D8B030D-6E8A-4147-A177-3AD203B41FA5}">
                      <a16:colId xmlns:a16="http://schemas.microsoft.com/office/drawing/2014/main" val="2964203241"/>
                    </a:ext>
                  </a:extLst>
                </a:gridCol>
                <a:gridCol w="1160327">
                  <a:extLst>
                    <a:ext uri="{9D8B030D-6E8A-4147-A177-3AD203B41FA5}">
                      <a16:colId xmlns:a16="http://schemas.microsoft.com/office/drawing/2014/main" val="3956363345"/>
                    </a:ext>
                  </a:extLst>
                </a:gridCol>
                <a:gridCol w="1906251">
                  <a:extLst>
                    <a:ext uri="{9D8B030D-6E8A-4147-A177-3AD203B41FA5}">
                      <a16:colId xmlns:a16="http://schemas.microsoft.com/office/drawing/2014/main" val="4245059824"/>
                    </a:ext>
                  </a:extLst>
                </a:gridCol>
                <a:gridCol w="1453150">
                  <a:extLst>
                    <a:ext uri="{9D8B030D-6E8A-4147-A177-3AD203B41FA5}">
                      <a16:colId xmlns:a16="http://schemas.microsoft.com/office/drawing/2014/main" val="2542745280"/>
                    </a:ext>
                  </a:extLst>
                </a:gridCol>
                <a:gridCol w="1388977">
                  <a:extLst>
                    <a:ext uri="{9D8B030D-6E8A-4147-A177-3AD203B41FA5}">
                      <a16:colId xmlns:a16="http://schemas.microsoft.com/office/drawing/2014/main" val="2036691119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22782398"/>
                    </a:ext>
                  </a:extLst>
                </a:gridCol>
                <a:gridCol w="1368151">
                  <a:extLst>
                    <a:ext uri="{9D8B030D-6E8A-4147-A177-3AD203B41FA5}">
                      <a16:colId xmlns:a16="http://schemas.microsoft.com/office/drawing/2014/main" val="3387489238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[1USD/26,00vnd]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20595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Dept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2025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Average 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 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725862"/>
                  </a:ext>
                </a:extLst>
              </a:tr>
              <a:tr h="49530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Salary cost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38,141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457,686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489,093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489,093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557580"/>
                  </a:ext>
                </a:extLst>
              </a:tr>
              <a:tr h="495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amount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174,804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$           181,512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206,388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206,388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690926"/>
                  </a:ext>
                </a:extLst>
              </a:tr>
              <a:tr h="495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hours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71,463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75,366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81,998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81,998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877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2950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93162" y="3929543"/>
            <a:ext cx="8989668" cy="2859822"/>
          </a:xfrm>
          <a:prstGeom prst="rect">
            <a:avLst/>
          </a:prstGeom>
          <a:solidFill>
            <a:schemeClr val="bg1"/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3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 for Increase/ decrease electricity, </a:t>
            </a:r>
            <a:r>
              <a:rPr lang="en-US" sz="13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maintainance</a:t>
            </a:r>
            <a:r>
              <a:rPr lang="en-US" sz="13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waste water, office cost  in </a:t>
            </a:r>
            <a:r>
              <a:rPr lang="en-US" sz="13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</a:t>
            </a:r>
            <a:endParaRPr lang="en-US" sz="13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Jan,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Electricity cost is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$ 802 compared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 2025 (the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 is very small compared to December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3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treatment cost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319 than Dec 2025 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Maintenance cost in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 2026 increased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141,159 than Dec 2025 because: </a:t>
            </a:r>
          </a:p>
          <a:p>
            <a:pPr>
              <a:lnSpc>
                <a:spcPct val="150000"/>
              </a:lnSpc>
            </a:pP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Completed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renovation of exhaust fan system, electrical system, and compressed air system in </a:t>
            </a:r>
            <a:r>
              <a:rPr lang="en-US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CNC4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workshop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Completed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renovation and construction of rest area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Office cost of  Jan 2026 decreased $3,925 than Dec 2025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reduced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costs for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airfare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 ticket)</a:t>
            </a:r>
            <a:endParaRPr 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00434" y="3621765"/>
            <a:ext cx="39097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Font typeface="Wingdings" pitchFamily="2" charset="2"/>
              <a:buChar char=""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UTILITY COST USAGE ANALYSIS</a:t>
            </a:r>
            <a:endParaRPr lang="ko-KR" altLang="en-US" sz="1400" b="1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0434" y="707425"/>
            <a:ext cx="407650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Font typeface="Wingdings" pitchFamily="2" charset="2"/>
              <a:buChar char=""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UTILITY COST TOTAL REPORT IN </a:t>
            </a:r>
            <a:r>
              <a:rPr lang="en-US" altLang="ko-KR" sz="14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JAN</a:t>
            </a:r>
            <a:endParaRPr lang="ko-KR" altLang="en-US" sz="1400" b="1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8" name="Rectangle 1"/>
          <p:cNvSpPr/>
          <p:nvPr/>
        </p:nvSpPr>
        <p:spPr>
          <a:xfrm>
            <a:off x="272480" y="277106"/>
            <a:ext cx="32762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000" b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REPORT EXPLANATION</a:t>
            </a:r>
            <a:endParaRPr lang="en-US" altLang="ko-KR" sz="2000" b="1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950304"/>
              </p:ext>
            </p:extLst>
          </p:nvPr>
        </p:nvGraphicFramePr>
        <p:xfrm>
          <a:off x="493162" y="613629"/>
          <a:ext cx="8989669" cy="3067050"/>
        </p:xfrm>
        <a:graphic>
          <a:graphicData uri="http://schemas.openxmlformats.org/drawingml/2006/table">
            <a:tbl>
              <a:tblPr/>
              <a:tblGrid>
                <a:gridCol w="325099">
                  <a:extLst>
                    <a:ext uri="{9D8B030D-6E8A-4147-A177-3AD203B41FA5}">
                      <a16:colId xmlns:a16="http://schemas.microsoft.com/office/drawing/2014/main" val="3481195523"/>
                    </a:ext>
                  </a:extLst>
                </a:gridCol>
                <a:gridCol w="1652211">
                  <a:extLst>
                    <a:ext uri="{9D8B030D-6E8A-4147-A177-3AD203B41FA5}">
                      <a16:colId xmlns:a16="http://schemas.microsoft.com/office/drawing/2014/main" val="2053620247"/>
                    </a:ext>
                  </a:extLst>
                </a:gridCol>
                <a:gridCol w="1862563">
                  <a:extLst>
                    <a:ext uri="{9D8B030D-6E8A-4147-A177-3AD203B41FA5}">
                      <a16:colId xmlns:a16="http://schemas.microsoft.com/office/drawing/2014/main" val="2195607962"/>
                    </a:ext>
                  </a:extLst>
                </a:gridCol>
                <a:gridCol w="1268037">
                  <a:extLst>
                    <a:ext uri="{9D8B030D-6E8A-4147-A177-3AD203B41FA5}">
                      <a16:colId xmlns:a16="http://schemas.microsoft.com/office/drawing/2014/main" val="3017789745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46287227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0927906"/>
                    </a:ext>
                  </a:extLst>
                </a:gridCol>
                <a:gridCol w="1361479">
                  <a:extLst>
                    <a:ext uri="{9D8B030D-6E8A-4147-A177-3AD203B41FA5}">
                      <a16:colId xmlns:a16="http://schemas.microsoft.com/office/drawing/2014/main" val="2561345713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[1USD/26,00vnd]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7908904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Dept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2025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Average 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 Total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37355"/>
                  </a:ext>
                </a:extLst>
              </a:tr>
              <a:tr h="39052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UTILITY/EHS/GA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Electricity cost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290,765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295,691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294,889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294,889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954402"/>
                  </a:ext>
                </a:extLst>
              </a:tr>
              <a:tr h="3905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Water cost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2,093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2,236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 2,344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   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2,344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300458"/>
                  </a:ext>
                </a:extLst>
              </a:tr>
              <a:tr h="3905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Waste treatment cost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31,500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38,069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38,388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  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38,388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38706"/>
                  </a:ext>
                </a:extLst>
              </a:tr>
              <a:tr h="3905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Maitainance cost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65,801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35,619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176,778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176,778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100833"/>
                  </a:ext>
                </a:extLst>
              </a:tr>
              <a:tr h="3905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Office cost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89,225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89,481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85,557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   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85,557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334759"/>
                  </a:ext>
                </a:extLst>
              </a:tr>
              <a:tr h="39052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479,384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461,096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597,956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597,956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721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7300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88504" y="3140864"/>
            <a:ext cx="389728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Font typeface="Wingdings" pitchFamily="2" charset="2"/>
              <a:buChar char=""/>
              <a:defRPr/>
            </a:pPr>
            <a:r>
              <a:rPr lang="en-US" altLang="ko-KR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PURCHASING </a:t>
            </a:r>
            <a:r>
              <a:rPr lang="en-US" altLang="ko-KR" sz="1400" b="1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COST USAGE ANALYSIS</a:t>
            </a:r>
            <a:endParaRPr lang="ko-KR" altLang="en-US" sz="1400" b="1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3000" y="967274"/>
            <a:ext cx="4546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Font typeface="Wingdings" pitchFamily="2" charset="2"/>
              <a:buChar char=""/>
              <a:defRPr/>
            </a:pPr>
            <a:r>
              <a:rPr lang="en-US" altLang="ko-KR" sz="14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PURCHASING</a:t>
            </a:r>
            <a:r>
              <a:rPr lang="en-US" altLang="ko-KR" sz="1400" b="1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COST TOTAL REPORT IN </a:t>
            </a:r>
            <a:r>
              <a:rPr lang="en-US" altLang="ko-KR" sz="14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JAN</a:t>
            </a:r>
          </a:p>
        </p:txBody>
      </p:sp>
      <p:sp>
        <p:nvSpPr>
          <p:cNvPr id="6" name="Rectangle 1"/>
          <p:cNvSpPr/>
          <p:nvPr/>
        </p:nvSpPr>
        <p:spPr>
          <a:xfrm>
            <a:off x="272480" y="277106"/>
            <a:ext cx="32505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20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000" b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REPORT EXPLANATION</a:t>
            </a:r>
            <a:endParaRPr lang="en-US" altLang="ko-KR" sz="2000" b="1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4648" y="3573016"/>
            <a:ext cx="9116857" cy="2952328"/>
          </a:xfrm>
          <a:prstGeom prst="rect">
            <a:avLst/>
          </a:prstGeom>
          <a:solidFill>
            <a:schemeClr val="bg1"/>
          </a:solidFill>
          <a:ln w="1270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t"/>
          <a:lstStyle/>
          <a:p>
            <a:pPr>
              <a:lnSpc>
                <a:spcPct val="150000"/>
              </a:lnSpc>
            </a:pPr>
            <a:r>
              <a:rPr lang="en-US" sz="13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 for increase/ decrease purchasing cost in </a:t>
            </a:r>
            <a:r>
              <a:rPr lang="en-US" sz="13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</a:t>
            </a:r>
            <a:endParaRPr lang="en-US" sz="13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total purchasing cost in January increased by 21% compared to </a:t>
            </a:r>
            <a:r>
              <a:rPr lang="en-US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Deccember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due to the following reasons:</a:t>
            </a:r>
            <a:b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cost of purchasing aluminum increased by 13% compared to December due to increased purchases of </a:t>
            </a:r>
            <a:r>
              <a:rPr lang="en-US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ADC12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S36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aluminum.</a:t>
            </a:r>
            <a:b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Fixed asset investment costs were nearly four times higher than in December (with renovation costs for the living room area accounting for 37% of the total).</a:t>
            </a:r>
            <a:b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The cost of purchasing </a:t>
            </a:r>
            <a:r>
              <a:rPr lang="en-US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CNC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tools also increased by over 36% due to the purchase of tools for project A and production tools for model </a:t>
            </a:r>
            <a:r>
              <a:rPr lang="en-US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A376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682722"/>
              </p:ext>
            </p:extLst>
          </p:nvPr>
        </p:nvGraphicFramePr>
        <p:xfrm>
          <a:off x="444649" y="1399426"/>
          <a:ext cx="9116856" cy="1521487"/>
        </p:xfrm>
        <a:graphic>
          <a:graphicData uri="http://schemas.openxmlformats.org/drawingml/2006/table">
            <a:tbl>
              <a:tblPr/>
              <a:tblGrid>
                <a:gridCol w="547912">
                  <a:extLst>
                    <a:ext uri="{9D8B030D-6E8A-4147-A177-3AD203B41FA5}">
                      <a16:colId xmlns:a16="http://schemas.microsoft.com/office/drawing/2014/main" val="936609023"/>
                    </a:ext>
                  </a:extLst>
                </a:gridCol>
                <a:gridCol w="1417942">
                  <a:extLst>
                    <a:ext uri="{9D8B030D-6E8A-4147-A177-3AD203B41FA5}">
                      <a16:colId xmlns:a16="http://schemas.microsoft.com/office/drawing/2014/main" val="176953194"/>
                    </a:ext>
                  </a:extLst>
                </a:gridCol>
                <a:gridCol w="1760868">
                  <a:extLst>
                    <a:ext uri="{9D8B030D-6E8A-4147-A177-3AD203B41FA5}">
                      <a16:colId xmlns:a16="http://schemas.microsoft.com/office/drawing/2014/main" val="2000303144"/>
                    </a:ext>
                  </a:extLst>
                </a:gridCol>
                <a:gridCol w="1236639">
                  <a:extLst>
                    <a:ext uri="{9D8B030D-6E8A-4147-A177-3AD203B41FA5}">
                      <a16:colId xmlns:a16="http://schemas.microsoft.com/office/drawing/2014/main" val="1576859736"/>
                    </a:ext>
                  </a:extLst>
                </a:gridCol>
                <a:gridCol w="1196314">
                  <a:extLst>
                    <a:ext uri="{9D8B030D-6E8A-4147-A177-3AD203B41FA5}">
                      <a16:colId xmlns:a16="http://schemas.microsoft.com/office/drawing/2014/main" val="3423752695"/>
                    </a:ext>
                  </a:extLst>
                </a:gridCol>
                <a:gridCol w="1303848">
                  <a:extLst>
                    <a:ext uri="{9D8B030D-6E8A-4147-A177-3AD203B41FA5}">
                      <a16:colId xmlns:a16="http://schemas.microsoft.com/office/drawing/2014/main" val="2045762152"/>
                    </a:ext>
                  </a:extLst>
                </a:gridCol>
                <a:gridCol w="1653333">
                  <a:extLst>
                    <a:ext uri="{9D8B030D-6E8A-4147-A177-3AD203B41FA5}">
                      <a16:colId xmlns:a16="http://schemas.microsoft.com/office/drawing/2014/main" val="577140167"/>
                    </a:ext>
                  </a:extLst>
                </a:gridCol>
              </a:tblGrid>
              <a:tr h="2416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[1USD/26,00vnd]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469833"/>
                  </a:ext>
                </a:extLst>
              </a:tr>
              <a:tr h="5861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Dept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2025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Average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Jan-26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832533"/>
                  </a:ext>
                </a:extLst>
              </a:tr>
              <a:tr h="693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PURCHASING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Purchase cost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1,818,730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1,646,484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1,989,086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  1,989,086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590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8827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2480" y="293679"/>
            <a:ext cx="30134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20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SALARY COST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394434" y="756666"/>
            <a:ext cx="28303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SALARY REPORT BY ITEM </a:t>
            </a:r>
            <a:endParaRPr lang="ko-KR" altLang="en-US" sz="1400" b="1" u="sng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4435" y="1024470"/>
            <a:ext cx="9073008" cy="504056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  <a:buFont typeface="Wingdings" pitchFamily="2" charset="2"/>
              <a:buChar char="ü"/>
            </a:pP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9" name="Rectangle 4"/>
          <p:cNvSpPr/>
          <p:nvPr/>
        </p:nvSpPr>
        <p:spPr>
          <a:xfrm>
            <a:off x="394435" y="4139105"/>
            <a:ext cx="26080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SALARY REPORT BY DEP’T </a:t>
            </a:r>
            <a:endParaRPr lang="ko-KR" altLang="en-US" sz="1400" b="1" u="sng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93251" y="853411"/>
            <a:ext cx="682409" cy="1538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800" b="1" dirty="0">
                <a:solidFill>
                  <a:schemeClr val="tx1"/>
                </a:solidFill>
              </a:rPr>
              <a:t>[USD </a:t>
            </a:r>
            <a:r>
              <a:rPr lang="en-US" sz="800" b="1" dirty="0" smtClean="0">
                <a:solidFill>
                  <a:schemeClr val="tx1"/>
                </a:solidFill>
              </a:rPr>
              <a:t>26,000</a:t>
            </a:r>
            <a:r>
              <a:rPr lang="en-US" sz="800" b="1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18" name="Rectangle 5"/>
          <p:cNvSpPr/>
          <p:nvPr/>
        </p:nvSpPr>
        <p:spPr>
          <a:xfrm>
            <a:off x="8894603" y="4174851"/>
            <a:ext cx="879707" cy="314556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800" b="1" dirty="0">
                <a:solidFill>
                  <a:schemeClr val="tx1"/>
                </a:solidFill>
              </a:rPr>
              <a:t>[USD </a:t>
            </a:r>
            <a:r>
              <a:rPr lang="en-US" sz="800" b="1" dirty="0" smtClean="0">
                <a:solidFill>
                  <a:schemeClr val="tx1"/>
                </a:solidFill>
              </a:rPr>
              <a:t>26,000</a:t>
            </a:r>
            <a:r>
              <a:rPr lang="en-US" sz="800" b="1" dirty="0">
                <a:solidFill>
                  <a:schemeClr val="tx1"/>
                </a:solidFill>
              </a:rPr>
              <a:t>]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998333"/>
              </p:ext>
            </p:extLst>
          </p:nvPr>
        </p:nvGraphicFramePr>
        <p:xfrm>
          <a:off x="271960" y="1111564"/>
          <a:ext cx="9403699" cy="2999696"/>
        </p:xfrm>
        <a:graphic>
          <a:graphicData uri="http://schemas.openxmlformats.org/drawingml/2006/table">
            <a:tbl>
              <a:tblPr/>
              <a:tblGrid>
                <a:gridCol w="374726">
                  <a:extLst>
                    <a:ext uri="{9D8B030D-6E8A-4147-A177-3AD203B41FA5}">
                      <a16:colId xmlns:a16="http://schemas.microsoft.com/office/drawing/2014/main" val="513036683"/>
                    </a:ext>
                  </a:extLst>
                </a:gridCol>
                <a:gridCol w="930355">
                  <a:extLst>
                    <a:ext uri="{9D8B030D-6E8A-4147-A177-3AD203B41FA5}">
                      <a16:colId xmlns:a16="http://schemas.microsoft.com/office/drawing/2014/main" val="3786012809"/>
                    </a:ext>
                  </a:extLst>
                </a:gridCol>
                <a:gridCol w="1719775">
                  <a:extLst>
                    <a:ext uri="{9D8B030D-6E8A-4147-A177-3AD203B41FA5}">
                      <a16:colId xmlns:a16="http://schemas.microsoft.com/office/drawing/2014/main" val="308875309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19794466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287643227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83523522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4121071877"/>
                    </a:ext>
                  </a:extLst>
                </a:gridCol>
                <a:gridCol w="757264">
                  <a:extLst>
                    <a:ext uri="{9D8B030D-6E8A-4147-A177-3AD203B41FA5}">
                      <a16:colId xmlns:a16="http://schemas.microsoft.com/office/drawing/2014/main" val="1738739338"/>
                    </a:ext>
                  </a:extLst>
                </a:gridCol>
                <a:gridCol w="682896">
                  <a:extLst>
                    <a:ext uri="{9D8B030D-6E8A-4147-A177-3AD203B41FA5}">
                      <a16:colId xmlns:a16="http://schemas.microsoft.com/office/drawing/2014/main" val="307358489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755191565"/>
                    </a:ext>
                  </a:extLst>
                </a:gridCol>
                <a:gridCol w="834227">
                  <a:extLst>
                    <a:ext uri="{9D8B030D-6E8A-4147-A177-3AD203B41FA5}">
                      <a16:colId xmlns:a16="http://schemas.microsoft.com/office/drawing/2014/main" val="3549134326"/>
                    </a:ext>
                  </a:extLst>
                </a:gridCol>
              </a:tblGrid>
              <a:tr h="118036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2025Y Avg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294747"/>
                  </a:ext>
                </a:extLst>
              </a:tr>
              <a:tr h="1180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Average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854121"/>
                  </a:ext>
                </a:extLst>
              </a:tr>
              <a:tr h="1180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1,196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611180"/>
                  </a:ext>
                </a:extLst>
              </a:tr>
              <a:tr h="2196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Salary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365477"/>
                  </a:ext>
                </a:extLst>
              </a:tr>
              <a:tr h="2196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Basic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220,537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207,638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215,302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215,302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215,302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202234"/>
                  </a:ext>
                </a:extLst>
              </a:tr>
              <a:tr h="2196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174,804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181,512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206,388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206,388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206,388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46238"/>
                  </a:ext>
                </a:extLst>
              </a:tr>
              <a:tr h="2196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Allowances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skill, senior, studiousness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64,322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61,964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62,589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62,589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62,589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76086"/>
                  </a:ext>
                </a:extLst>
              </a:tr>
              <a:tr h="3261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Other Additions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annual leave, productivity bonus fee for introduce workers, covid test fee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3,961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3,555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3,930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3,930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3,930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170463"/>
                  </a:ext>
                </a:extLst>
              </a:tr>
              <a:tr h="2196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Bonus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Tet holidays, good tasks...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18,870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-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 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    -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622368"/>
                  </a:ext>
                </a:extLst>
              </a:tr>
              <a:tr h="2196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Monthly best employees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 persons/month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-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-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 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    -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483342"/>
                  </a:ext>
                </a:extLst>
              </a:tr>
              <a:tr h="2196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Resigned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salary + allowances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5,699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2,096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-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 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    -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44575"/>
                  </a:ext>
                </a:extLst>
              </a:tr>
              <a:tr h="2196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Outsourcing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2,317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885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885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                  </a:t>
                      </a:r>
                      <a:r>
                        <a:rPr 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885 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328154"/>
                  </a:ext>
                </a:extLst>
              </a:tr>
              <a:tr h="219629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490,511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457,686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489,093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489,093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489,093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104098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90732"/>
              </p:ext>
            </p:extLst>
          </p:nvPr>
        </p:nvGraphicFramePr>
        <p:xfrm>
          <a:off x="271960" y="4510473"/>
          <a:ext cx="9502349" cy="2086881"/>
        </p:xfrm>
        <a:graphic>
          <a:graphicData uri="http://schemas.openxmlformats.org/drawingml/2006/table">
            <a:tbl>
              <a:tblPr/>
              <a:tblGrid>
                <a:gridCol w="764671">
                  <a:extLst>
                    <a:ext uri="{9D8B030D-6E8A-4147-A177-3AD203B41FA5}">
                      <a16:colId xmlns:a16="http://schemas.microsoft.com/office/drawing/2014/main" val="3470931073"/>
                    </a:ext>
                  </a:extLst>
                </a:gridCol>
                <a:gridCol w="1067902">
                  <a:extLst>
                    <a:ext uri="{9D8B030D-6E8A-4147-A177-3AD203B41FA5}">
                      <a16:colId xmlns:a16="http://schemas.microsoft.com/office/drawing/2014/main" val="3351683966"/>
                    </a:ext>
                  </a:extLst>
                </a:gridCol>
                <a:gridCol w="761374">
                  <a:extLst>
                    <a:ext uri="{9D8B030D-6E8A-4147-A177-3AD203B41FA5}">
                      <a16:colId xmlns:a16="http://schemas.microsoft.com/office/drawing/2014/main" val="1581419655"/>
                    </a:ext>
                  </a:extLst>
                </a:gridCol>
                <a:gridCol w="711934">
                  <a:extLst>
                    <a:ext uri="{9D8B030D-6E8A-4147-A177-3AD203B41FA5}">
                      <a16:colId xmlns:a16="http://schemas.microsoft.com/office/drawing/2014/main" val="2293521457"/>
                    </a:ext>
                  </a:extLst>
                </a:gridCol>
                <a:gridCol w="580095">
                  <a:extLst>
                    <a:ext uri="{9D8B030D-6E8A-4147-A177-3AD203B41FA5}">
                      <a16:colId xmlns:a16="http://schemas.microsoft.com/office/drawing/2014/main" val="4170425332"/>
                    </a:ext>
                  </a:extLst>
                </a:gridCol>
                <a:gridCol w="580095">
                  <a:extLst>
                    <a:ext uri="{9D8B030D-6E8A-4147-A177-3AD203B41FA5}">
                      <a16:colId xmlns:a16="http://schemas.microsoft.com/office/drawing/2014/main" val="2687149763"/>
                    </a:ext>
                  </a:extLst>
                </a:gridCol>
                <a:gridCol w="580095">
                  <a:extLst>
                    <a:ext uri="{9D8B030D-6E8A-4147-A177-3AD203B41FA5}">
                      <a16:colId xmlns:a16="http://schemas.microsoft.com/office/drawing/2014/main" val="2865698874"/>
                    </a:ext>
                  </a:extLst>
                </a:gridCol>
                <a:gridCol w="573503">
                  <a:extLst>
                    <a:ext uri="{9D8B030D-6E8A-4147-A177-3AD203B41FA5}">
                      <a16:colId xmlns:a16="http://schemas.microsoft.com/office/drawing/2014/main" val="700921809"/>
                    </a:ext>
                  </a:extLst>
                </a:gridCol>
                <a:gridCol w="817406">
                  <a:extLst>
                    <a:ext uri="{9D8B030D-6E8A-4147-A177-3AD203B41FA5}">
                      <a16:colId xmlns:a16="http://schemas.microsoft.com/office/drawing/2014/main" val="3365191794"/>
                    </a:ext>
                  </a:extLst>
                </a:gridCol>
                <a:gridCol w="672383">
                  <a:extLst>
                    <a:ext uri="{9D8B030D-6E8A-4147-A177-3AD203B41FA5}">
                      <a16:colId xmlns:a16="http://schemas.microsoft.com/office/drawing/2014/main" val="630768638"/>
                    </a:ext>
                  </a:extLst>
                </a:gridCol>
                <a:gridCol w="632831">
                  <a:extLst>
                    <a:ext uri="{9D8B030D-6E8A-4147-A177-3AD203B41FA5}">
                      <a16:colId xmlns:a16="http://schemas.microsoft.com/office/drawing/2014/main" val="3794542254"/>
                    </a:ext>
                  </a:extLst>
                </a:gridCol>
                <a:gridCol w="810814">
                  <a:extLst>
                    <a:ext uri="{9D8B030D-6E8A-4147-A177-3AD203B41FA5}">
                      <a16:colId xmlns:a16="http://schemas.microsoft.com/office/drawing/2014/main" val="4064029902"/>
                    </a:ext>
                  </a:extLst>
                </a:gridCol>
                <a:gridCol w="949246">
                  <a:extLst>
                    <a:ext uri="{9D8B030D-6E8A-4147-A177-3AD203B41FA5}">
                      <a16:colId xmlns:a16="http://schemas.microsoft.com/office/drawing/2014/main" val="618930689"/>
                    </a:ext>
                  </a:extLst>
                </a:gridCol>
              </a:tblGrid>
              <a:tr h="27065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2025 Avg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9781"/>
                  </a:ext>
                </a:extLst>
              </a:tr>
              <a:tr h="2136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Average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603005"/>
                  </a:ext>
                </a:extLst>
              </a:tr>
              <a:tr h="2848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Person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453468"/>
                  </a:ext>
                </a:extLst>
              </a:tr>
              <a:tr h="2635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Management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105,884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95,909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110,046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110,046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110,046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198996"/>
                  </a:ext>
                </a:extLst>
              </a:tr>
              <a:tr h="2635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Technician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83,875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78,031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89,989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89,989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89,989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562931"/>
                  </a:ext>
                </a:extLst>
              </a:tr>
              <a:tr h="2635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Operator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673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298,434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282,826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288,173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288,173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288,173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88597"/>
                  </a:ext>
                </a:extLst>
              </a:tr>
              <a:tr h="2635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Outsourcing OP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2,317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885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885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885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528048"/>
                  </a:ext>
                </a:extLst>
              </a:tr>
              <a:tr h="26353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490,511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457,687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$ 489,093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489,093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489,093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562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3107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2480" y="295357"/>
            <a:ext cx="24212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20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OT </a:t>
            </a:r>
            <a:r>
              <a:rPr lang="en-US" altLang="ko-KR" sz="2000" b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– OVERTIME  </a:t>
            </a:r>
            <a:endParaRPr lang="en-US" altLang="ko-KR" sz="2000" b="1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6496" y="822677"/>
            <a:ext cx="22772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OT REPORT BY TITLE</a:t>
            </a:r>
            <a:endParaRPr lang="en-US" sz="1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8862964" y="952001"/>
            <a:ext cx="72006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ctr"/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[Time/hour]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231" y="4581128"/>
            <a:ext cx="203748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OT REPORT BY </a:t>
            </a:r>
            <a:r>
              <a:rPr lang="en-US" altLang="ko-KR" sz="1400" b="1" u="sng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DEPT</a:t>
            </a:r>
            <a:endParaRPr lang="en-US" sz="1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302437"/>
              </p:ext>
            </p:extLst>
          </p:nvPr>
        </p:nvGraphicFramePr>
        <p:xfrm>
          <a:off x="323231" y="1130455"/>
          <a:ext cx="9259791" cy="3467504"/>
        </p:xfrm>
        <a:graphic>
          <a:graphicData uri="http://schemas.openxmlformats.org/drawingml/2006/table">
            <a:tbl>
              <a:tblPr/>
              <a:tblGrid>
                <a:gridCol w="318880">
                  <a:extLst>
                    <a:ext uri="{9D8B030D-6E8A-4147-A177-3AD203B41FA5}">
                      <a16:colId xmlns:a16="http://schemas.microsoft.com/office/drawing/2014/main" val="1370655187"/>
                    </a:ext>
                  </a:extLst>
                </a:gridCol>
                <a:gridCol w="998521">
                  <a:extLst>
                    <a:ext uri="{9D8B030D-6E8A-4147-A177-3AD203B41FA5}">
                      <a16:colId xmlns:a16="http://schemas.microsoft.com/office/drawing/2014/main" val="1151880700"/>
                    </a:ext>
                  </a:extLst>
                </a:gridCol>
                <a:gridCol w="1495700">
                  <a:extLst>
                    <a:ext uri="{9D8B030D-6E8A-4147-A177-3AD203B41FA5}">
                      <a16:colId xmlns:a16="http://schemas.microsoft.com/office/drawing/2014/main" val="79981790"/>
                    </a:ext>
                  </a:extLst>
                </a:gridCol>
                <a:gridCol w="414933">
                  <a:extLst>
                    <a:ext uri="{9D8B030D-6E8A-4147-A177-3AD203B41FA5}">
                      <a16:colId xmlns:a16="http://schemas.microsoft.com/office/drawing/2014/main" val="3683685259"/>
                    </a:ext>
                  </a:extLst>
                </a:gridCol>
                <a:gridCol w="555587">
                  <a:extLst>
                    <a:ext uri="{9D8B030D-6E8A-4147-A177-3AD203B41FA5}">
                      <a16:colId xmlns:a16="http://schemas.microsoft.com/office/drawing/2014/main" val="731573748"/>
                    </a:ext>
                  </a:extLst>
                </a:gridCol>
                <a:gridCol w="527456">
                  <a:extLst>
                    <a:ext uri="{9D8B030D-6E8A-4147-A177-3AD203B41FA5}">
                      <a16:colId xmlns:a16="http://schemas.microsoft.com/office/drawing/2014/main" val="1627177049"/>
                    </a:ext>
                  </a:extLst>
                </a:gridCol>
                <a:gridCol w="513391">
                  <a:extLst>
                    <a:ext uri="{9D8B030D-6E8A-4147-A177-3AD203B41FA5}">
                      <a16:colId xmlns:a16="http://schemas.microsoft.com/office/drawing/2014/main" val="96257126"/>
                    </a:ext>
                  </a:extLst>
                </a:gridCol>
                <a:gridCol w="506359">
                  <a:extLst>
                    <a:ext uri="{9D8B030D-6E8A-4147-A177-3AD203B41FA5}">
                      <a16:colId xmlns:a16="http://schemas.microsoft.com/office/drawing/2014/main" val="2377457742"/>
                    </a:ext>
                  </a:extLst>
                </a:gridCol>
                <a:gridCol w="414933">
                  <a:extLst>
                    <a:ext uri="{9D8B030D-6E8A-4147-A177-3AD203B41FA5}">
                      <a16:colId xmlns:a16="http://schemas.microsoft.com/office/drawing/2014/main" val="1288708352"/>
                    </a:ext>
                  </a:extLst>
                </a:gridCol>
                <a:gridCol w="656390">
                  <a:extLst>
                    <a:ext uri="{9D8B030D-6E8A-4147-A177-3AD203B41FA5}">
                      <a16:colId xmlns:a16="http://schemas.microsoft.com/office/drawing/2014/main" val="1694699423"/>
                    </a:ext>
                  </a:extLst>
                </a:gridCol>
                <a:gridCol w="654046">
                  <a:extLst>
                    <a:ext uri="{9D8B030D-6E8A-4147-A177-3AD203B41FA5}">
                      <a16:colId xmlns:a16="http://schemas.microsoft.com/office/drawing/2014/main" val="464876071"/>
                    </a:ext>
                  </a:extLst>
                </a:gridCol>
                <a:gridCol w="393834">
                  <a:extLst>
                    <a:ext uri="{9D8B030D-6E8A-4147-A177-3AD203B41FA5}">
                      <a16:colId xmlns:a16="http://schemas.microsoft.com/office/drawing/2014/main" val="1564282941"/>
                    </a:ext>
                  </a:extLst>
                </a:gridCol>
                <a:gridCol w="393834">
                  <a:extLst>
                    <a:ext uri="{9D8B030D-6E8A-4147-A177-3AD203B41FA5}">
                      <a16:colId xmlns:a16="http://schemas.microsoft.com/office/drawing/2014/main" val="2293620015"/>
                    </a:ext>
                  </a:extLst>
                </a:gridCol>
                <a:gridCol w="393834">
                  <a:extLst>
                    <a:ext uri="{9D8B030D-6E8A-4147-A177-3AD203B41FA5}">
                      <a16:colId xmlns:a16="http://schemas.microsoft.com/office/drawing/2014/main" val="2584866824"/>
                    </a:ext>
                  </a:extLst>
                </a:gridCol>
                <a:gridCol w="393834">
                  <a:extLst>
                    <a:ext uri="{9D8B030D-6E8A-4147-A177-3AD203B41FA5}">
                      <a16:colId xmlns:a16="http://schemas.microsoft.com/office/drawing/2014/main" val="2377636398"/>
                    </a:ext>
                  </a:extLst>
                </a:gridCol>
                <a:gridCol w="628259">
                  <a:extLst>
                    <a:ext uri="{9D8B030D-6E8A-4147-A177-3AD203B41FA5}">
                      <a16:colId xmlns:a16="http://schemas.microsoft.com/office/drawing/2014/main" val="2710862495"/>
                    </a:ext>
                  </a:extLst>
                </a:gridCol>
              </a:tblGrid>
              <a:tr h="145409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Dept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gridSpan="6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Dec-25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MONTHLY OVERTIME WORKING 2026 (OT - hrs)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 OT </a:t>
                      </a:r>
                      <a:b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in 2026</a:t>
                      </a:r>
                    </a:p>
                  </a:txBody>
                  <a:tcPr marL="7525" marR="7525" marT="7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512821"/>
                  </a:ext>
                </a:extLst>
              </a:tr>
              <a:tr h="1410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818554"/>
                  </a:ext>
                </a:extLst>
              </a:tr>
              <a:tr h="27484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 </a:t>
                      </a:r>
                      <a:b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Min </a:t>
                      </a:r>
                      <a:b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 </a:t>
                      </a:r>
                      <a:b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 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Min 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 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318397"/>
                  </a:ext>
                </a:extLst>
              </a:tr>
              <a:tr h="220350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Management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ACCOUNT/PUR/EXIM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11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79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21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-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7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12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116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32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10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116 </a:t>
                      </a:r>
                    </a:p>
                  </a:txBody>
                  <a:tcPr marL="7525" marR="7525" marT="7525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315300"/>
                  </a:ext>
                </a:extLst>
              </a:tr>
              <a:tr h="2203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HR/ GA/ EHS/IT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21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875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104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-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42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21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904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108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43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904 </a:t>
                      </a:r>
                    </a:p>
                  </a:txBody>
                  <a:tcPr marL="7525" marR="7525" marT="7525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186442"/>
                  </a:ext>
                </a:extLst>
              </a:tr>
              <a:tr h="2203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PROD PLAN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6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13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7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-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2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6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38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12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6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38 </a:t>
                      </a:r>
                    </a:p>
                  </a:txBody>
                  <a:tcPr marL="7525" marR="7525" marT="7525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809101"/>
                  </a:ext>
                </a:extLst>
              </a:tr>
              <a:tr h="2203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R&amp;D/PT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20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661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122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1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33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20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785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107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39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785 </a:t>
                      </a:r>
                    </a:p>
                  </a:txBody>
                  <a:tcPr marL="7525" marR="7525" marT="7525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924880"/>
                  </a:ext>
                </a:extLst>
              </a:tr>
              <a:tr h="2203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SALES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4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63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26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8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16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50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21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10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50 </a:t>
                      </a:r>
                    </a:p>
                  </a:txBody>
                  <a:tcPr marL="7525" marR="7525" marT="7525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468453"/>
                  </a:ext>
                </a:extLst>
              </a:tr>
              <a:tr h="2203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UTILITY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36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2,820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103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15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78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37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3,241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132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10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88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3,241 </a:t>
                      </a:r>
                    </a:p>
                  </a:txBody>
                  <a:tcPr marL="7525" marR="7525" marT="7525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189646"/>
                  </a:ext>
                </a:extLst>
              </a:tr>
              <a:tr h="22035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Production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DIE-CASTING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87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8,807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123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2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101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14%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88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8,963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125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102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8,963 </a:t>
                      </a:r>
                    </a:p>
                  </a:txBody>
                  <a:tcPr marL="7525" marR="7525" marT="7525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11566"/>
                  </a:ext>
                </a:extLst>
              </a:tr>
              <a:tr h="2203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PRESS/TRIM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68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7,080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123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-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104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14%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70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7,169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125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102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7,169 </a:t>
                      </a:r>
                    </a:p>
                  </a:txBody>
                  <a:tcPr marL="7525" marR="7525" marT="7525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804219"/>
                  </a:ext>
                </a:extLst>
              </a:tr>
              <a:tr h="2203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CNC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245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21,505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115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-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88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12%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245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25,013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123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102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25,013 </a:t>
                      </a:r>
                    </a:p>
                  </a:txBody>
                  <a:tcPr marL="7525" marR="7525" marT="7525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202471"/>
                  </a:ext>
                </a:extLst>
              </a:tr>
              <a:tr h="2451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W.H/ASS/INJ/POL/CHR/HOT/ALR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228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22,596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132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-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99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14%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227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23,623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142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104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23,623 </a:t>
                      </a:r>
                    </a:p>
                  </a:txBody>
                  <a:tcPr marL="7525" marR="7525" marT="7525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882297"/>
                  </a:ext>
                </a:extLst>
              </a:tr>
              <a:tr h="2203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MOULDING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27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2,045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111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21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76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10%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27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2,312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122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21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86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2,312 </a:t>
                      </a:r>
                    </a:p>
                  </a:txBody>
                  <a:tcPr marL="7525" marR="7525" marT="7525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846071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QA-QC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IOPQC,C/S, RELIAB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107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8,824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115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-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82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109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9,788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120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90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9,788 </a:t>
                      </a:r>
                    </a:p>
                  </a:txBody>
                  <a:tcPr marL="7525" marR="7525" marT="7525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697285"/>
                  </a:ext>
                </a:extLst>
              </a:tr>
              <a:tr h="22035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860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75,365.5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1,101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46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728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867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81,998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1,168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35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781 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81,998 </a:t>
                      </a:r>
                    </a:p>
                  </a:txBody>
                  <a:tcPr marL="7525" marR="7525" marT="7525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42182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452178"/>
              </p:ext>
            </p:extLst>
          </p:nvPr>
        </p:nvGraphicFramePr>
        <p:xfrm>
          <a:off x="297102" y="4875864"/>
          <a:ext cx="9285925" cy="1858915"/>
        </p:xfrm>
        <a:graphic>
          <a:graphicData uri="http://schemas.openxmlformats.org/drawingml/2006/table">
            <a:tbl>
              <a:tblPr/>
              <a:tblGrid>
                <a:gridCol w="207855">
                  <a:extLst>
                    <a:ext uri="{9D8B030D-6E8A-4147-A177-3AD203B41FA5}">
                      <a16:colId xmlns:a16="http://schemas.microsoft.com/office/drawing/2014/main" val="1802787187"/>
                    </a:ext>
                  </a:extLst>
                </a:gridCol>
                <a:gridCol w="1711739">
                  <a:extLst>
                    <a:ext uri="{9D8B030D-6E8A-4147-A177-3AD203B41FA5}">
                      <a16:colId xmlns:a16="http://schemas.microsoft.com/office/drawing/2014/main" val="1927410869"/>
                    </a:ext>
                  </a:extLst>
                </a:gridCol>
                <a:gridCol w="681192">
                  <a:extLst>
                    <a:ext uri="{9D8B030D-6E8A-4147-A177-3AD203B41FA5}">
                      <a16:colId xmlns:a16="http://schemas.microsoft.com/office/drawing/2014/main" val="2335823295"/>
                    </a:ext>
                  </a:extLst>
                </a:gridCol>
                <a:gridCol w="615770">
                  <a:extLst>
                    <a:ext uri="{9D8B030D-6E8A-4147-A177-3AD203B41FA5}">
                      <a16:colId xmlns:a16="http://schemas.microsoft.com/office/drawing/2014/main" val="4056946392"/>
                    </a:ext>
                  </a:extLst>
                </a:gridCol>
                <a:gridCol w="584592">
                  <a:extLst>
                    <a:ext uri="{9D8B030D-6E8A-4147-A177-3AD203B41FA5}">
                      <a16:colId xmlns:a16="http://schemas.microsoft.com/office/drawing/2014/main" val="982661906"/>
                    </a:ext>
                  </a:extLst>
                </a:gridCol>
                <a:gridCol w="569003">
                  <a:extLst>
                    <a:ext uri="{9D8B030D-6E8A-4147-A177-3AD203B41FA5}">
                      <a16:colId xmlns:a16="http://schemas.microsoft.com/office/drawing/2014/main" val="3881235716"/>
                    </a:ext>
                  </a:extLst>
                </a:gridCol>
                <a:gridCol w="561209">
                  <a:extLst>
                    <a:ext uri="{9D8B030D-6E8A-4147-A177-3AD203B41FA5}">
                      <a16:colId xmlns:a16="http://schemas.microsoft.com/office/drawing/2014/main" val="720463130"/>
                    </a:ext>
                  </a:extLst>
                </a:gridCol>
                <a:gridCol w="459880">
                  <a:extLst>
                    <a:ext uri="{9D8B030D-6E8A-4147-A177-3AD203B41FA5}">
                      <a16:colId xmlns:a16="http://schemas.microsoft.com/office/drawing/2014/main" val="4273205865"/>
                    </a:ext>
                  </a:extLst>
                </a:gridCol>
                <a:gridCol w="632810">
                  <a:extLst>
                    <a:ext uri="{9D8B030D-6E8A-4147-A177-3AD203B41FA5}">
                      <a16:colId xmlns:a16="http://schemas.microsoft.com/office/drawing/2014/main" val="4277480938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743274621"/>
                    </a:ext>
                  </a:extLst>
                </a:gridCol>
                <a:gridCol w="535993">
                  <a:extLst>
                    <a:ext uri="{9D8B030D-6E8A-4147-A177-3AD203B41FA5}">
                      <a16:colId xmlns:a16="http://schemas.microsoft.com/office/drawing/2014/main" val="521222117"/>
                    </a:ext>
                  </a:extLst>
                </a:gridCol>
                <a:gridCol w="436496">
                  <a:extLst>
                    <a:ext uri="{9D8B030D-6E8A-4147-A177-3AD203B41FA5}">
                      <a16:colId xmlns:a16="http://schemas.microsoft.com/office/drawing/2014/main" val="167247875"/>
                    </a:ext>
                  </a:extLst>
                </a:gridCol>
                <a:gridCol w="436496">
                  <a:extLst>
                    <a:ext uri="{9D8B030D-6E8A-4147-A177-3AD203B41FA5}">
                      <a16:colId xmlns:a16="http://schemas.microsoft.com/office/drawing/2014/main" val="3138578369"/>
                    </a:ext>
                  </a:extLst>
                </a:gridCol>
                <a:gridCol w="436496">
                  <a:extLst>
                    <a:ext uri="{9D8B030D-6E8A-4147-A177-3AD203B41FA5}">
                      <a16:colId xmlns:a16="http://schemas.microsoft.com/office/drawing/2014/main" val="57426532"/>
                    </a:ext>
                  </a:extLst>
                </a:gridCol>
                <a:gridCol w="696314">
                  <a:extLst>
                    <a:ext uri="{9D8B030D-6E8A-4147-A177-3AD203B41FA5}">
                      <a16:colId xmlns:a16="http://schemas.microsoft.com/office/drawing/2014/main" val="3457570597"/>
                    </a:ext>
                  </a:extLst>
                </a:gridCol>
              </a:tblGrid>
              <a:tr h="19977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gridSpan="6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Dec-25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 OT</a:t>
                      </a:r>
                      <a:b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in 2026</a:t>
                      </a:r>
                    </a:p>
                  </a:txBody>
                  <a:tcPr marL="7721" marR="7721" marT="77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59094"/>
                  </a:ext>
                </a:extLst>
              </a:tr>
              <a:tr h="1923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707403"/>
                  </a:ext>
                </a:extLst>
              </a:tr>
              <a:tr h="2994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Person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TOT 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Max 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Min 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Avg 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 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Min 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 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555499"/>
                  </a:ext>
                </a:extLst>
              </a:tr>
              <a:tr h="2959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Management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127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5,857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117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-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46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20%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133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6,322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125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48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19%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6,322 </a:t>
                      </a:r>
                    </a:p>
                  </a:txBody>
                  <a:tcPr marL="7721" marR="7721" marT="7721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121136"/>
                  </a:ext>
                </a:extLst>
              </a:tr>
              <a:tr h="2959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Technician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114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10,257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122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1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90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39%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122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12,520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127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103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41%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12,520 </a:t>
                      </a:r>
                    </a:p>
                  </a:txBody>
                  <a:tcPr marL="7721" marR="7721" marT="7721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030002"/>
                  </a:ext>
                </a:extLst>
              </a:tr>
              <a:tr h="2959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Operator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619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59,252.0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132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-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96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41%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612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63,156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142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103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41%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63,156 </a:t>
                      </a:r>
                    </a:p>
                  </a:txBody>
                  <a:tcPr marL="7721" marR="7721" marT="7721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033008"/>
                  </a:ext>
                </a:extLst>
              </a:tr>
              <a:tr h="26636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860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75,366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370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1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232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867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81,998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393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253 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7721" marR="7721" marT="7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81,998 </a:t>
                      </a:r>
                    </a:p>
                  </a:txBody>
                  <a:tcPr marL="7721" marR="7721" marT="7721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547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3109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0472" y="332656"/>
            <a:ext cx="2160240" cy="3600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OT- OVERTIME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8504" y="836712"/>
            <a:ext cx="2592288" cy="28803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OT &amp; AMOUNT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6595EE-A60D-3B73-7594-E26FC7E993E8}"/>
              </a:ext>
            </a:extLst>
          </p:cNvPr>
          <p:cNvSpPr txBox="1"/>
          <p:nvPr/>
        </p:nvSpPr>
        <p:spPr>
          <a:xfrm>
            <a:off x="8551026" y="980728"/>
            <a:ext cx="8664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[USD </a:t>
            </a:r>
            <a:r>
              <a:rPr lang="en-US" altLang="ko-KR" sz="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26,000</a:t>
            </a:r>
            <a:r>
              <a:rPr lang="en-US" altLang="ko-KR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666618"/>
              </p:ext>
            </p:extLst>
          </p:nvPr>
        </p:nvGraphicFramePr>
        <p:xfrm>
          <a:off x="488504" y="1412776"/>
          <a:ext cx="8915399" cy="4824536"/>
        </p:xfrm>
        <a:graphic>
          <a:graphicData uri="http://schemas.openxmlformats.org/drawingml/2006/table">
            <a:tbl>
              <a:tblPr/>
              <a:tblGrid>
                <a:gridCol w="881790">
                  <a:extLst>
                    <a:ext uri="{9D8B030D-6E8A-4147-A177-3AD203B41FA5}">
                      <a16:colId xmlns:a16="http://schemas.microsoft.com/office/drawing/2014/main" val="4213806685"/>
                    </a:ext>
                  </a:extLst>
                </a:gridCol>
                <a:gridCol w="604110">
                  <a:extLst>
                    <a:ext uri="{9D8B030D-6E8A-4147-A177-3AD203B41FA5}">
                      <a16:colId xmlns:a16="http://schemas.microsoft.com/office/drawing/2014/main" val="1113376203"/>
                    </a:ext>
                  </a:extLst>
                </a:gridCol>
                <a:gridCol w="604110">
                  <a:extLst>
                    <a:ext uri="{9D8B030D-6E8A-4147-A177-3AD203B41FA5}">
                      <a16:colId xmlns:a16="http://schemas.microsoft.com/office/drawing/2014/main" val="2726094586"/>
                    </a:ext>
                  </a:extLst>
                </a:gridCol>
                <a:gridCol w="604110">
                  <a:extLst>
                    <a:ext uri="{9D8B030D-6E8A-4147-A177-3AD203B41FA5}">
                      <a16:colId xmlns:a16="http://schemas.microsoft.com/office/drawing/2014/main" val="1996247949"/>
                    </a:ext>
                  </a:extLst>
                </a:gridCol>
                <a:gridCol w="604110">
                  <a:extLst>
                    <a:ext uri="{9D8B030D-6E8A-4147-A177-3AD203B41FA5}">
                      <a16:colId xmlns:a16="http://schemas.microsoft.com/office/drawing/2014/main" val="226100263"/>
                    </a:ext>
                  </a:extLst>
                </a:gridCol>
                <a:gridCol w="576555">
                  <a:extLst>
                    <a:ext uri="{9D8B030D-6E8A-4147-A177-3AD203B41FA5}">
                      <a16:colId xmlns:a16="http://schemas.microsoft.com/office/drawing/2014/main" val="295456159"/>
                    </a:ext>
                  </a:extLst>
                </a:gridCol>
                <a:gridCol w="680419">
                  <a:extLst>
                    <a:ext uri="{9D8B030D-6E8A-4147-A177-3AD203B41FA5}">
                      <a16:colId xmlns:a16="http://schemas.microsoft.com/office/drawing/2014/main" val="1758658885"/>
                    </a:ext>
                  </a:extLst>
                </a:gridCol>
                <a:gridCol w="661342">
                  <a:extLst>
                    <a:ext uri="{9D8B030D-6E8A-4147-A177-3AD203B41FA5}">
                      <a16:colId xmlns:a16="http://schemas.microsoft.com/office/drawing/2014/main" val="2036023499"/>
                    </a:ext>
                  </a:extLst>
                </a:gridCol>
                <a:gridCol w="610470">
                  <a:extLst>
                    <a:ext uri="{9D8B030D-6E8A-4147-A177-3AD203B41FA5}">
                      <a16:colId xmlns:a16="http://schemas.microsoft.com/office/drawing/2014/main" val="4283520800"/>
                    </a:ext>
                  </a:extLst>
                </a:gridCol>
                <a:gridCol w="568076">
                  <a:extLst>
                    <a:ext uri="{9D8B030D-6E8A-4147-A177-3AD203B41FA5}">
                      <a16:colId xmlns:a16="http://schemas.microsoft.com/office/drawing/2014/main" val="4212377549"/>
                    </a:ext>
                  </a:extLst>
                </a:gridCol>
                <a:gridCol w="542640">
                  <a:extLst>
                    <a:ext uri="{9D8B030D-6E8A-4147-A177-3AD203B41FA5}">
                      <a16:colId xmlns:a16="http://schemas.microsoft.com/office/drawing/2014/main" val="1506801317"/>
                    </a:ext>
                  </a:extLst>
                </a:gridCol>
                <a:gridCol w="627427">
                  <a:extLst>
                    <a:ext uri="{9D8B030D-6E8A-4147-A177-3AD203B41FA5}">
                      <a16:colId xmlns:a16="http://schemas.microsoft.com/office/drawing/2014/main" val="3142143163"/>
                    </a:ext>
                  </a:extLst>
                </a:gridCol>
                <a:gridCol w="604110">
                  <a:extLst>
                    <a:ext uri="{9D8B030D-6E8A-4147-A177-3AD203B41FA5}">
                      <a16:colId xmlns:a16="http://schemas.microsoft.com/office/drawing/2014/main" val="73275007"/>
                    </a:ext>
                  </a:extLst>
                </a:gridCol>
                <a:gridCol w="746130">
                  <a:extLst>
                    <a:ext uri="{9D8B030D-6E8A-4147-A177-3AD203B41FA5}">
                      <a16:colId xmlns:a16="http://schemas.microsoft.com/office/drawing/2014/main" val="92612523"/>
                    </a:ext>
                  </a:extLst>
                </a:gridCol>
              </a:tblGrid>
              <a:tr h="6568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Month</a:t>
                      </a:r>
                    </a:p>
                  </a:txBody>
                  <a:tcPr marL="6368" marR="6368" marT="636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Jan</a:t>
                      </a:r>
                    </a:p>
                  </a:txBody>
                  <a:tcPr marL="6368" marR="6368" marT="6368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Feb</a:t>
                      </a:r>
                    </a:p>
                  </a:txBody>
                  <a:tcPr marL="6368" marR="6368" marT="6368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Mar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Apr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May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Jun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Jul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Aug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Sep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Oct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Nov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Dec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732410"/>
                  </a:ext>
                </a:extLst>
              </a:tr>
              <a:tr h="6568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</a:t>
                      </a:r>
                    </a:p>
                  </a:txBody>
                  <a:tcPr marL="6368" marR="6368" marT="636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867 </a:t>
                      </a:r>
                    </a:p>
                  </a:txBody>
                  <a:tcPr marL="6368" marR="6368" marT="6368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867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5860286"/>
                  </a:ext>
                </a:extLst>
              </a:tr>
              <a:tr h="6568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Standard OT (40hrs)</a:t>
                      </a:r>
                    </a:p>
                  </a:txBody>
                  <a:tcPr marL="6368" marR="6368" marT="636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34,680 </a:t>
                      </a:r>
                    </a:p>
                  </a:txBody>
                  <a:tcPr marL="6368" marR="6368" marT="6368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34,680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0451857"/>
                  </a:ext>
                </a:extLst>
              </a:tr>
              <a:tr h="6568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Actual OT (hrs)</a:t>
                      </a:r>
                    </a:p>
                  </a:txBody>
                  <a:tcPr marL="6368" marR="6368" marT="636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81,998.0 </a:t>
                      </a:r>
                    </a:p>
                  </a:txBody>
                  <a:tcPr marL="6368" marR="6368" marT="6368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81,998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7991420"/>
                  </a:ext>
                </a:extLst>
              </a:tr>
              <a:tr h="5493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Balance OT(hrs)</a:t>
                      </a:r>
                    </a:p>
                  </a:txBody>
                  <a:tcPr marL="6368" marR="6368" marT="636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47,318 </a:t>
                      </a:r>
                    </a:p>
                  </a:txBody>
                  <a:tcPr marL="6368" marR="6368" marT="6368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47,318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427229"/>
                  </a:ext>
                </a:extLst>
              </a:tr>
              <a:tr h="5493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Standard </a:t>
                      </a:r>
                      <a:b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Amt</a:t>
                      </a:r>
                    </a:p>
                  </a:txBody>
                  <a:tcPr marL="6368" marR="6368" marT="636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81,493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68" marR="6368" marT="6368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81,493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5205755"/>
                  </a:ext>
                </a:extLst>
              </a:tr>
              <a:tr h="5493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Actual</a:t>
                      </a:r>
                      <a:b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OT Amt</a:t>
                      </a:r>
                    </a:p>
                  </a:txBody>
                  <a:tcPr marL="6368" marR="6368" marT="636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206,388 </a:t>
                      </a:r>
                    </a:p>
                  </a:txBody>
                  <a:tcPr marL="6368" marR="6368" marT="6368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206,388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391636"/>
                  </a:ext>
                </a:extLst>
              </a:tr>
              <a:tr h="5493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Over </a:t>
                      </a:r>
                      <a:b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Amt</a:t>
                      </a:r>
                    </a:p>
                  </a:txBody>
                  <a:tcPr marL="6368" marR="6368" marT="636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124,895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68" marR="6368" marT="6368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-   </a:t>
                      </a:r>
                    </a:p>
                  </a:txBody>
                  <a:tcPr marL="6368" marR="6368" marT="6368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-  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-  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-  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 -  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-  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-  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-  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-  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-  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-  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124,895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1790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9837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28464" y="181876"/>
            <a:ext cx="7646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MANAGEMENT COST DETAIL</a:t>
            </a:r>
          </a:p>
        </p:txBody>
      </p:sp>
      <p:sp>
        <p:nvSpPr>
          <p:cNvPr id="12" name="내용 개체 틀 2"/>
          <p:cNvSpPr txBox="1">
            <a:spLocks/>
          </p:cNvSpPr>
          <p:nvPr/>
        </p:nvSpPr>
        <p:spPr bwMode="auto">
          <a:xfrm>
            <a:off x="316988" y="740616"/>
            <a:ext cx="23762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US" altLang="ko-KR" sz="1400" b="1" u="sng">
                <a:solidFill>
                  <a:prstClr val="black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UTILITY </a:t>
            </a:r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TOTAL COST</a:t>
            </a:r>
            <a:endParaRPr lang="ko-KR" altLang="en-US" sz="1400" b="1" u="sng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697416" y="885212"/>
            <a:ext cx="76495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ctr"/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[USD </a:t>
            </a:r>
            <a:r>
              <a:rPr lang="en-US" altLang="ko-KR" sz="800" b="1" dirty="0" smtClean="0">
                <a:solidFill>
                  <a:srgbClr val="000000"/>
                </a:solidFill>
                <a:latin typeface="Times New Roman"/>
              </a:rPr>
              <a:t>26,000</a:t>
            </a:r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]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424728" y="3631627"/>
            <a:ext cx="2304256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ELECTRICITY DETAIL</a:t>
            </a:r>
            <a:endParaRPr lang="ko-KR" altLang="en-US" sz="1400" b="1" u="sng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086299"/>
              </p:ext>
            </p:extLst>
          </p:nvPr>
        </p:nvGraphicFramePr>
        <p:xfrm>
          <a:off x="308072" y="3991667"/>
          <a:ext cx="9154292" cy="2605684"/>
        </p:xfrm>
        <a:graphic>
          <a:graphicData uri="http://schemas.openxmlformats.org/drawingml/2006/table">
            <a:tbl>
              <a:tblPr/>
              <a:tblGrid>
                <a:gridCol w="1888044">
                  <a:extLst>
                    <a:ext uri="{9D8B030D-6E8A-4147-A177-3AD203B41FA5}">
                      <a16:colId xmlns:a16="http://schemas.microsoft.com/office/drawing/2014/main" val="2111834411"/>
                    </a:ext>
                  </a:extLst>
                </a:gridCol>
                <a:gridCol w="2723141">
                  <a:extLst>
                    <a:ext uri="{9D8B030D-6E8A-4147-A177-3AD203B41FA5}">
                      <a16:colId xmlns:a16="http://schemas.microsoft.com/office/drawing/2014/main" val="2827023517"/>
                    </a:ext>
                  </a:extLst>
                </a:gridCol>
                <a:gridCol w="1089256">
                  <a:extLst>
                    <a:ext uri="{9D8B030D-6E8A-4147-A177-3AD203B41FA5}">
                      <a16:colId xmlns:a16="http://schemas.microsoft.com/office/drawing/2014/main" val="2583691387"/>
                    </a:ext>
                  </a:extLst>
                </a:gridCol>
                <a:gridCol w="1021178">
                  <a:extLst>
                    <a:ext uri="{9D8B030D-6E8A-4147-A177-3AD203B41FA5}">
                      <a16:colId xmlns:a16="http://schemas.microsoft.com/office/drawing/2014/main" val="2923561733"/>
                    </a:ext>
                  </a:extLst>
                </a:gridCol>
                <a:gridCol w="1307685">
                  <a:extLst>
                    <a:ext uri="{9D8B030D-6E8A-4147-A177-3AD203B41FA5}">
                      <a16:colId xmlns:a16="http://schemas.microsoft.com/office/drawing/2014/main" val="1452789973"/>
                    </a:ext>
                  </a:extLst>
                </a:gridCol>
                <a:gridCol w="1124988">
                  <a:extLst>
                    <a:ext uri="{9D8B030D-6E8A-4147-A177-3AD203B41FA5}">
                      <a16:colId xmlns:a16="http://schemas.microsoft.com/office/drawing/2014/main" val="1567429713"/>
                    </a:ext>
                  </a:extLst>
                </a:gridCol>
              </a:tblGrid>
              <a:tr h="18795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Electricity meter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Area using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Dec.25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Jan.26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678248"/>
                  </a:ext>
                </a:extLst>
              </a:tr>
              <a:tr h="1879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678858"/>
                  </a:ext>
                </a:extLst>
              </a:tr>
              <a:tr h="3844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Trans 3750 KVA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CNC 1, CNC2, Tapping, Chromate, painting, chiller A.chiller CNC auto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1,297,600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84,777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1,294,300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105,842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095463"/>
                  </a:ext>
                </a:extLst>
              </a:tr>
              <a:tr h="3502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Trans 2500 KVA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Casting,Trimming, Mold,FCU, Office,Air compressor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1,033,664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53,889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1,076,224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87,731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364859"/>
                  </a:ext>
                </a:extLst>
              </a:tr>
              <a:tr h="3331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Trans 1250A KVA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Chillers, Chillier for painting, Polishing, Injection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507,040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30,951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481,920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39,366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79784"/>
                  </a:ext>
                </a:extLst>
              </a:tr>
              <a:tr h="2135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Trans 1250B KVA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Casting,Chiller,New WH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347,910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24,784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336,840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27,452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198458"/>
                  </a:ext>
                </a:extLst>
              </a:tr>
              <a:tr h="2135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Trans 1250C KVA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Recycling room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395,280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31,230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390,930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33,894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839784"/>
                  </a:ext>
                </a:extLst>
              </a:tr>
              <a:tr h="3502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Cost of management and operating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604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604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150420"/>
                  </a:ext>
                </a:extLst>
              </a:tr>
              <a:tr h="38444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3,581,494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226,236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3,580,214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294,889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383136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210207"/>
              </p:ext>
            </p:extLst>
          </p:nvPr>
        </p:nvGraphicFramePr>
        <p:xfrm>
          <a:off x="333121" y="1098571"/>
          <a:ext cx="9129243" cy="2762476"/>
        </p:xfrm>
        <a:graphic>
          <a:graphicData uri="http://schemas.openxmlformats.org/drawingml/2006/table">
            <a:tbl>
              <a:tblPr/>
              <a:tblGrid>
                <a:gridCol w="538418">
                  <a:extLst>
                    <a:ext uri="{9D8B030D-6E8A-4147-A177-3AD203B41FA5}">
                      <a16:colId xmlns:a16="http://schemas.microsoft.com/office/drawing/2014/main" val="1203960381"/>
                    </a:ext>
                  </a:extLst>
                </a:gridCol>
                <a:gridCol w="2027246">
                  <a:extLst>
                    <a:ext uri="{9D8B030D-6E8A-4147-A177-3AD203B41FA5}">
                      <a16:colId xmlns:a16="http://schemas.microsoft.com/office/drawing/2014/main" val="4271233092"/>
                    </a:ext>
                  </a:extLst>
                </a:gridCol>
                <a:gridCol w="776259">
                  <a:extLst>
                    <a:ext uri="{9D8B030D-6E8A-4147-A177-3AD203B41FA5}">
                      <a16:colId xmlns:a16="http://schemas.microsoft.com/office/drawing/2014/main" val="3254763265"/>
                    </a:ext>
                  </a:extLst>
                </a:gridCol>
                <a:gridCol w="776259">
                  <a:extLst>
                    <a:ext uri="{9D8B030D-6E8A-4147-A177-3AD203B41FA5}">
                      <a16:colId xmlns:a16="http://schemas.microsoft.com/office/drawing/2014/main" val="3040081704"/>
                    </a:ext>
                  </a:extLst>
                </a:gridCol>
                <a:gridCol w="776259">
                  <a:extLst>
                    <a:ext uri="{9D8B030D-6E8A-4147-A177-3AD203B41FA5}">
                      <a16:colId xmlns:a16="http://schemas.microsoft.com/office/drawing/2014/main" val="1845246140"/>
                    </a:ext>
                  </a:extLst>
                </a:gridCol>
                <a:gridCol w="776259">
                  <a:extLst>
                    <a:ext uri="{9D8B030D-6E8A-4147-A177-3AD203B41FA5}">
                      <a16:colId xmlns:a16="http://schemas.microsoft.com/office/drawing/2014/main" val="2378709485"/>
                    </a:ext>
                  </a:extLst>
                </a:gridCol>
                <a:gridCol w="776259">
                  <a:extLst>
                    <a:ext uri="{9D8B030D-6E8A-4147-A177-3AD203B41FA5}">
                      <a16:colId xmlns:a16="http://schemas.microsoft.com/office/drawing/2014/main" val="2983743684"/>
                    </a:ext>
                  </a:extLst>
                </a:gridCol>
                <a:gridCol w="776259">
                  <a:extLst>
                    <a:ext uri="{9D8B030D-6E8A-4147-A177-3AD203B41FA5}">
                      <a16:colId xmlns:a16="http://schemas.microsoft.com/office/drawing/2014/main" val="3637353042"/>
                    </a:ext>
                  </a:extLst>
                </a:gridCol>
                <a:gridCol w="973057">
                  <a:extLst>
                    <a:ext uri="{9D8B030D-6E8A-4147-A177-3AD203B41FA5}">
                      <a16:colId xmlns:a16="http://schemas.microsoft.com/office/drawing/2014/main" val="779799676"/>
                    </a:ext>
                  </a:extLst>
                </a:gridCol>
                <a:gridCol w="932968">
                  <a:extLst>
                    <a:ext uri="{9D8B030D-6E8A-4147-A177-3AD203B41FA5}">
                      <a16:colId xmlns:a16="http://schemas.microsoft.com/office/drawing/2014/main" val="2130173967"/>
                    </a:ext>
                  </a:extLst>
                </a:gridCol>
              </a:tblGrid>
              <a:tr h="27221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2025Y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327910"/>
                  </a:ext>
                </a:extLst>
              </a:tr>
              <a:tr h="2722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January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 Amt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548738"/>
                  </a:ext>
                </a:extLst>
              </a:tr>
              <a:tr h="3528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 Amt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721127"/>
                  </a:ext>
                </a:extLst>
              </a:tr>
              <a:tr h="373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Electricity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290,765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295,691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294,889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294,889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294,889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598129"/>
                  </a:ext>
                </a:extLst>
              </a:tr>
              <a:tr h="373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Cost of Fresh Water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2,093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2,236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2,344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2,344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2,344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56864"/>
                  </a:ext>
                </a:extLst>
              </a:tr>
              <a:tr h="373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Cost of wastewater treatment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31,500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38,069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38,388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38,388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38,388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870872"/>
                  </a:ext>
                </a:extLst>
              </a:tr>
              <a:tr h="373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Maintainance cost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65,801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35,619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176,778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176,778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176,778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961480"/>
                  </a:ext>
                </a:extLst>
              </a:tr>
              <a:tr h="37303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390,159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371,615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512,399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512,399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512,399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056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7602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내용 개체 틀 2"/>
          <p:cNvSpPr txBox="1">
            <a:spLocks/>
          </p:cNvSpPr>
          <p:nvPr/>
        </p:nvSpPr>
        <p:spPr bwMode="auto">
          <a:xfrm>
            <a:off x="425990" y="776453"/>
            <a:ext cx="8839201" cy="276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OFFICE COST DETAIL </a:t>
            </a:r>
            <a:endParaRPr lang="ko-KR" altLang="en-US" sz="1100" b="1" u="sng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769424" y="806873"/>
            <a:ext cx="76495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ctr"/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[USD </a:t>
            </a:r>
            <a:r>
              <a:rPr lang="en-US" altLang="ko-KR" sz="800" b="1" dirty="0" smtClean="0">
                <a:solidFill>
                  <a:srgbClr val="000000"/>
                </a:solidFill>
                <a:latin typeface="Times New Roman"/>
              </a:rPr>
              <a:t>26,000</a:t>
            </a:r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430" y="188718"/>
            <a:ext cx="7646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0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MANAGEMENT COST DETAIL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736050"/>
              </p:ext>
            </p:extLst>
          </p:nvPr>
        </p:nvGraphicFramePr>
        <p:xfrm>
          <a:off x="272480" y="1192238"/>
          <a:ext cx="9261897" cy="5363085"/>
        </p:xfrm>
        <a:graphic>
          <a:graphicData uri="http://schemas.openxmlformats.org/drawingml/2006/table">
            <a:tbl>
              <a:tblPr/>
              <a:tblGrid>
                <a:gridCol w="504056">
                  <a:extLst>
                    <a:ext uri="{9D8B030D-6E8A-4147-A177-3AD203B41FA5}">
                      <a16:colId xmlns:a16="http://schemas.microsoft.com/office/drawing/2014/main" val="232785824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902415017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72169565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1597646045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4278119119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770742043"/>
                    </a:ext>
                  </a:extLst>
                </a:gridCol>
                <a:gridCol w="696213">
                  <a:extLst>
                    <a:ext uri="{9D8B030D-6E8A-4147-A177-3AD203B41FA5}">
                      <a16:colId xmlns:a16="http://schemas.microsoft.com/office/drawing/2014/main" val="658459910"/>
                    </a:ext>
                  </a:extLst>
                </a:gridCol>
                <a:gridCol w="737265">
                  <a:extLst>
                    <a:ext uri="{9D8B030D-6E8A-4147-A177-3AD203B41FA5}">
                      <a16:colId xmlns:a16="http://schemas.microsoft.com/office/drawing/2014/main" val="3669831617"/>
                    </a:ext>
                  </a:extLst>
                </a:gridCol>
                <a:gridCol w="737265">
                  <a:extLst>
                    <a:ext uri="{9D8B030D-6E8A-4147-A177-3AD203B41FA5}">
                      <a16:colId xmlns:a16="http://schemas.microsoft.com/office/drawing/2014/main" val="1926751233"/>
                    </a:ext>
                  </a:extLst>
                </a:gridCol>
                <a:gridCol w="737265">
                  <a:extLst>
                    <a:ext uri="{9D8B030D-6E8A-4147-A177-3AD203B41FA5}">
                      <a16:colId xmlns:a16="http://schemas.microsoft.com/office/drawing/2014/main" val="2016099757"/>
                    </a:ext>
                  </a:extLst>
                </a:gridCol>
                <a:gridCol w="737265">
                  <a:extLst>
                    <a:ext uri="{9D8B030D-6E8A-4147-A177-3AD203B41FA5}">
                      <a16:colId xmlns:a16="http://schemas.microsoft.com/office/drawing/2014/main" val="2618366980"/>
                    </a:ext>
                  </a:extLst>
                </a:gridCol>
              </a:tblGrid>
              <a:tr h="112689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Content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2025 Y Avg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Dec-25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2026Y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51150"/>
                  </a:ext>
                </a:extLst>
              </a:tr>
              <a:tr h="1439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Average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466887"/>
                  </a:ext>
                </a:extLst>
              </a:tr>
              <a:tr h="1439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165414"/>
                  </a:ext>
                </a:extLst>
              </a:tr>
              <a:tr h="214454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Food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Vietnamses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34,076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34,106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36,795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43%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36,795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36,795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521906"/>
                  </a:ext>
                </a:extLst>
              </a:tr>
              <a:tr h="2144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Korean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2,413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2.7%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2,278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2.5%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2,054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2,054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2,054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393903"/>
                  </a:ext>
                </a:extLst>
              </a:tr>
              <a:tr h="2144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LPG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1,448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1.6%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1,463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1.6%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1,686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1,686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1,686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47975"/>
                  </a:ext>
                </a:extLst>
              </a:tr>
              <a:tr h="2144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Water drinking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971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1,163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1.3%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568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568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568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891529"/>
                  </a:ext>
                </a:extLst>
              </a:tr>
              <a:tr h="21445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Rent  vehicle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Truck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4,133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4.6%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4,205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4.7%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5,011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5,011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5,011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40687"/>
                  </a:ext>
                </a:extLst>
              </a:tr>
              <a:tr h="2144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Car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15,116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16.9%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15,603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17.4%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16,206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16,206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16,206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725134"/>
                  </a:ext>
                </a:extLst>
              </a:tr>
              <a:tr h="21445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Service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Security fee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4,921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5.5%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5,083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5.7%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5,244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5,244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5,244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166473"/>
                  </a:ext>
                </a:extLst>
              </a:tr>
              <a:tr h="2144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Cleaning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2,494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2,636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2.9%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2,654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2,654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2,654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594862"/>
                  </a:ext>
                </a:extLst>
              </a:tr>
              <a:tr h="2144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Tree service, insect service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720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669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760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760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760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552753"/>
                  </a:ext>
                </a:extLst>
              </a:tr>
              <a:tr h="2144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Labor protection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Uniform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597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631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-  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-  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652417"/>
                  </a:ext>
                </a:extLst>
              </a:tr>
              <a:tr h="214454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Office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Stationery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4,065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4.6%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4,878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5.5%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5,006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5,006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5,006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396690"/>
                  </a:ext>
                </a:extLst>
              </a:tr>
              <a:tr h="2144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Printing, photocopy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489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585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475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475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475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191912"/>
                  </a:ext>
                </a:extLst>
              </a:tr>
              <a:tr h="2144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Computer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4,239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2,055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2.3%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2,150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2,150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2,150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232303"/>
                  </a:ext>
                </a:extLst>
              </a:tr>
              <a:tr h="2144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Telephone, internet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675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709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643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643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643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67932"/>
                  </a:ext>
                </a:extLst>
              </a:tr>
              <a:tr h="21445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Health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Medicine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10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-  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-  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947504"/>
                  </a:ext>
                </a:extLst>
              </a:tr>
              <a:tr h="2144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Accident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56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99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278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278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278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143924"/>
                  </a:ext>
                </a:extLst>
              </a:tr>
              <a:tr h="2144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Health check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757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-  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-  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298366"/>
                  </a:ext>
                </a:extLst>
              </a:tr>
              <a:tr h="21445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Related Foreigners' expenses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Air ticket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9,727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10.9%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10,990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12.3%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3,944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3,944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3,944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789879"/>
                  </a:ext>
                </a:extLst>
              </a:tr>
              <a:tr h="2144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Hotel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472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38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38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38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710543"/>
                  </a:ext>
                </a:extLst>
              </a:tr>
              <a:tr h="2144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Restaurance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639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1,208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1.4%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1,894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1,894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1,894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013686"/>
                  </a:ext>
                </a:extLst>
              </a:tr>
              <a:tr h="2144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Visa, working permit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833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1,122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1.3%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150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150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150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470671"/>
                  </a:ext>
                </a:extLst>
              </a:tr>
              <a:tr h="2144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Health check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377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0.4%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-  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-  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487616"/>
                  </a:ext>
                </a:extLst>
              </a:tr>
              <a:tr h="214454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89,225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89,481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85,557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85,557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85,557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893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087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/>
          <p:cNvSpPr txBox="1">
            <a:spLocks/>
          </p:cNvSpPr>
          <p:nvPr/>
        </p:nvSpPr>
        <p:spPr bwMode="auto">
          <a:xfrm>
            <a:off x="272481" y="764704"/>
            <a:ext cx="792088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PURCHASE COST BY ITEM</a:t>
            </a:r>
            <a:endParaRPr lang="ko-KR" altLang="en-US" sz="1100" b="1" u="sng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8770910" y="985208"/>
            <a:ext cx="79060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ctr"/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 [USD </a:t>
            </a:r>
            <a:r>
              <a:rPr lang="en-US" altLang="ko-KR" sz="800" b="1" dirty="0" smtClean="0">
                <a:solidFill>
                  <a:srgbClr val="000000"/>
                </a:solidFill>
                <a:latin typeface="Times New Roman"/>
              </a:rPr>
              <a:t>26,000</a:t>
            </a:r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472" y="164438"/>
            <a:ext cx="7646703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2000" b="1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PURCHASING COST DETAIL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008035"/>
              </p:ext>
            </p:extLst>
          </p:nvPr>
        </p:nvGraphicFramePr>
        <p:xfrm>
          <a:off x="272480" y="1337201"/>
          <a:ext cx="9361039" cy="5260156"/>
        </p:xfrm>
        <a:graphic>
          <a:graphicData uri="http://schemas.openxmlformats.org/drawingml/2006/table">
            <a:tbl>
              <a:tblPr/>
              <a:tblGrid>
                <a:gridCol w="279364">
                  <a:extLst>
                    <a:ext uri="{9D8B030D-6E8A-4147-A177-3AD203B41FA5}">
                      <a16:colId xmlns:a16="http://schemas.microsoft.com/office/drawing/2014/main" val="2805350582"/>
                    </a:ext>
                  </a:extLst>
                </a:gridCol>
                <a:gridCol w="1545818">
                  <a:extLst>
                    <a:ext uri="{9D8B030D-6E8A-4147-A177-3AD203B41FA5}">
                      <a16:colId xmlns:a16="http://schemas.microsoft.com/office/drawing/2014/main" val="2734185488"/>
                    </a:ext>
                  </a:extLst>
                </a:gridCol>
                <a:gridCol w="1545818">
                  <a:extLst>
                    <a:ext uri="{9D8B030D-6E8A-4147-A177-3AD203B41FA5}">
                      <a16:colId xmlns:a16="http://schemas.microsoft.com/office/drawing/2014/main" val="2022875709"/>
                    </a:ext>
                  </a:extLst>
                </a:gridCol>
                <a:gridCol w="805464">
                  <a:extLst>
                    <a:ext uri="{9D8B030D-6E8A-4147-A177-3AD203B41FA5}">
                      <a16:colId xmlns:a16="http://schemas.microsoft.com/office/drawing/2014/main" val="3744040064"/>
                    </a:ext>
                  </a:extLst>
                </a:gridCol>
                <a:gridCol w="644903">
                  <a:extLst>
                    <a:ext uri="{9D8B030D-6E8A-4147-A177-3AD203B41FA5}">
                      <a16:colId xmlns:a16="http://schemas.microsoft.com/office/drawing/2014/main" val="2359214213"/>
                    </a:ext>
                  </a:extLst>
                </a:gridCol>
                <a:gridCol w="768252">
                  <a:extLst>
                    <a:ext uri="{9D8B030D-6E8A-4147-A177-3AD203B41FA5}">
                      <a16:colId xmlns:a16="http://schemas.microsoft.com/office/drawing/2014/main" val="316908266"/>
                    </a:ext>
                  </a:extLst>
                </a:gridCol>
                <a:gridCol w="600634">
                  <a:extLst>
                    <a:ext uri="{9D8B030D-6E8A-4147-A177-3AD203B41FA5}">
                      <a16:colId xmlns:a16="http://schemas.microsoft.com/office/drawing/2014/main" val="752814675"/>
                    </a:ext>
                  </a:extLst>
                </a:gridCol>
                <a:gridCol w="866030">
                  <a:extLst>
                    <a:ext uri="{9D8B030D-6E8A-4147-A177-3AD203B41FA5}">
                      <a16:colId xmlns:a16="http://schemas.microsoft.com/office/drawing/2014/main" val="1861314491"/>
                    </a:ext>
                  </a:extLst>
                </a:gridCol>
                <a:gridCol w="579681">
                  <a:extLst>
                    <a:ext uri="{9D8B030D-6E8A-4147-A177-3AD203B41FA5}">
                      <a16:colId xmlns:a16="http://schemas.microsoft.com/office/drawing/2014/main" val="895126388"/>
                    </a:ext>
                  </a:extLst>
                </a:gridCol>
                <a:gridCol w="866030">
                  <a:extLst>
                    <a:ext uri="{9D8B030D-6E8A-4147-A177-3AD203B41FA5}">
                      <a16:colId xmlns:a16="http://schemas.microsoft.com/office/drawing/2014/main" val="3346943472"/>
                    </a:ext>
                  </a:extLst>
                </a:gridCol>
                <a:gridCol w="859045">
                  <a:extLst>
                    <a:ext uri="{9D8B030D-6E8A-4147-A177-3AD203B41FA5}">
                      <a16:colId xmlns:a16="http://schemas.microsoft.com/office/drawing/2014/main" val="469667107"/>
                    </a:ext>
                  </a:extLst>
                </a:gridCol>
              </a:tblGrid>
              <a:tr h="20309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2025Y Avg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Dec-25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2026Y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583572"/>
                  </a:ext>
                </a:extLst>
              </a:tr>
              <a:tr h="2115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Average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571050"/>
                  </a:ext>
                </a:extLst>
              </a:tr>
              <a:tr h="1777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GROUP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TYPE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315009"/>
                  </a:ext>
                </a:extLst>
              </a:tr>
              <a:tr h="333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Fixed assets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Machinery and equipment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294,418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89,908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236,662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236,662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236,662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543061"/>
                  </a:ext>
                </a:extLst>
              </a:tr>
              <a:tr h="333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Raw materials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Ingot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769,181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42%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817,000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922,474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46%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922,474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922,474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1935775"/>
                  </a:ext>
                </a:extLst>
              </a:tr>
              <a:tr h="333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Mold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80,734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60,470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43,831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43,831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43,831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284580"/>
                  </a:ext>
                </a:extLst>
              </a:tr>
              <a:tr h="333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Jig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11,646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30,198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5,451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5,451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5,451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578709"/>
                  </a:ext>
                </a:extLst>
              </a:tr>
              <a:tr h="333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CNC tools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57,450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62,749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85,532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85,532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85,532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603140"/>
                  </a:ext>
                </a:extLst>
              </a:tr>
              <a:tr h="333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Sub-materials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Semi - FGs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52,178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19,208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89,557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89,557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89,557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209995"/>
                  </a:ext>
                </a:extLst>
              </a:tr>
              <a:tr h="333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Chemical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67,419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83,092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46,067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46,067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46,067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111018"/>
                  </a:ext>
                </a:extLst>
              </a:tr>
              <a:tr h="333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Oil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66,853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78,398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61,168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61,168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61,168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586186"/>
                  </a:ext>
                </a:extLst>
              </a:tr>
              <a:tr h="333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Packing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103,655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123,271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120,035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120,035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120,035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836869"/>
                  </a:ext>
                </a:extLst>
              </a:tr>
              <a:tr h="333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Outsourcing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67,600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87,755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102,912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102,912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102,912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56463"/>
                  </a:ext>
                </a:extLst>
              </a:tr>
              <a:tr h="333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Production supplies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192,934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151,883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210,360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210,360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210,360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214479"/>
                  </a:ext>
                </a:extLst>
              </a:tr>
              <a:tr h="333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Merchandise-Trading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37,146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5,618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56,242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56,242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56,242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005194"/>
                  </a:ext>
                </a:extLst>
              </a:tr>
              <a:tr h="333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Others (Repair, Service fee...)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17,518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36,935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8,795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8,795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8,795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673684"/>
                  </a:ext>
                </a:extLst>
              </a:tr>
              <a:tr h="333414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1,818,730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1,646,484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1,989,086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1,989,086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1,989,086 </a:t>
                      </a:r>
                    </a:p>
                  </a:txBody>
                  <a:tcPr marL="7281" marR="7281" marT="7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048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1634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82454" y="188640"/>
            <a:ext cx="7646703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2000" b="1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PURCHASING COST DETAIL</a:t>
            </a:r>
          </a:p>
        </p:txBody>
      </p:sp>
      <p:sp>
        <p:nvSpPr>
          <p:cNvPr id="10" name="내용 개체 틀 2"/>
          <p:cNvSpPr txBox="1">
            <a:spLocks/>
          </p:cNvSpPr>
          <p:nvPr/>
        </p:nvSpPr>
        <p:spPr bwMode="auto">
          <a:xfrm>
            <a:off x="272481" y="764704"/>
            <a:ext cx="2880319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PURCHASE COST BY DEP’T</a:t>
            </a:r>
            <a:endParaRPr lang="ko-KR" altLang="en-US" sz="1100" b="1" u="sng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770910" y="985208"/>
            <a:ext cx="79060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ctr"/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 [USD </a:t>
            </a:r>
            <a:r>
              <a:rPr lang="en-US" altLang="ko-KR" sz="800" b="1" dirty="0" smtClean="0">
                <a:solidFill>
                  <a:srgbClr val="000000"/>
                </a:solidFill>
                <a:latin typeface="Times New Roman"/>
              </a:rPr>
              <a:t>26,000</a:t>
            </a:r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]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236829"/>
              </p:ext>
            </p:extLst>
          </p:nvPr>
        </p:nvGraphicFramePr>
        <p:xfrm>
          <a:off x="344488" y="1313005"/>
          <a:ext cx="9073010" cy="5212341"/>
        </p:xfrm>
        <a:graphic>
          <a:graphicData uri="http://schemas.openxmlformats.org/drawingml/2006/table">
            <a:tbl>
              <a:tblPr/>
              <a:tblGrid>
                <a:gridCol w="289257">
                  <a:extLst>
                    <a:ext uri="{9D8B030D-6E8A-4147-A177-3AD203B41FA5}">
                      <a16:colId xmlns:a16="http://schemas.microsoft.com/office/drawing/2014/main" val="464951039"/>
                    </a:ext>
                  </a:extLst>
                </a:gridCol>
                <a:gridCol w="2303031">
                  <a:extLst>
                    <a:ext uri="{9D8B030D-6E8A-4147-A177-3AD203B41FA5}">
                      <a16:colId xmlns:a16="http://schemas.microsoft.com/office/drawing/2014/main" val="363891948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025434148"/>
                    </a:ext>
                  </a:extLst>
                </a:gridCol>
                <a:gridCol w="916210">
                  <a:extLst>
                    <a:ext uri="{9D8B030D-6E8A-4147-A177-3AD203B41FA5}">
                      <a16:colId xmlns:a16="http://schemas.microsoft.com/office/drawing/2014/main" val="1639570422"/>
                    </a:ext>
                  </a:extLst>
                </a:gridCol>
                <a:gridCol w="811982">
                  <a:extLst>
                    <a:ext uri="{9D8B030D-6E8A-4147-A177-3AD203B41FA5}">
                      <a16:colId xmlns:a16="http://schemas.microsoft.com/office/drawing/2014/main" val="751602746"/>
                    </a:ext>
                  </a:extLst>
                </a:gridCol>
                <a:gridCol w="605374">
                  <a:extLst>
                    <a:ext uri="{9D8B030D-6E8A-4147-A177-3AD203B41FA5}">
                      <a16:colId xmlns:a16="http://schemas.microsoft.com/office/drawing/2014/main" val="3619179077"/>
                    </a:ext>
                  </a:extLst>
                </a:gridCol>
                <a:gridCol w="896695">
                  <a:extLst>
                    <a:ext uri="{9D8B030D-6E8A-4147-A177-3AD203B41FA5}">
                      <a16:colId xmlns:a16="http://schemas.microsoft.com/office/drawing/2014/main" val="3288393714"/>
                    </a:ext>
                  </a:extLst>
                </a:gridCol>
                <a:gridCol w="600207">
                  <a:extLst>
                    <a:ext uri="{9D8B030D-6E8A-4147-A177-3AD203B41FA5}">
                      <a16:colId xmlns:a16="http://schemas.microsoft.com/office/drawing/2014/main" val="2314767924"/>
                    </a:ext>
                  </a:extLst>
                </a:gridCol>
                <a:gridCol w="896695">
                  <a:extLst>
                    <a:ext uri="{9D8B030D-6E8A-4147-A177-3AD203B41FA5}">
                      <a16:colId xmlns:a16="http://schemas.microsoft.com/office/drawing/2014/main" val="2191710464"/>
                    </a:ext>
                  </a:extLst>
                </a:gridCol>
                <a:gridCol w="889463">
                  <a:extLst>
                    <a:ext uri="{9D8B030D-6E8A-4147-A177-3AD203B41FA5}">
                      <a16:colId xmlns:a16="http://schemas.microsoft.com/office/drawing/2014/main" val="2668919158"/>
                    </a:ext>
                  </a:extLst>
                </a:gridCol>
              </a:tblGrid>
              <a:tr h="146737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2025Y Avg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Dec-25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2026Y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346564"/>
                  </a:ext>
                </a:extLst>
              </a:tr>
              <a:tr h="1467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Average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254241"/>
                  </a:ext>
                </a:extLst>
              </a:tr>
              <a:tr h="1467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531693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Assembly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12,617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11,132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15,787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15,787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15,787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783912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Casting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931,689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42%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936,277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57%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1,066,270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54%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1,066,270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1,066,270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62309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Caulking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9,870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5,460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-  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06529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Cleaning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1,871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103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103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103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417584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CNC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180,846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106,347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172,134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172,134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172,134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69873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CNC(Maintaining)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35,375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22,224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44,406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44,406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44,406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93483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Dev Team-R&amp;D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33,500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27,166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9,579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9,579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9,579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928313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EHS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3,831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5,889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3,530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3,530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3,530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150809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Hot press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10,284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212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212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212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611874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Injection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3,280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1,678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2,541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2,541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2,541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056898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Mold Dev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97,662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65,546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57,044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57,044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57,044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506617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N-Chromate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70,126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83,092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46,275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46,275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46,275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652624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Outsourcing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67,637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87,755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102,912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102,912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102,912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736273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Packing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-  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-  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775847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Laser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6,730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-  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655457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Polishing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25,250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29,673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8,660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8,660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8,660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583425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Production support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77,880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62,553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105,917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105,917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105,917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360988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Production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143,004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169,620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258,159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258,159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258,159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627438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Merchandise-Trading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40,993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5,618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56,242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56,242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56,242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874852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Trimming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67,345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19,257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33,592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33,592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33,592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92910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Warehouse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23,790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7,197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5,724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5,724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5,724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698637"/>
                  </a:ext>
                </a:extLst>
              </a:tr>
              <a:tr h="21691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1,818,730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1,646,484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1,989,086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1,989,086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1,989,086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637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21043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TOP" val="97"/>
  <p:tag name="PRESERVEASPECTRATIO" val="False"/>
  <p:tag name="DEFAULTHEIGHT" val="23.5"/>
  <p:tag name="DEFAULTWIDTH" val="504"/>
  <p:tag name="DEFAULTONLEFT" val="234"/>
  <p:tag name="DEFAULTOFFLEFT" val="-524"/>
  <p:tag name="DEFAULTLEFT" val="234"/>
  <p:tag name="SLIDEELEMTYPE" val="2"/>
  <p:tag name="BULLETSTYLE" val="BulletStyle"/>
  <p:tag name="LEGALDAYONE" val="True"/>
</p:tagLst>
</file>

<file path=ppt/theme/theme1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rgbClr val="C00000"/>
          </a:solidFill>
        </a:ln>
      </a:spPr>
      <a:bodyPr lIns="0" tIns="0" rIns="0" bIns="0" anchor="ctr"/>
      <a:lstStyle>
        <a:defPPr>
          <a:lnSpc>
            <a:spcPct val="150000"/>
          </a:lnSpc>
          <a:buFont typeface="Wingdings" pitchFamily="2" charset="2"/>
          <a:buChar char="ü"/>
          <a:defRPr sz="14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600" dirty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160258</TotalTime>
  <Words>3105</Words>
  <Application>Microsoft Office PowerPoint</Application>
  <PresentationFormat>A4 Paper (210x297 mm)</PresentationFormat>
  <Paragraphs>1564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맑은 고딕</vt:lpstr>
      <vt:lpstr>Arial</vt:lpstr>
      <vt:lpstr>Calibri</vt:lpstr>
      <vt:lpstr>굴림</vt:lpstr>
      <vt:lpstr>HY헤드라인M</vt:lpstr>
      <vt:lpstr>Times New Roman</vt:lpstr>
      <vt:lpstr>Wingdings</vt:lpstr>
      <vt:lpstr>3_Office 테마</vt:lpstr>
      <vt:lpstr>디자인 사용자 지정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NVD.DUC</cp:lastModifiedBy>
  <cp:revision>7094</cp:revision>
  <cp:lastPrinted>2022-05-19T08:58:48Z</cp:lastPrinted>
  <dcterms:created xsi:type="dcterms:W3CDTF">2011-10-10T11:45:52Z</dcterms:created>
  <dcterms:modified xsi:type="dcterms:W3CDTF">2026-02-12T01:59:07Z</dcterms:modified>
</cp:coreProperties>
</file>