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3" r:id="rId2"/>
    <p:sldMasterId id="2147483673" r:id="rId3"/>
  </p:sldMasterIdLst>
  <p:notesMasterIdLst>
    <p:notesMasterId r:id="rId17"/>
  </p:notesMasterIdLst>
  <p:handoutMasterIdLst>
    <p:handoutMasterId r:id="rId18"/>
  </p:handoutMasterIdLst>
  <p:sldIdLst>
    <p:sldId id="2387" r:id="rId4"/>
    <p:sldId id="2381" r:id="rId5"/>
    <p:sldId id="2393" r:id="rId6"/>
    <p:sldId id="2422" r:id="rId7"/>
    <p:sldId id="2423" r:id="rId8"/>
    <p:sldId id="2424" r:id="rId9"/>
    <p:sldId id="2394" r:id="rId10"/>
    <p:sldId id="2413" r:id="rId11"/>
    <p:sldId id="2425" r:id="rId12"/>
    <p:sldId id="2416" r:id="rId13"/>
    <p:sldId id="2419" r:id="rId14"/>
    <p:sldId id="2420" r:id="rId15"/>
    <p:sldId id="2421" r:id="rId16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126">
          <p15:clr>
            <a:srgbClr val="A4A3A4"/>
          </p15:clr>
        </p15:guide>
        <p15:guide id="3" pos="3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F8CBAD"/>
    <a:srgbClr val="C5D9F1"/>
    <a:srgbClr val="0000CC"/>
    <a:srgbClr val="0000FF"/>
    <a:srgbClr val="BDD7EE"/>
    <a:srgbClr val="FFFF99"/>
    <a:srgbClr val="00CC00"/>
    <a:srgbClr val="0070C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1" autoAdjust="0"/>
    <p:restoredTop sz="99290" autoAdjust="0"/>
  </p:normalViewPr>
  <p:slideViewPr>
    <p:cSldViewPr>
      <p:cViewPr varScale="1">
        <p:scale>
          <a:sx n="115" d="100"/>
          <a:sy n="115" d="100"/>
        </p:scale>
        <p:origin x="1422" y="84"/>
      </p:cViewPr>
      <p:guideLst>
        <p:guide orient="horz" pos="2205"/>
        <p:guide pos="126"/>
        <p:guide pos="3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990" y="9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1003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B5C9A13-03EA-4153-90E7-64CB6544750C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705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1003" y="9430705"/>
            <a:ext cx="2945072" cy="495936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3D32E10-4494-41C4-9885-B0E787CCA86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2846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003" y="0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AF093C0-20F9-48E4-AA16-FB02A0489609}" type="datetimeFigureOut">
              <a:rPr lang="ko-KR" altLang="en-US"/>
              <a:pPr>
                <a:defRPr/>
              </a:pPr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50" y="4715353"/>
            <a:ext cx="5437179" cy="4468177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705"/>
            <a:ext cx="2945072" cy="49593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003" y="9430705"/>
            <a:ext cx="2945072" cy="495936"/>
          </a:xfrm>
          <a:prstGeom prst="rect">
            <a:avLst/>
          </a:prstGeom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8B44670-C299-4ED8-9CB8-3DED7816EFB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393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1" y="4716463"/>
            <a:ext cx="5438775" cy="44672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D99B6-8C63-46D3-AC4E-F19BB306C2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15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44670-C299-4ED8-9CB8-3DED7816EFB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31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44670-C299-4ED8-9CB8-3DED7816EFB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72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0"/>
            <a:ext cx="4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cxnSp>
        <p:nvCxnSpPr>
          <p:cNvPr id="3" name="직선 연결선 2"/>
          <p:cNvCxnSpPr/>
          <p:nvPr userDrawn="1"/>
        </p:nvCxnSpPr>
        <p:spPr>
          <a:xfrm flipV="1">
            <a:off x="415925" y="3213100"/>
            <a:ext cx="9490075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149725"/>
            <a:ext cx="2879725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980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963" y="304800"/>
            <a:ext cx="99377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그룹 28"/>
          <p:cNvGrpSpPr>
            <a:grpSpLocks/>
          </p:cNvGrpSpPr>
          <p:nvPr userDrawn="1"/>
        </p:nvGrpSpPr>
        <p:grpSpPr bwMode="auto">
          <a:xfrm>
            <a:off x="0" y="188913"/>
            <a:ext cx="9906000" cy="539750"/>
            <a:chOff x="0" y="188586"/>
            <a:chExt cx="9906000" cy="540070"/>
          </a:xfrm>
        </p:grpSpPr>
        <p:cxnSp>
          <p:nvCxnSpPr>
            <p:cNvPr id="4" name="직선 연결선 7"/>
            <p:cNvCxnSpPr/>
            <p:nvPr userDrawn="1"/>
          </p:nvCxnSpPr>
          <p:spPr>
            <a:xfrm>
              <a:off x="0" y="728656"/>
              <a:ext cx="855345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7"/>
            <p:cNvCxnSpPr/>
            <p:nvPr userDrawn="1"/>
          </p:nvCxnSpPr>
          <p:spPr>
            <a:xfrm flipV="1">
              <a:off x="8542338" y="188586"/>
              <a:ext cx="358775" cy="54007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7"/>
            <p:cNvCxnSpPr/>
            <p:nvPr userDrawn="1"/>
          </p:nvCxnSpPr>
          <p:spPr>
            <a:xfrm>
              <a:off x="8890000" y="188586"/>
              <a:ext cx="1016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 userDrawn="1"/>
        </p:nvSpPr>
        <p:spPr>
          <a:xfrm>
            <a:off x="9201472" y="6607571"/>
            <a:ext cx="1125538" cy="27781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fld id="{D1C4E95F-9563-46A9-9EB6-D394B7B21AD3}" type="slidenum">
              <a:rPr kumimoji="0"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/>
              <a:t>‹#›</a:t>
            </a:fld>
            <a:endParaRPr kumimoji="0"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47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CE51BE2-9DB0-4E8B-8D64-12DD0A8B5E76}" type="slidenum">
              <a:rPr kumimoji="0" lang="ko-KR" altLang="en-US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kumimoji="0"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55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582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42958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36C311-8ED8-49F5-8800-41EDEBCD2E02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79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DED5-6D09-4E5D-ACFB-26E99AF8E165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79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0179EE-A4D0-4756-8715-32E6600E2D9D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4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8C053-CB01-43BB-BA35-94F4793F2B0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64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ECA0D-9461-4095-8CFB-A82A789CA73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777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BD97-7C83-4AAA-9989-428C7347FFF7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459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AF198-EB07-4988-A7D1-464160EAFF6C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889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7F70CB-A4CE-45B8-8E65-61F3FA5A7819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729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3292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9FDD4A-57D3-44BA-AC50-237085C96134}" type="datetime1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2026-04-13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12542" y="6331092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072799" y="6547714"/>
            <a:ext cx="425252" cy="173764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BBE039-2B29-4654-B926-696863F6C89D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715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29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08000" y="1557338"/>
            <a:ext cx="8915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 latinLnBrk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2052" name="제목 개체 틀 1"/>
          <p:cNvSpPr>
            <a:spLocks noGrp="1"/>
          </p:cNvSpPr>
          <p:nvPr>
            <p:ph type="title"/>
          </p:nvPr>
        </p:nvSpPr>
        <p:spPr bwMode="auto">
          <a:xfrm>
            <a:off x="9525" y="-14288"/>
            <a:ext cx="9867900" cy="6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475" y="6524625"/>
            <a:ext cx="2311400" cy="311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1">
              <a:defRPr kumimoji="1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HY헤드라인M" pitchFamily="18" charset="-127"/>
          <a:ea typeface="HY헤드라인M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"/>
        <a:defRPr sz="24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307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08BDBC4-D6A0-4D5C-94E5-512CF430AA8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480" y="980728"/>
            <a:ext cx="9360000" cy="36000"/>
          </a:xfrm>
          <a:prstGeom prst="rect">
            <a:avLst/>
          </a:prstGeom>
          <a:solidFill>
            <a:srgbClr val="001C5C"/>
          </a:solidFill>
          <a:ln>
            <a:solidFill>
              <a:srgbClr val="001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497" y="6252495"/>
            <a:ext cx="6457503" cy="610741"/>
          </a:xfrm>
          <a:prstGeom prst="rect">
            <a:avLst/>
          </a:prstGeom>
        </p:spPr>
      </p:pic>
      <p:pic>
        <p:nvPicPr>
          <p:cNvPr id="8" name="그림 5" descr="회사 로고.png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424" y="404664"/>
            <a:ext cx="1066367" cy="526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0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856984" y="5229200"/>
            <a:ext cx="2150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2026.04.</a:t>
            </a:r>
            <a:r>
              <a:rPr kumimoji="0" lang="en-US" altLang="ko-KR" sz="1600" b="1" noProof="0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057571" y="1268760"/>
            <a:ext cx="7679776" cy="1500198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ffectLst/>
        </p:spPr>
        <p:txBody>
          <a:bodyPr lIns="0" anchor="ctr">
            <a:normAutofit fontScale="92500" lnSpcReduction="20000"/>
          </a:bodyPr>
          <a:lstStyle/>
          <a:p>
            <a:pPr lvl="0" algn="ctr" fontAlgn="auto" latinLnBrk="0">
              <a:lnSpc>
                <a:spcPct val="150000"/>
              </a:lnSpc>
              <a:spcAft>
                <a:spcPts val="0"/>
              </a:spcAft>
              <a:defRPr/>
            </a:pPr>
            <a:r>
              <a:rPr kumimoji="0" lang="en-US" altLang="ko-KR" sz="3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</a:t>
            </a:r>
            <a:r>
              <a:rPr kumimoji="0" lang="en-US" altLang="ko-KR" sz="3800" b="1" kern="0" noProof="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US" altLang="ko-KR" sz="3800" b="1" kern="0" noProof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MARCH</a:t>
            </a:r>
            <a: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 </a:t>
            </a: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MANAGEMENT DEP’T</a:t>
            </a:r>
            <a:r>
              <a:rPr kumimoji="0" lang="ko-KR" altLang="en-US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ko-KR" sz="38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REPORT</a:t>
            </a:r>
            <a: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그림 5" descr="회사 로고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215" y="3717032"/>
            <a:ext cx="212248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648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2430" y="188718"/>
            <a:ext cx="7646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2026Y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– </a:t>
            </a:r>
            <a:r>
              <a:rPr lang="en-US" altLang="ko-KR" sz="20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MARCH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88504" y="947463"/>
            <a:ext cx="8839201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CATEGORY</a:t>
            </a:r>
            <a:r>
              <a:rPr lang="ko-KR" altLang="en-US" sz="11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920552" y="1268760"/>
            <a:ext cx="7632848" cy="2160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1.1: Salary report by title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1.2: Salary report by dep’t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1.3: OT report by title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1.4: OT report by dep’t</a:t>
            </a:r>
          </a:p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1.5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OT standard &amp; OT amount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20552" y="3284984"/>
            <a:ext cx="5688632" cy="115212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2.1: Utility – EHS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2.2: Office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20552" y="4437112"/>
            <a:ext cx="3816424" cy="129614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COST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3.1: Purchase cost by item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3.2: Purchase cost by dep’t </a:t>
            </a:r>
          </a:p>
        </p:txBody>
      </p:sp>
    </p:spTree>
    <p:extLst>
      <p:ext uri="{BB962C8B-B14F-4D97-AF65-F5344CB8AC3E}">
        <p14:creationId xmlns:p14="http://schemas.microsoft.com/office/powerpoint/2010/main" val="199513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03211" y="861699"/>
            <a:ext cx="3353645" cy="305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MAR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432" y="188640"/>
            <a:ext cx="7646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2026Y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– MARCH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362483"/>
              </p:ext>
            </p:extLst>
          </p:nvPr>
        </p:nvGraphicFramePr>
        <p:xfrm>
          <a:off x="488504" y="1124743"/>
          <a:ext cx="9000999" cy="5184577"/>
        </p:xfrm>
        <a:graphic>
          <a:graphicData uri="http://schemas.openxmlformats.org/drawingml/2006/table">
            <a:tbl>
              <a:tblPr/>
              <a:tblGrid>
                <a:gridCol w="508896">
                  <a:extLst>
                    <a:ext uri="{9D8B030D-6E8A-4147-A177-3AD203B41FA5}">
                      <a16:colId xmlns:a16="http://schemas.microsoft.com/office/drawing/2014/main" val="2314485761"/>
                    </a:ext>
                  </a:extLst>
                </a:gridCol>
                <a:gridCol w="884574">
                  <a:extLst>
                    <a:ext uri="{9D8B030D-6E8A-4147-A177-3AD203B41FA5}">
                      <a16:colId xmlns:a16="http://schemas.microsoft.com/office/drawing/2014/main" val="2694760806"/>
                    </a:ext>
                  </a:extLst>
                </a:gridCol>
                <a:gridCol w="424014">
                  <a:extLst>
                    <a:ext uri="{9D8B030D-6E8A-4147-A177-3AD203B41FA5}">
                      <a16:colId xmlns:a16="http://schemas.microsoft.com/office/drawing/2014/main" val="522653496"/>
                    </a:ext>
                  </a:extLst>
                </a:gridCol>
                <a:gridCol w="1962883">
                  <a:extLst>
                    <a:ext uri="{9D8B030D-6E8A-4147-A177-3AD203B41FA5}">
                      <a16:colId xmlns:a16="http://schemas.microsoft.com/office/drawing/2014/main" val="2272510751"/>
                    </a:ext>
                  </a:extLst>
                </a:gridCol>
                <a:gridCol w="1235889">
                  <a:extLst>
                    <a:ext uri="{9D8B030D-6E8A-4147-A177-3AD203B41FA5}">
                      <a16:colId xmlns:a16="http://schemas.microsoft.com/office/drawing/2014/main" val="2674316737"/>
                    </a:ext>
                  </a:extLst>
                </a:gridCol>
                <a:gridCol w="1017791">
                  <a:extLst>
                    <a:ext uri="{9D8B030D-6E8A-4147-A177-3AD203B41FA5}">
                      <a16:colId xmlns:a16="http://schemas.microsoft.com/office/drawing/2014/main" val="1401430158"/>
                    </a:ext>
                  </a:extLst>
                </a:gridCol>
                <a:gridCol w="1017791">
                  <a:extLst>
                    <a:ext uri="{9D8B030D-6E8A-4147-A177-3AD203B41FA5}">
                      <a16:colId xmlns:a16="http://schemas.microsoft.com/office/drawing/2014/main" val="88227516"/>
                    </a:ext>
                  </a:extLst>
                </a:gridCol>
                <a:gridCol w="881438">
                  <a:extLst>
                    <a:ext uri="{9D8B030D-6E8A-4147-A177-3AD203B41FA5}">
                      <a16:colId xmlns:a16="http://schemas.microsoft.com/office/drawing/2014/main" val="4279388577"/>
                    </a:ext>
                  </a:extLst>
                </a:gridCol>
                <a:gridCol w="1067723">
                  <a:extLst>
                    <a:ext uri="{9D8B030D-6E8A-4147-A177-3AD203B41FA5}">
                      <a16:colId xmlns:a16="http://schemas.microsoft.com/office/drawing/2014/main" val="1348441629"/>
                    </a:ext>
                  </a:extLst>
                </a:gridCol>
              </a:tblGrid>
              <a:tr h="343873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[1USD/26,000vnd]</a:t>
                      </a: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549141"/>
                  </a:ext>
                </a:extLst>
              </a:tr>
              <a:tr h="479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3902"/>
                  </a:ext>
                </a:extLst>
              </a:tr>
              <a:tr h="310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$ 490,510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$ 489,093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$ 510,159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$ 559,742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$ 1,558,995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787441"/>
                  </a:ext>
                </a:extLst>
              </a:tr>
              <a:tr h="31031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EHS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/GA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$ 290,765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$ 294,889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$ 265,238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$ 237,172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$ 797,299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256690"/>
                  </a:ext>
                </a:extLst>
              </a:tr>
              <a:tr h="3103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$ 2,093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$ 2,344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$ 2,037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$ 1,484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$ 5,865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290929"/>
                  </a:ext>
                </a:extLst>
              </a:tr>
              <a:tr h="4419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Waste treatment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$ 31,500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$ 38,388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$ 26,754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$ 36,384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$ 101,526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702327"/>
                  </a:ext>
                </a:extLst>
              </a:tr>
              <a:tr h="3103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Maitainance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$ 65,801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$ 176,778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$ 13,975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$ 6,529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$ 197,282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49877"/>
                  </a:ext>
                </a:extLst>
              </a:tr>
              <a:tr h="3103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$ 89,225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$ 85,557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$ 90,979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$ 85,705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$ 262,240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751795"/>
                  </a:ext>
                </a:extLst>
              </a:tr>
              <a:tr h="3667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PURCHASING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Purchase cost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$ 1,818,730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$ 1,989,086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$ 1,370,862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$ 2,105,543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$ 5,465,491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126170"/>
                  </a:ext>
                </a:extLst>
              </a:tr>
              <a:tr h="37613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$ 2,336,255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$ 3,076,135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$ 2,280,004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$ 3,032,559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$ 8,388,698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683863"/>
                  </a:ext>
                </a:extLst>
              </a:tr>
              <a:tr h="176639">
                <a:tc gridSpan="2"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12" marR="7712" marT="771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85478"/>
                  </a:ext>
                </a:extLst>
              </a:tr>
              <a:tr h="488976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 Total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347157"/>
                  </a:ext>
                </a:extLst>
              </a:tr>
              <a:tr h="47957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OT/ Hours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71,463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58,840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61,415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202,252 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971451"/>
                  </a:ext>
                </a:extLst>
              </a:tr>
              <a:tr h="47957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OT. Amount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$ 174,804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$ 206,388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$ 149,342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$ 177,140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$ 532,870</a:t>
                      </a:r>
                    </a:p>
                  </a:txBody>
                  <a:tcPr marL="7712" marR="7712" marT="77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389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83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2480" y="3400828"/>
            <a:ext cx="38738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&amp; OT 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0181" y="3708605"/>
            <a:ext cx="9145016" cy="2912839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just"/>
            <a:endParaRPr lang="en-US" altLang="ko-KR" sz="13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</a:t>
            </a:r>
            <a:r>
              <a:rPr lang="en-US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ko-KR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&amp; others </a:t>
            </a:r>
            <a:r>
              <a:rPr lang="en-US" altLang="ko-KR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Mar</a:t>
            </a:r>
          </a:p>
          <a:p>
            <a:pPr algn="just"/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Salary in Mar 2026 is higher than in Feb 2026 ($ 49,583)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the following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company pays 50% of the 13th-month salary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bonus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($ 94,842) on 6 March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increased the basic salary by 350,000 VND for all workers.</a:t>
            </a:r>
            <a:endParaRPr lang="en-US" altLang="ko-KR" sz="13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increased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$ 27,799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2026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 hours in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2,575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hours compared to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2026</a:t>
            </a: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bracket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%,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(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SEVT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process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68%;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43%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Qualcom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21%;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ZF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93%; </a:t>
            </a:r>
            <a:r>
              <a:rPr lang="en-US" altLang="ko-KR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Mando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goods </a:t>
            </a: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14%. </a:t>
            </a:r>
          </a:p>
          <a:p>
            <a:pPr algn="just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A project increased 21 times</a:t>
            </a: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7444" y="898847"/>
            <a:ext cx="32558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&amp; OT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MAR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272480" y="277106"/>
            <a:ext cx="3276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871782"/>
              </p:ext>
            </p:extLst>
          </p:nvPr>
        </p:nvGraphicFramePr>
        <p:xfrm>
          <a:off x="387971" y="1052735"/>
          <a:ext cx="9167227" cy="2232250"/>
        </p:xfrm>
        <a:graphic>
          <a:graphicData uri="http://schemas.openxmlformats.org/drawingml/2006/table">
            <a:tbl>
              <a:tblPr/>
              <a:tblGrid>
                <a:gridCol w="527585">
                  <a:extLst>
                    <a:ext uri="{9D8B030D-6E8A-4147-A177-3AD203B41FA5}">
                      <a16:colId xmlns:a16="http://schemas.microsoft.com/office/drawing/2014/main" val="2797379003"/>
                    </a:ext>
                  </a:extLst>
                </a:gridCol>
                <a:gridCol w="1319759">
                  <a:extLst>
                    <a:ext uri="{9D8B030D-6E8A-4147-A177-3AD203B41FA5}">
                      <a16:colId xmlns:a16="http://schemas.microsoft.com/office/drawing/2014/main" val="4244387707"/>
                    </a:ext>
                  </a:extLst>
                </a:gridCol>
                <a:gridCol w="1664510">
                  <a:extLst>
                    <a:ext uri="{9D8B030D-6E8A-4147-A177-3AD203B41FA5}">
                      <a16:colId xmlns:a16="http://schemas.microsoft.com/office/drawing/2014/main" val="719385347"/>
                    </a:ext>
                  </a:extLst>
                </a:gridCol>
                <a:gridCol w="1080570">
                  <a:extLst>
                    <a:ext uri="{9D8B030D-6E8A-4147-A177-3AD203B41FA5}">
                      <a16:colId xmlns:a16="http://schemas.microsoft.com/office/drawing/2014/main" val="3702356741"/>
                    </a:ext>
                  </a:extLst>
                </a:gridCol>
                <a:gridCol w="1139296">
                  <a:extLst>
                    <a:ext uri="{9D8B030D-6E8A-4147-A177-3AD203B41FA5}">
                      <a16:colId xmlns:a16="http://schemas.microsoft.com/office/drawing/2014/main" val="193058646"/>
                    </a:ext>
                  </a:extLst>
                </a:gridCol>
                <a:gridCol w="1118742">
                  <a:extLst>
                    <a:ext uri="{9D8B030D-6E8A-4147-A177-3AD203B41FA5}">
                      <a16:colId xmlns:a16="http://schemas.microsoft.com/office/drawing/2014/main" val="1989910394"/>
                    </a:ext>
                  </a:extLst>
                </a:gridCol>
                <a:gridCol w="962765">
                  <a:extLst>
                    <a:ext uri="{9D8B030D-6E8A-4147-A177-3AD203B41FA5}">
                      <a16:colId xmlns:a16="http://schemas.microsoft.com/office/drawing/2014/main" val="4067728511"/>
                    </a:ext>
                  </a:extLst>
                </a:gridCol>
                <a:gridCol w="1354000">
                  <a:extLst>
                    <a:ext uri="{9D8B030D-6E8A-4147-A177-3AD203B41FA5}">
                      <a16:colId xmlns:a16="http://schemas.microsoft.com/office/drawing/2014/main" val="1818151024"/>
                    </a:ext>
                  </a:extLst>
                </a:gridCol>
              </a:tblGrid>
              <a:tr h="332649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</a:t>
                      </a: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1USD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</a:t>
                      </a: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26,00vnd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]</a:t>
                      </a:r>
                    </a:p>
                  </a:txBody>
                  <a:tcPr marL="8421" marR="8421" marT="8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505213"/>
                  </a:ext>
                </a:extLst>
              </a:tr>
              <a:tr h="533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98525"/>
                  </a:ext>
                </a:extLst>
              </a:tr>
              <a:tr h="45520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cost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$ 490,510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$ 489,093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$ 510,159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$ 559,742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$ 1,558,995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524811"/>
                  </a:ext>
                </a:extLst>
              </a:tr>
              <a:tr h="455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amount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$ 174,804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$ 206,388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$ 149,342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$ 177,140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$ 532,870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990"/>
                  </a:ext>
                </a:extLst>
              </a:tr>
              <a:tr h="455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hours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71,463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58,840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61,415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202,252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71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95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5034" y="3929542"/>
            <a:ext cx="8989668" cy="2859822"/>
          </a:xfrm>
          <a:prstGeom prst="rect">
            <a:avLst/>
          </a:prstGeom>
          <a:solidFill>
            <a:schemeClr val="bg1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Increase/ decrease electricity, </a:t>
            </a:r>
            <a:r>
              <a:rPr lang="en-US" sz="13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maintainance</a:t>
            </a: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waste water, office cost  in </a:t>
            </a:r>
            <a:r>
              <a:rPr lang="en-US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March,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cost is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$ 28,066 compared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(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for Samsung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 cost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9,630 than Feb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production days in March are more than in February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Maintenance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 2026 decreased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7,446 than Feb 2026 because: 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No payment has been incurred for maintenance and repair items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Office cost of  Mar 2026 decreased $5,274 than Feb 2026 because: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food of </a:t>
            </a:r>
            <a:r>
              <a:rPr lang="en-US" sz="13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Vietnamses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increased $6,349 (the working days increased)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The costs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airfare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$ 16,139 (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travel ticket expenses were paid in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February)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0434" y="3621765"/>
            <a:ext cx="39097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UTILITY 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0434" y="707425"/>
            <a:ext cx="40765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UTILITY 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MAR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272480" y="277106"/>
            <a:ext cx="3276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907637"/>
              </p:ext>
            </p:extLst>
          </p:nvPr>
        </p:nvGraphicFramePr>
        <p:xfrm>
          <a:off x="505034" y="1045411"/>
          <a:ext cx="8989666" cy="2546144"/>
        </p:xfrm>
        <a:graphic>
          <a:graphicData uri="http://schemas.openxmlformats.org/drawingml/2006/table">
            <a:tbl>
              <a:tblPr/>
              <a:tblGrid>
                <a:gridCol w="559534">
                  <a:extLst>
                    <a:ext uri="{9D8B030D-6E8A-4147-A177-3AD203B41FA5}">
                      <a16:colId xmlns:a16="http://schemas.microsoft.com/office/drawing/2014/main" val="67953743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353718920"/>
                    </a:ext>
                  </a:extLst>
                </a:gridCol>
                <a:gridCol w="1660161">
                  <a:extLst>
                    <a:ext uri="{9D8B030D-6E8A-4147-A177-3AD203B41FA5}">
                      <a16:colId xmlns:a16="http://schemas.microsoft.com/office/drawing/2014/main" val="405069444"/>
                    </a:ext>
                  </a:extLst>
                </a:gridCol>
                <a:gridCol w="1059640">
                  <a:extLst>
                    <a:ext uri="{9D8B030D-6E8A-4147-A177-3AD203B41FA5}">
                      <a16:colId xmlns:a16="http://schemas.microsoft.com/office/drawing/2014/main" val="1923660457"/>
                    </a:ext>
                  </a:extLst>
                </a:gridCol>
                <a:gridCol w="1117230">
                  <a:extLst>
                    <a:ext uri="{9D8B030D-6E8A-4147-A177-3AD203B41FA5}">
                      <a16:colId xmlns:a16="http://schemas.microsoft.com/office/drawing/2014/main" val="1017665161"/>
                    </a:ext>
                  </a:extLst>
                </a:gridCol>
                <a:gridCol w="1097073">
                  <a:extLst>
                    <a:ext uri="{9D8B030D-6E8A-4147-A177-3AD203B41FA5}">
                      <a16:colId xmlns:a16="http://schemas.microsoft.com/office/drawing/2014/main" val="4203860435"/>
                    </a:ext>
                  </a:extLst>
                </a:gridCol>
                <a:gridCol w="1042560">
                  <a:extLst>
                    <a:ext uri="{9D8B030D-6E8A-4147-A177-3AD203B41FA5}">
                      <a16:colId xmlns:a16="http://schemas.microsoft.com/office/drawing/2014/main" val="150126369"/>
                    </a:ext>
                  </a:extLst>
                </a:gridCol>
                <a:gridCol w="1229332">
                  <a:extLst>
                    <a:ext uri="{9D8B030D-6E8A-4147-A177-3AD203B41FA5}">
                      <a16:colId xmlns:a16="http://schemas.microsoft.com/office/drawing/2014/main" val="931570751"/>
                    </a:ext>
                  </a:extLst>
                </a:gridCol>
              </a:tblGrid>
              <a:tr h="1976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[1USD/26,00vnd]</a:t>
                      </a:r>
                    </a:p>
                  </a:txBody>
                  <a:tcPr marL="9484" marR="9484" marT="948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075710"/>
                  </a:ext>
                </a:extLst>
              </a:tr>
              <a:tr h="4032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616733"/>
                  </a:ext>
                </a:extLst>
              </a:tr>
              <a:tr h="32419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UTILITY/EHS/GA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cost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$ 290,765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$ 294,889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$ 265,238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$ 237,172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$ 797,299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38269"/>
                  </a:ext>
                </a:extLst>
              </a:tr>
              <a:tr h="324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cost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$ 2,093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$ 2,344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$ 2,037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$ 1,484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$ 5,865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580819"/>
                  </a:ext>
                </a:extLst>
              </a:tr>
              <a:tr h="324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Waste treatment cost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$ 31,500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$ 38,388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$ 26,754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$ 36,384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$ 101,526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575730"/>
                  </a:ext>
                </a:extLst>
              </a:tr>
              <a:tr h="324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Maitainance cost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$ 65,801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$ 176,778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$ 13,975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$ 6,529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$ 197,282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615351"/>
                  </a:ext>
                </a:extLst>
              </a:tr>
              <a:tr h="324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 cost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$ 89,225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$ 85,557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$ 90,979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$ 85,705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$ 262,240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133879"/>
                  </a:ext>
                </a:extLst>
              </a:tr>
              <a:tr h="32419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$ 479,384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$ 597,956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$ 398,983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$ 367,274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$ 1,364,213</a:t>
                      </a:r>
                    </a:p>
                  </a:txBody>
                  <a:tcPr marL="9484" marR="9484" marT="94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59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300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8504" y="3140864"/>
            <a:ext cx="38972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</a:t>
            </a: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COST USAGE ANALYSIS</a:t>
            </a:r>
            <a:endParaRPr lang="ko-KR" altLang="en-US" sz="1400" b="1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3000" y="967274"/>
            <a:ext cx="4546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"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</a:t>
            </a:r>
            <a:r>
              <a:rPr lang="en-US" altLang="ko-KR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COST TOTAL REPORT IN </a:t>
            </a:r>
            <a:r>
              <a:rPr lang="en-US" altLang="ko-KR" sz="1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MAR</a:t>
            </a:r>
          </a:p>
        </p:txBody>
      </p:sp>
      <p:sp>
        <p:nvSpPr>
          <p:cNvPr id="6" name="Rectangle 1"/>
          <p:cNvSpPr/>
          <p:nvPr/>
        </p:nvSpPr>
        <p:spPr>
          <a:xfrm>
            <a:off x="272480" y="277106"/>
            <a:ext cx="3250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REPORT EXPLANATION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4648" y="3573016"/>
            <a:ext cx="9116857" cy="295232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/>
          <a:lstStyle/>
          <a:p>
            <a:pPr>
              <a:lnSpc>
                <a:spcPct val="150000"/>
              </a:lnSpc>
            </a:pPr>
            <a:r>
              <a:rPr lang="en-US" sz="13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increase/ decrease purchasing cost in </a:t>
            </a:r>
            <a:r>
              <a:rPr lang="en-US" sz="13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</a:t>
            </a:r>
            <a:endParaRPr lang="en-US" sz="13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 in March increased by 54% compared to February and by 6% compared to January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the following </a:t>
            </a: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reasons:</a:t>
            </a:r>
            <a:endParaRPr 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The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was primarily driven by the procurement of key raw materials (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ADC12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S36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S3Y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which accounted for 49% of the total purchasing cost in March.</a:t>
            </a:r>
          </a:p>
          <a:p>
            <a:pPr>
              <a:lnSpc>
                <a:spcPct val="150000"/>
              </a:lnSpc>
            </a:pPr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addition, jig purchasing costs rose significantly, tripling compared to February, mainly due to the procurement of jigs for Project 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988709"/>
              </p:ext>
            </p:extLst>
          </p:nvPr>
        </p:nvGraphicFramePr>
        <p:xfrm>
          <a:off x="444648" y="1399427"/>
          <a:ext cx="9044855" cy="1575754"/>
        </p:xfrm>
        <a:graphic>
          <a:graphicData uri="http://schemas.openxmlformats.org/drawingml/2006/table">
            <a:tbl>
              <a:tblPr/>
              <a:tblGrid>
                <a:gridCol w="397435">
                  <a:extLst>
                    <a:ext uri="{9D8B030D-6E8A-4147-A177-3AD203B41FA5}">
                      <a16:colId xmlns:a16="http://schemas.microsoft.com/office/drawing/2014/main" val="1682958007"/>
                    </a:ext>
                  </a:extLst>
                </a:gridCol>
                <a:gridCol w="1115383">
                  <a:extLst>
                    <a:ext uri="{9D8B030D-6E8A-4147-A177-3AD203B41FA5}">
                      <a16:colId xmlns:a16="http://schemas.microsoft.com/office/drawing/2014/main" val="4287038842"/>
                    </a:ext>
                  </a:extLst>
                </a:gridCol>
                <a:gridCol w="1358971">
                  <a:extLst>
                    <a:ext uri="{9D8B030D-6E8A-4147-A177-3AD203B41FA5}">
                      <a16:colId xmlns:a16="http://schemas.microsoft.com/office/drawing/2014/main" val="938158874"/>
                    </a:ext>
                  </a:extLst>
                </a:gridCol>
                <a:gridCol w="1179485">
                  <a:extLst>
                    <a:ext uri="{9D8B030D-6E8A-4147-A177-3AD203B41FA5}">
                      <a16:colId xmlns:a16="http://schemas.microsoft.com/office/drawing/2014/main" val="3947911019"/>
                    </a:ext>
                  </a:extLst>
                </a:gridCol>
                <a:gridCol w="1243588">
                  <a:extLst>
                    <a:ext uri="{9D8B030D-6E8A-4147-A177-3AD203B41FA5}">
                      <a16:colId xmlns:a16="http://schemas.microsoft.com/office/drawing/2014/main" val="1032083642"/>
                    </a:ext>
                  </a:extLst>
                </a:gridCol>
                <a:gridCol w="1221151">
                  <a:extLst>
                    <a:ext uri="{9D8B030D-6E8A-4147-A177-3AD203B41FA5}">
                      <a16:colId xmlns:a16="http://schemas.microsoft.com/office/drawing/2014/main" val="1716366679"/>
                    </a:ext>
                  </a:extLst>
                </a:gridCol>
                <a:gridCol w="951922">
                  <a:extLst>
                    <a:ext uri="{9D8B030D-6E8A-4147-A177-3AD203B41FA5}">
                      <a16:colId xmlns:a16="http://schemas.microsoft.com/office/drawing/2014/main" val="1069730965"/>
                    </a:ext>
                  </a:extLst>
                </a:gridCol>
                <a:gridCol w="1576920">
                  <a:extLst>
                    <a:ext uri="{9D8B030D-6E8A-4147-A177-3AD203B41FA5}">
                      <a16:colId xmlns:a16="http://schemas.microsoft.com/office/drawing/2014/main" val="3681097063"/>
                    </a:ext>
                  </a:extLst>
                </a:gridCol>
              </a:tblGrid>
              <a:tr h="2886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421" marR="8421" marT="842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</a:t>
                      </a: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1USD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/</a:t>
                      </a: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26,00vnd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]</a:t>
                      </a:r>
                    </a:p>
                  </a:txBody>
                  <a:tcPr marL="8421" marR="8421" marT="8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484504"/>
                  </a:ext>
                </a:extLst>
              </a:tr>
              <a:tr h="5894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Average  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 Total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92129"/>
                  </a:ext>
                </a:extLst>
              </a:tr>
              <a:tr h="6976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PURCHASING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Purchase cost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$ 1,818,730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$ 1,989,086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$ 1,370,862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$ 2,105,543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$ 5,465,491</a:t>
                      </a:r>
                    </a:p>
                  </a:txBody>
                  <a:tcPr marL="8421" marR="8421" marT="84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939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827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480" y="293679"/>
            <a:ext cx="30134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SALARY COST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94434" y="756666"/>
            <a:ext cx="28303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REPORT BY ITEM 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4435" y="1024470"/>
            <a:ext cx="9073008" cy="504056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  <a:buFont typeface="Wingdings" pitchFamily="2" charset="2"/>
              <a:buChar char="ü"/>
            </a:pP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394435" y="4139105"/>
            <a:ext cx="26080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SALARY REPORT BY DEP’T 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93251" y="853411"/>
            <a:ext cx="682409" cy="1538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[USD </a:t>
            </a:r>
            <a:r>
              <a:rPr lang="en-US" sz="800" b="1" dirty="0" smtClean="0">
                <a:solidFill>
                  <a:schemeClr val="tx1"/>
                </a:solidFill>
              </a:rPr>
              <a:t>26,000</a:t>
            </a:r>
            <a:r>
              <a:rPr lang="en-US" sz="8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Rectangle 5"/>
          <p:cNvSpPr/>
          <p:nvPr/>
        </p:nvSpPr>
        <p:spPr>
          <a:xfrm>
            <a:off x="8894603" y="4174851"/>
            <a:ext cx="879707" cy="31455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b="1" dirty="0">
                <a:solidFill>
                  <a:schemeClr val="tx1"/>
                </a:solidFill>
              </a:rPr>
              <a:t>[USD </a:t>
            </a:r>
            <a:r>
              <a:rPr lang="en-US" sz="800" b="1" dirty="0" smtClean="0">
                <a:solidFill>
                  <a:schemeClr val="tx1"/>
                </a:solidFill>
              </a:rPr>
              <a:t>26,000</a:t>
            </a:r>
            <a:r>
              <a:rPr lang="en-US" sz="800" b="1" dirty="0">
                <a:solidFill>
                  <a:schemeClr val="tx1"/>
                </a:solidFill>
              </a:rPr>
              <a:t>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73701"/>
              </p:ext>
            </p:extLst>
          </p:nvPr>
        </p:nvGraphicFramePr>
        <p:xfrm>
          <a:off x="266137" y="1051506"/>
          <a:ext cx="9508172" cy="3047737"/>
        </p:xfrm>
        <a:graphic>
          <a:graphicData uri="http://schemas.openxmlformats.org/drawingml/2006/table">
            <a:tbl>
              <a:tblPr/>
              <a:tblGrid>
                <a:gridCol w="344563">
                  <a:extLst>
                    <a:ext uri="{9D8B030D-6E8A-4147-A177-3AD203B41FA5}">
                      <a16:colId xmlns:a16="http://schemas.microsoft.com/office/drawing/2014/main" val="3345468188"/>
                    </a:ext>
                  </a:extLst>
                </a:gridCol>
                <a:gridCol w="855468">
                  <a:extLst>
                    <a:ext uri="{9D8B030D-6E8A-4147-A177-3AD203B41FA5}">
                      <a16:colId xmlns:a16="http://schemas.microsoft.com/office/drawing/2014/main" val="774942245"/>
                    </a:ext>
                  </a:extLst>
                </a:gridCol>
                <a:gridCol w="1318847">
                  <a:extLst>
                    <a:ext uri="{9D8B030D-6E8A-4147-A177-3AD203B41FA5}">
                      <a16:colId xmlns:a16="http://schemas.microsoft.com/office/drawing/2014/main" val="1317649472"/>
                    </a:ext>
                  </a:extLst>
                </a:gridCol>
                <a:gridCol w="757446">
                  <a:extLst>
                    <a:ext uri="{9D8B030D-6E8A-4147-A177-3AD203B41FA5}">
                      <a16:colId xmlns:a16="http://schemas.microsoft.com/office/drawing/2014/main" val="1042790473"/>
                    </a:ext>
                  </a:extLst>
                </a:gridCol>
                <a:gridCol w="392089">
                  <a:extLst>
                    <a:ext uri="{9D8B030D-6E8A-4147-A177-3AD203B41FA5}">
                      <a16:colId xmlns:a16="http://schemas.microsoft.com/office/drawing/2014/main" val="646770930"/>
                    </a:ext>
                  </a:extLst>
                </a:gridCol>
                <a:gridCol w="721802">
                  <a:extLst>
                    <a:ext uri="{9D8B030D-6E8A-4147-A177-3AD203B41FA5}">
                      <a16:colId xmlns:a16="http://schemas.microsoft.com/office/drawing/2014/main" val="252799204"/>
                    </a:ext>
                  </a:extLst>
                </a:gridCol>
                <a:gridCol w="570312">
                  <a:extLst>
                    <a:ext uri="{9D8B030D-6E8A-4147-A177-3AD203B41FA5}">
                      <a16:colId xmlns:a16="http://schemas.microsoft.com/office/drawing/2014/main" val="2239380909"/>
                    </a:ext>
                  </a:extLst>
                </a:gridCol>
                <a:gridCol w="739624">
                  <a:extLst>
                    <a:ext uri="{9D8B030D-6E8A-4147-A177-3AD203B41FA5}">
                      <a16:colId xmlns:a16="http://schemas.microsoft.com/office/drawing/2014/main" val="900177798"/>
                    </a:ext>
                  </a:extLst>
                </a:gridCol>
                <a:gridCol w="686156">
                  <a:extLst>
                    <a:ext uri="{9D8B030D-6E8A-4147-A177-3AD203B41FA5}">
                      <a16:colId xmlns:a16="http://schemas.microsoft.com/office/drawing/2014/main" val="3241006813"/>
                    </a:ext>
                  </a:extLst>
                </a:gridCol>
                <a:gridCol w="748828">
                  <a:extLst>
                    <a:ext uri="{9D8B030D-6E8A-4147-A177-3AD203B41FA5}">
                      <a16:colId xmlns:a16="http://schemas.microsoft.com/office/drawing/2014/main" val="775191480"/>
                    </a:ext>
                  </a:extLst>
                </a:gridCol>
                <a:gridCol w="555167">
                  <a:extLst>
                    <a:ext uri="{9D8B030D-6E8A-4147-A177-3AD203B41FA5}">
                      <a16:colId xmlns:a16="http://schemas.microsoft.com/office/drawing/2014/main" val="616751662"/>
                    </a:ext>
                  </a:extLst>
                </a:gridCol>
                <a:gridCol w="864379">
                  <a:extLst>
                    <a:ext uri="{9D8B030D-6E8A-4147-A177-3AD203B41FA5}">
                      <a16:colId xmlns:a16="http://schemas.microsoft.com/office/drawing/2014/main" val="1575495701"/>
                    </a:ext>
                  </a:extLst>
                </a:gridCol>
                <a:gridCol w="953491">
                  <a:extLst>
                    <a:ext uri="{9D8B030D-6E8A-4147-A177-3AD203B41FA5}">
                      <a16:colId xmlns:a16="http://schemas.microsoft.com/office/drawing/2014/main" val="1762760885"/>
                    </a:ext>
                  </a:extLst>
                </a:gridCol>
              </a:tblGrid>
              <a:tr h="19978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39406"/>
                  </a:ext>
                </a:extLst>
              </a:tr>
              <a:tr h="1997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082251"/>
                  </a:ext>
                </a:extLst>
              </a:tr>
              <a:tr h="1997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1,196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822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186409"/>
                  </a:ext>
                </a:extLst>
              </a:tr>
              <a:tr h="1997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856912"/>
                  </a:ext>
                </a:extLst>
              </a:tr>
              <a:tr h="221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220,537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215,302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208,985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212,237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212,175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636,524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701633"/>
                  </a:ext>
                </a:extLst>
              </a:tr>
              <a:tr h="221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174,804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149,342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177,140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177,623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532,870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854784"/>
                  </a:ext>
                </a:extLst>
              </a:tr>
              <a:tr h="2064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Allowances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skill, senior, studiousness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64,322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62,589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53,968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61,232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59,263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177,789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638034"/>
                  </a:ext>
                </a:extLst>
              </a:tr>
              <a:tr h="4058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Other Additions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annual leave, productivity bonus fee for introduce workers, covid test fee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3,961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3,930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3,539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2,584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7,751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91413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Bonus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Tet holidays, good tasks...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18,870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96,744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94,842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63,862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191,586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25705"/>
                  </a:ext>
                </a:extLst>
              </a:tr>
              <a:tr h="2733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best employees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persons/month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476700"/>
                  </a:ext>
                </a:extLst>
              </a:tr>
              <a:tr h="2733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Resigned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salary + allowances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5,699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9,662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3,221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9,662.00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796759"/>
                  </a:ext>
                </a:extLst>
              </a:tr>
              <a:tr h="221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2,317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885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839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1,090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938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2,814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179599"/>
                  </a:ext>
                </a:extLst>
              </a:tr>
              <a:tr h="22153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$ 490,511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$ 489,093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$ 510,159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559,742 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$ 519,665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$ 1,558,995</a:t>
                      </a:r>
                    </a:p>
                  </a:txBody>
                  <a:tcPr marL="8540" marR="8540" marT="8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05005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148786"/>
              </p:ext>
            </p:extLst>
          </p:nvPr>
        </p:nvGraphicFramePr>
        <p:xfrm>
          <a:off x="266137" y="4470133"/>
          <a:ext cx="9508171" cy="2204239"/>
        </p:xfrm>
        <a:graphic>
          <a:graphicData uri="http://schemas.openxmlformats.org/drawingml/2006/table">
            <a:tbl>
              <a:tblPr/>
              <a:tblGrid>
                <a:gridCol w="632787">
                  <a:extLst>
                    <a:ext uri="{9D8B030D-6E8A-4147-A177-3AD203B41FA5}">
                      <a16:colId xmlns:a16="http://schemas.microsoft.com/office/drawing/2014/main" val="312370943"/>
                    </a:ext>
                  </a:extLst>
                </a:gridCol>
                <a:gridCol w="883719">
                  <a:extLst>
                    <a:ext uri="{9D8B030D-6E8A-4147-A177-3AD203B41FA5}">
                      <a16:colId xmlns:a16="http://schemas.microsoft.com/office/drawing/2014/main" val="2399242202"/>
                    </a:ext>
                  </a:extLst>
                </a:gridCol>
                <a:gridCol w="630060">
                  <a:extLst>
                    <a:ext uri="{9D8B030D-6E8A-4147-A177-3AD203B41FA5}">
                      <a16:colId xmlns:a16="http://schemas.microsoft.com/office/drawing/2014/main" val="2295717625"/>
                    </a:ext>
                  </a:extLst>
                </a:gridCol>
                <a:gridCol w="589146">
                  <a:extLst>
                    <a:ext uri="{9D8B030D-6E8A-4147-A177-3AD203B41FA5}">
                      <a16:colId xmlns:a16="http://schemas.microsoft.com/office/drawing/2014/main" val="2003394665"/>
                    </a:ext>
                  </a:extLst>
                </a:gridCol>
                <a:gridCol w="474591">
                  <a:extLst>
                    <a:ext uri="{9D8B030D-6E8A-4147-A177-3AD203B41FA5}">
                      <a16:colId xmlns:a16="http://schemas.microsoft.com/office/drawing/2014/main" val="947519388"/>
                    </a:ext>
                  </a:extLst>
                </a:gridCol>
                <a:gridCol w="523685">
                  <a:extLst>
                    <a:ext uri="{9D8B030D-6E8A-4147-A177-3AD203B41FA5}">
                      <a16:colId xmlns:a16="http://schemas.microsoft.com/office/drawing/2014/main" val="849284280"/>
                    </a:ext>
                  </a:extLst>
                </a:gridCol>
                <a:gridCol w="556417">
                  <a:extLst>
                    <a:ext uri="{9D8B030D-6E8A-4147-A177-3AD203B41FA5}">
                      <a16:colId xmlns:a16="http://schemas.microsoft.com/office/drawing/2014/main" val="3922140772"/>
                    </a:ext>
                  </a:extLst>
                </a:gridCol>
                <a:gridCol w="523685">
                  <a:extLst>
                    <a:ext uri="{9D8B030D-6E8A-4147-A177-3AD203B41FA5}">
                      <a16:colId xmlns:a16="http://schemas.microsoft.com/office/drawing/2014/main" val="924891745"/>
                    </a:ext>
                  </a:extLst>
                </a:gridCol>
                <a:gridCol w="523685">
                  <a:extLst>
                    <a:ext uri="{9D8B030D-6E8A-4147-A177-3AD203B41FA5}">
                      <a16:colId xmlns:a16="http://schemas.microsoft.com/office/drawing/2014/main" val="2114136516"/>
                    </a:ext>
                  </a:extLst>
                </a:gridCol>
                <a:gridCol w="556417">
                  <a:extLst>
                    <a:ext uri="{9D8B030D-6E8A-4147-A177-3AD203B41FA5}">
                      <a16:colId xmlns:a16="http://schemas.microsoft.com/office/drawing/2014/main" val="2299168810"/>
                    </a:ext>
                  </a:extLst>
                </a:gridCol>
                <a:gridCol w="499138">
                  <a:extLst>
                    <a:ext uri="{9D8B030D-6E8A-4147-A177-3AD203B41FA5}">
                      <a16:colId xmlns:a16="http://schemas.microsoft.com/office/drawing/2014/main" val="2625379168"/>
                    </a:ext>
                  </a:extLst>
                </a:gridCol>
                <a:gridCol w="525781">
                  <a:extLst>
                    <a:ext uri="{9D8B030D-6E8A-4147-A177-3AD203B41FA5}">
                      <a16:colId xmlns:a16="http://schemas.microsoft.com/office/drawing/2014/main" val="1083955551"/>
                    </a:ext>
                  </a:extLst>
                </a:gridCol>
                <a:gridCol w="707064">
                  <a:extLst>
                    <a:ext uri="{9D8B030D-6E8A-4147-A177-3AD203B41FA5}">
                      <a16:colId xmlns:a16="http://schemas.microsoft.com/office/drawing/2014/main" val="1908285855"/>
                    </a:ext>
                  </a:extLst>
                </a:gridCol>
                <a:gridCol w="425495">
                  <a:extLst>
                    <a:ext uri="{9D8B030D-6E8A-4147-A177-3AD203B41FA5}">
                      <a16:colId xmlns:a16="http://schemas.microsoft.com/office/drawing/2014/main" val="1464380592"/>
                    </a:ext>
                  </a:extLst>
                </a:gridCol>
                <a:gridCol w="670972">
                  <a:extLst>
                    <a:ext uri="{9D8B030D-6E8A-4147-A177-3AD203B41FA5}">
                      <a16:colId xmlns:a16="http://schemas.microsoft.com/office/drawing/2014/main" val="1678498040"/>
                    </a:ext>
                  </a:extLst>
                </a:gridCol>
                <a:gridCol w="785529">
                  <a:extLst>
                    <a:ext uri="{9D8B030D-6E8A-4147-A177-3AD203B41FA5}">
                      <a16:colId xmlns:a16="http://schemas.microsoft.com/office/drawing/2014/main" val="2162352779"/>
                    </a:ext>
                  </a:extLst>
                </a:gridCol>
              </a:tblGrid>
              <a:tr h="28587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 Avg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380538"/>
                  </a:ext>
                </a:extLst>
              </a:tr>
              <a:tr h="225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44207"/>
                  </a:ext>
                </a:extLst>
              </a:tr>
              <a:tr h="3009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Person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19021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105,884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133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110,046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134,271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141,836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128,718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386,153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06751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Technician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83,875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89,989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92,502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98,880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93,790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281,371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511148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673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298,434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612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288,173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282,547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317,936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296,219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888,656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78857"/>
                  </a:ext>
                </a:extLst>
              </a:tr>
              <a:tr h="2783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 OP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2,317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885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839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1,090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938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2,814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29324"/>
                  </a:ext>
                </a:extLst>
              </a:tr>
              <a:tr h="27835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927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490,511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$ 489,093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$ 510,159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822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$ 559,742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519,665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1,558,994 </a:t>
                      </a:r>
                    </a:p>
                  </a:txBody>
                  <a:tcPr marL="8184" marR="8184" marT="81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25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10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480" y="295357"/>
            <a:ext cx="24212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OT </a:t>
            </a:r>
            <a:r>
              <a:rPr lang="en-US" altLang="ko-KR" sz="2000" b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– OVERTIME  </a:t>
            </a:r>
            <a:endParaRPr lang="en-US" altLang="ko-KR" sz="2000" b="1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496" y="822677"/>
            <a:ext cx="22772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OT REPORT BY TITLE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862964" y="952001"/>
            <a:ext cx="72006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[Time/hour]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231" y="4581128"/>
            <a:ext cx="20374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OT REPORT BY </a:t>
            </a:r>
            <a:r>
              <a:rPr lang="en-US" altLang="ko-KR" sz="1400" b="1" u="sng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DEPT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332574"/>
              </p:ext>
            </p:extLst>
          </p:nvPr>
        </p:nvGraphicFramePr>
        <p:xfrm>
          <a:off x="300248" y="1126725"/>
          <a:ext cx="9282770" cy="3379458"/>
        </p:xfrm>
        <a:graphic>
          <a:graphicData uri="http://schemas.openxmlformats.org/drawingml/2006/table">
            <a:tbl>
              <a:tblPr/>
              <a:tblGrid>
                <a:gridCol w="404280">
                  <a:extLst>
                    <a:ext uri="{9D8B030D-6E8A-4147-A177-3AD203B41FA5}">
                      <a16:colId xmlns:a16="http://schemas.microsoft.com/office/drawing/2014/main" val="29133765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009580420"/>
                    </a:ext>
                  </a:extLst>
                </a:gridCol>
                <a:gridCol w="1085385">
                  <a:extLst>
                    <a:ext uri="{9D8B030D-6E8A-4147-A177-3AD203B41FA5}">
                      <a16:colId xmlns:a16="http://schemas.microsoft.com/office/drawing/2014/main" val="3082910733"/>
                    </a:ext>
                  </a:extLst>
                </a:gridCol>
                <a:gridCol w="515608">
                  <a:extLst>
                    <a:ext uri="{9D8B030D-6E8A-4147-A177-3AD203B41FA5}">
                      <a16:colId xmlns:a16="http://schemas.microsoft.com/office/drawing/2014/main" val="2631743532"/>
                    </a:ext>
                  </a:extLst>
                </a:gridCol>
                <a:gridCol w="513766">
                  <a:extLst>
                    <a:ext uri="{9D8B030D-6E8A-4147-A177-3AD203B41FA5}">
                      <a16:colId xmlns:a16="http://schemas.microsoft.com/office/drawing/2014/main" val="291470182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3072704220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3474836102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2762334220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1646880256"/>
                    </a:ext>
                  </a:extLst>
                </a:gridCol>
                <a:gridCol w="456681">
                  <a:extLst>
                    <a:ext uri="{9D8B030D-6E8A-4147-A177-3AD203B41FA5}">
                      <a16:colId xmlns:a16="http://schemas.microsoft.com/office/drawing/2014/main" val="3101036163"/>
                    </a:ext>
                  </a:extLst>
                </a:gridCol>
                <a:gridCol w="452998">
                  <a:extLst>
                    <a:ext uri="{9D8B030D-6E8A-4147-A177-3AD203B41FA5}">
                      <a16:colId xmlns:a16="http://schemas.microsoft.com/office/drawing/2014/main" val="1174675762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3176382121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3365647447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656115021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161004068"/>
                    </a:ext>
                  </a:extLst>
                </a:gridCol>
                <a:gridCol w="464047">
                  <a:extLst>
                    <a:ext uri="{9D8B030D-6E8A-4147-A177-3AD203B41FA5}">
                      <a16:colId xmlns:a16="http://schemas.microsoft.com/office/drawing/2014/main" val="209961242"/>
                    </a:ext>
                  </a:extLst>
                </a:gridCol>
                <a:gridCol w="464047">
                  <a:extLst>
                    <a:ext uri="{9D8B030D-6E8A-4147-A177-3AD203B41FA5}">
                      <a16:colId xmlns:a16="http://schemas.microsoft.com/office/drawing/2014/main" val="2001157654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2240192549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4002147058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2996501656"/>
                    </a:ext>
                  </a:extLst>
                </a:gridCol>
                <a:gridCol w="309364">
                  <a:extLst>
                    <a:ext uri="{9D8B030D-6E8A-4147-A177-3AD203B41FA5}">
                      <a16:colId xmlns:a16="http://schemas.microsoft.com/office/drawing/2014/main" val="2424341701"/>
                    </a:ext>
                  </a:extLst>
                </a:gridCol>
                <a:gridCol w="493510">
                  <a:extLst>
                    <a:ext uri="{9D8B030D-6E8A-4147-A177-3AD203B41FA5}">
                      <a16:colId xmlns:a16="http://schemas.microsoft.com/office/drawing/2014/main" val="2549440218"/>
                    </a:ext>
                  </a:extLst>
                </a:gridCol>
              </a:tblGrid>
              <a:tr h="21400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Dept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18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OVERTIME WORKING 2026 (OT - hrs)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OT 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in 2026</a:t>
                      </a:r>
                    </a:p>
                  </a:txBody>
                  <a:tcPr marL="6084" marR="6084" marT="6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46296"/>
                  </a:ext>
                </a:extLst>
              </a:tr>
              <a:tr h="1975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81468"/>
                  </a:ext>
                </a:extLst>
              </a:tr>
              <a:tr h="323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407604"/>
                  </a:ext>
                </a:extLst>
              </a:tr>
              <a:tr h="271623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ACCOUNT/PUR/EXIM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119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556409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HR/ GA/ EHS/IT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959566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 PLAN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761672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R&amp;D/PT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406116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SALES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15036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UTILITY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3,241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2,234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2,737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2,737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42702"/>
                  </a:ext>
                </a:extLst>
              </a:tr>
              <a:tr h="17317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DIE-CASTING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8,963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6,287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6,591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7,280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50484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PRESS/TRIM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7,169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5,081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5,153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5,801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454327"/>
                  </a:ext>
                </a:extLst>
              </a:tr>
              <a:tr h="173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25,013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17,302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18,457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20,257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214065"/>
                  </a:ext>
                </a:extLst>
              </a:tr>
              <a:tr h="2716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W.H/ASS/INJ/POL/CHR/HOT/ALR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23,623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17,190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17,224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19,345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13791"/>
                  </a:ext>
                </a:extLst>
              </a:tr>
              <a:tr h="205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MOULDING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2,312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1,565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1,650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1,842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305150"/>
                  </a:ext>
                </a:extLst>
              </a:tr>
              <a:tr h="230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QA-QC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IOPQC,C/S, RELIAB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9,788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109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7,386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7,796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8,323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433360"/>
                  </a:ext>
                </a:extLst>
              </a:tr>
              <a:tr h="27985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1,168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58,840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1,014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61,415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640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67,417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27931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51627"/>
              </p:ext>
            </p:extLst>
          </p:nvPr>
        </p:nvGraphicFramePr>
        <p:xfrm>
          <a:off x="307597" y="4948734"/>
          <a:ext cx="9275417" cy="1720627"/>
        </p:xfrm>
        <a:graphic>
          <a:graphicData uri="http://schemas.openxmlformats.org/drawingml/2006/table">
            <a:tbl>
              <a:tblPr/>
              <a:tblGrid>
                <a:gridCol w="159064">
                  <a:extLst>
                    <a:ext uri="{9D8B030D-6E8A-4147-A177-3AD203B41FA5}">
                      <a16:colId xmlns:a16="http://schemas.microsoft.com/office/drawing/2014/main" val="1214081567"/>
                    </a:ext>
                  </a:extLst>
                </a:gridCol>
                <a:gridCol w="1479296">
                  <a:extLst>
                    <a:ext uri="{9D8B030D-6E8A-4147-A177-3AD203B41FA5}">
                      <a16:colId xmlns:a16="http://schemas.microsoft.com/office/drawing/2014/main" val="3675073917"/>
                    </a:ext>
                  </a:extLst>
                </a:gridCol>
                <a:gridCol w="556724">
                  <a:extLst>
                    <a:ext uri="{9D8B030D-6E8A-4147-A177-3AD203B41FA5}">
                      <a16:colId xmlns:a16="http://schemas.microsoft.com/office/drawing/2014/main" val="3018010025"/>
                    </a:ext>
                  </a:extLst>
                </a:gridCol>
                <a:gridCol w="554736">
                  <a:extLst>
                    <a:ext uri="{9D8B030D-6E8A-4147-A177-3AD203B41FA5}">
                      <a16:colId xmlns:a16="http://schemas.microsoft.com/office/drawing/2014/main" val="595374341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2190020370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2902271656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163392809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421074087"/>
                    </a:ext>
                  </a:extLst>
                </a:gridCol>
                <a:gridCol w="343423">
                  <a:extLst>
                    <a:ext uri="{9D8B030D-6E8A-4147-A177-3AD203B41FA5}">
                      <a16:colId xmlns:a16="http://schemas.microsoft.com/office/drawing/2014/main" val="73081075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719573489"/>
                    </a:ext>
                  </a:extLst>
                </a:gridCol>
                <a:gridCol w="468775">
                  <a:extLst>
                    <a:ext uri="{9D8B030D-6E8A-4147-A177-3AD203B41FA5}">
                      <a16:colId xmlns:a16="http://schemas.microsoft.com/office/drawing/2014/main" val="819586586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1677110266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1224604432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3789963942"/>
                    </a:ext>
                  </a:extLst>
                </a:gridCol>
                <a:gridCol w="501052">
                  <a:extLst>
                    <a:ext uri="{9D8B030D-6E8A-4147-A177-3AD203B41FA5}">
                      <a16:colId xmlns:a16="http://schemas.microsoft.com/office/drawing/2014/main" val="3942904118"/>
                    </a:ext>
                  </a:extLst>
                </a:gridCol>
                <a:gridCol w="501052">
                  <a:extLst>
                    <a:ext uri="{9D8B030D-6E8A-4147-A177-3AD203B41FA5}">
                      <a16:colId xmlns:a16="http://schemas.microsoft.com/office/drawing/2014/main" val="3635284570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646042467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3521472482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4122132183"/>
                    </a:ext>
                  </a:extLst>
                </a:gridCol>
                <a:gridCol w="334034">
                  <a:extLst>
                    <a:ext uri="{9D8B030D-6E8A-4147-A177-3AD203B41FA5}">
                      <a16:colId xmlns:a16="http://schemas.microsoft.com/office/drawing/2014/main" val="1464067830"/>
                    </a:ext>
                  </a:extLst>
                </a:gridCol>
                <a:gridCol w="532865">
                  <a:extLst>
                    <a:ext uri="{9D8B030D-6E8A-4147-A177-3AD203B41FA5}">
                      <a16:colId xmlns:a16="http://schemas.microsoft.com/office/drawing/2014/main" val="3770818935"/>
                    </a:ext>
                  </a:extLst>
                </a:gridCol>
              </a:tblGrid>
              <a:tr h="18657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18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MONTHLY OVERTIME WORKING 2025 FOR TITLE (OT -hrs)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OT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in 2026</a:t>
                      </a:r>
                    </a:p>
                  </a:txBody>
                  <a:tcPr marL="6084" marR="6084" marT="60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59990"/>
                  </a:ext>
                </a:extLst>
              </a:tr>
              <a:tr h="1796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340258"/>
                  </a:ext>
                </a:extLst>
              </a:tr>
              <a:tr h="2764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70520"/>
                  </a:ext>
                </a:extLst>
              </a:tr>
              <a:tr h="2764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Management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133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6,322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48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5,026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131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5,921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115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5,756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431664"/>
                  </a:ext>
                </a:extLst>
              </a:tr>
              <a:tr h="2764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Technician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12,520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103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9,186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117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9,770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10,492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97002"/>
                  </a:ext>
                </a:extLst>
              </a:tr>
              <a:tr h="2764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612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63,156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142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103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616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44,628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128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574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45,724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51,169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726561"/>
                  </a:ext>
                </a:extLst>
              </a:tr>
              <a:tr h="24876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867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81,998.0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393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253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874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58,839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372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-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185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822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61,414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324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30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208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67,417 </a:t>
                      </a:r>
                    </a:p>
                  </a:txBody>
                  <a:tcPr marL="6084" marR="6084" marT="608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479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10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0472" y="332656"/>
            <a:ext cx="2160240" cy="360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OT- OVERTIME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8504" y="836712"/>
            <a:ext cx="2592288" cy="28803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OT &amp; AMOUNT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595EE-A60D-3B73-7594-E26FC7E993E8}"/>
              </a:ext>
            </a:extLst>
          </p:cNvPr>
          <p:cNvSpPr txBox="1"/>
          <p:nvPr/>
        </p:nvSpPr>
        <p:spPr>
          <a:xfrm>
            <a:off x="8551026" y="980728"/>
            <a:ext cx="866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[USD </a:t>
            </a:r>
            <a:r>
              <a:rPr lang="en-US" altLang="ko-KR" sz="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26,000</a:t>
            </a:r>
            <a:r>
              <a:rPr lang="en-US" altLang="ko-KR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25074"/>
              </p:ext>
            </p:extLst>
          </p:nvPr>
        </p:nvGraphicFramePr>
        <p:xfrm>
          <a:off x="502097" y="1412776"/>
          <a:ext cx="8915399" cy="4896544"/>
        </p:xfrm>
        <a:graphic>
          <a:graphicData uri="http://schemas.openxmlformats.org/drawingml/2006/table">
            <a:tbl>
              <a:tblPr/>
              <a:tblGrid>
                <a:gridCol w="881790">
                  <a:extLst>
                    <a:ext uri="{9D8B030D-6E8A-4147-A177-3AD203B41FA5}">
                      <a16:colId xmlns:a16="http://schemas.microsoft.com/office/drawing/2014/main" val="1562329516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4050773949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366290473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1029852034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763614610"/>
                    </a:ext>
                  </a:extLst>
                </a:gridCol>
                <a:gridCol w="576555">
                  <a:extLst>
                    <a:ext uri="{9D8B030D-6E8A-4147-A177-3AD203B41FA5}">
                      <a16:colId xmlns:a16="http://schemas.microsoft.com/office/drawing/2014/main" val="1603837602"/>
                    </a:ext>
                  </a:extLst>
                </a:gridCol>
                <a:gridCol w="680419">
                  <a:extLst>
                    <a:ext uri="{9D8B030D-6E8A-4147-A177-3AD203B41FA5}">
                      <a16:colId xmlns:a16="http://schemas.microsoft.com/office/drawing/2014/main" val="1282414104"/>
                    </a:ext>
                  </a:extLst>
                </a:gridCol>
                <a:gridCol w="661342">
                  <a:extLst>
                    <a:ext uri="{9D8B030D-6E8A-4147-A177-3AD203B41FA5}">
                      <a16:colId xmlns:a16="http://schemas.microsoft.com/office/drawing/2014/main" val="4066910767"/>
                    </a:ext>
                  </a:extLst>
                </a:gridCol>
                <a:gridCol w="610470">
                  <a:extLst>
                    <a:ext uri="{9D8B030D-6E8A-4147-A177-3AD203B41FA5}">
                      <a16:colId xmlns:a16="http://schemas.microsoft.com/office/drawing/2014/main" val="795690026"/>
                    </a:ext>
                  </a:extLst>
                </a:gridCol>
                <a:gridCol w="568076">
                  <a:extLst>
                    <a:ext uri="{9D8B030D-6E8A-4147-A177-3AD203B41FA5}">
                      <a16:colId xmlns:a16="http://schemas.microsoft.com/office/drawing/2014/main" val="1427326052"/>
                    </a:ext>
                  </a:extLst>
                </a:gridCol>
                <a:gridCol w="542640">
                  <a:extLst>
                    <a:ext uri="{9D8B030D-6E8A-4147-A177-3AD203B41FA5}">
                      <a16:colId xmlns:a16="http://schemas.microsoft.com/office/drawing/2014/main" val="4173727695"/>
                    </a:ext>
                  </a:extLst>
                </a:gridCol>
                <a:gridCol w="627427">
                  <a:extLst>
                    <a:ext uri="{9D8B030D-6E8A-4147-A177-3AD203B41FA5}">
                      <a16:colId xmlns:a16="http://schemas.microsoft.com/office/drawing/2014/main" val="1178540330"/>
                    </a:ext>
                  </a:extLst>
                </a:gridCol>
                <a:gridCol w="604110">
                  <a:extLst>
                    <a:ext uri="{9D8B030D-6E8A-4147-A177-3AD203B41FA5}">
                      <a16:colId xmlns:a16="http://schemas.microsoft.com/office/drawing/2014/main" val="1868827983"/>
                    </a:ext>
                  </a:extLst>
                </a:gridCol>
                <a:gridCol w="746130">
                  <a:extLst>
                    <a:ext uri="{9D8B030D-6E8A-4147-A177-3AD203B41FA5}">
                      <a16:colId xmlns:a16="http://schemas.microsoft.com/office/drawing/2014/main" val="4286209682"/>
                    </a:ext>
                  </a:extLst>
                </a:gridCol>
              </a:tblGrid>
              <a:tr h="666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Month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Jan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Feb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Mar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Apr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May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Jun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Jul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Aug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Sep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Oct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Nov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 Dec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008330"/>
                  </a:ext>
                </a:extLst>
              </a:tr>
              <a:tr h="666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Person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867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822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$ 2,563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292760"/>
                  </a:ext>
                </a:extLst>
              </a:tr>
              <a:tr h="666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40hrs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34,680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52,440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32,880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$ 120,000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826407"/>
                  </a:ext>
                </a:extLst>
              </a:tr>
              <a:tr h="6666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Actual OT (hrs)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81,998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58,839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61,414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$ 202,252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319303"/>
                  </a:ext>
                </a:extLst>
              </a:tr>
              <a:tr h="557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Balance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</a:t>
                      </a:r>
                    </a:p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hrs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47,318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6,400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28,535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$ 82,252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891437"/>
                  </a:ext>
                </a:extLst>
              </a:tr>
              <a:tr h="557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81,493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161,210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87,316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$ 330,019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032822"/>
                  </a:ext>
                </a:extLst>
              </a:tr>
              <a:tr h="557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Actual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OT Amt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206,388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149,342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177,140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$ 532,870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293512"/>
                  </a:ext>
                </a:extLst>
              </a:tr>
              <a:tr h="557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 Amt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124,895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(11,868)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89,824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-   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$ 202,850</a:t>
                      </a:r>
                    </a:p>
                  </a:txBody>
                  <a:tcPr marL="6368" marR="6368" marT="63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26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83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8464" y="181876"/>
            <a:ext cx="764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MANAGEMENT COST DETAIL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316988" y="740616"/>
            <a:ext cx="23762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UTILITY </a:t>
            </a: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TOTAL COST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697416" y="885212"/>
            <a:ext cx="7649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24728" y="3631627"/>
            <a:ext cx="2304256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ELECTRICITY DETAIL</a:t>
            </a:r>
            <a:endParaRPr lang="ko-KR" altLang="en-US" sz="14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38725"/>
              </p:ext>
            </p:extLst>
          </p:nvPr>
        </p:nvGraphicFramePr>
        <p:xfrm>
          <a:off x="316988" y="4015108"/>
          <a:ext cx="9145379" cy="2726262"/>
        </p:xfrm>
        <a:graphic>
          <a:graphicData uri="http://schemas.openxmlformats.org/drawingml/2006/table">
            <a:tbl>
              <a:tblPr/>
              <a:tblGrid>
                <a:gridCol w="1259761">
                  <a:extLst>
                    <a:ext uri="{9D8B030D-6E8A-4147-A177-3AD203B41FA5}">
                      <a16:colId xmlns:a16="http://schemas.microsoft.com/office/drawing/2014/main" val="709684795"/>
                    </a:ext>
                  </a:extLst>
                </a:gridCol>
                <a:gridCol w="1816962">
                  <a:extLst>
                    <a:ext uri="{9D8B030D-6E8A-4147-A177-3AD203B41FA5}">
                      <a16:colId xmlns:a16="http://schemas.microsoft.com/office/drawing/2014/main" val="3123981264"/>
                    </a:ext>
                  </a:extLst>
                </a:gridCol>
                <a:gridCol w="726785">
                  <a:extLst>
                    <a:ext uri="{9D8B030D-6E8A-4147-A177-3AD203B41FA5}">
                      <a16:colId xmlns:a16="http://schemas.microsoft.com/office/drawing/2014/main" val="2130479673"/>
                    </a:ext>
                  </a:extLst>
                </a:gridCol>
                <a:gridCol w="681361">
                  <a:extLst>
                    <a:ext uri="{9D8B030D-6E8A-4147-A177-3AD203B41FA5}">
                      <a16:colId xmlns:a16="http://schemas.microsoft.com/office/drawing/2014/main" val="457987909"/>
                    </a:ext>
                  </a:extLst>
                </a:gridCol>
                <a:gridCol w="751012">
                  <a:extLst>
                    <a:ext uri="{9D8B030D-6E8A-4147-A177-3AD203B41FA5}">
                      <a16:colId xmlns:a16="http://schemas.microsoft.com/office/drawing/2014/main" val="3507442953"/>
                    </a:ext>
                  </a:extLst>
                </a:gridCol>
                <a:gridCol w="872142">
                  <a:extLst>
                    <a:ext uri="{9D8B030D-6E8A-4147-A177-3AD203B41FA5}">
                      <a16:colId xmlns:a16="http://schemas.microsoft.com/office/drawing/2014/main" val="3876680606"/>
                    </a:ext>
                  </a:extLst>
                </a:gridCol>
                <a:gridCol w="787351">
                  <a:extLst>
                    <a:ext uri="{9D8B030D-6E8A-4147-A177-3AD203B41FA5}">
                      <a16:colId xmlns:a16="http://schemas.microsoft.com/office/drawing/2014/main" val="196259866"/>
                    </a:ext>
                  </a:extLst>
                </a:gridCol>
                <a:gridCol w="823689">
                  <a:extLst>
                    <a:ext uri="{9D8B030D-6E8A-4147-A177-3AD203B41FA5}">
                      <a16:colId xmlns:a16="http://schemas.microsoft.com/office/drawing/2014/main" val="4203591595"/>
                    </a:ext>
                  </a:extLst>
                </a:gridCol>
                <a:gridCol w="726785">
                  <a:extLst>
                    <a:ext uri="{9D8B030D-6E8A-4147-A177-3AD203B41FA5}">
                      <a16:colId xmlns:a16="http://schemas.microsoft.com/office/drawing/2014/main" val="394355780"/>
                    </a:ext>
                  </a:extLst>
                </a:gridCol>
                <a:gridCol w="699531">
                  <a:extLst>
                    <a:ext uri="{9D8B030D-6E8A-4147-A177-3AD203B41FA5}">
                      <a16:colId xmlns:a16="http://schemas.microsoft.com/office/drawing/2014/main" val="1838821206"/>
                    </a:ext>
                  </a:extLst>
                </a:gridCol>
              </a:tblGrid>
              <a:tr h="186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 meter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Area using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Dec.25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Jan.25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Feb.25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Mar.25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489583"/>
                  </a:ext>
                </a:extLst>
              </a:tr>
              <a:tr h="1868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KW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29903"/>
                  </a:ext>
                </a:extLst>
              </a:tr>
              <a:tr h="38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3750 KVA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 1, CNC2, Tapping, Chromate, painting, chiller A.chiller CNC auto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1,297,600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84,777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1,294,300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105,842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1,135,700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92,710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1,080,600 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87,653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106963"/>
                  </a:ext>
                </a:extLst>
              </a:tr>
              <a:tr h="3482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2500 KVA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Casting,Trimming, Mold,FCU, Office,Air compressor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1,033,664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53,889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1,076,224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87,731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975,744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79,248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799,168 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64,678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024036"/>
                  </a:ext>
                </a:extLst>
              </a:tr>
              <a:tr h="3312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1250A KVA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Chillers, Chillier for painting, Polishing, Injection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507,040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30,951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481,920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39,366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455,600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37,025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416,960 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33,792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184431"/>
                  </a:ext>
                </a:extLst>
              </a:tr>
              <a:tr h="2802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1250B KVA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Casting,Chiller,New WH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347,910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24,784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336,840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27,452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320,700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26,012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315,030 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25,561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649676"/>
                  </a:ext>
                </a:extLst>
              </a:tr>
              <a:tr h="2802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1250C KVA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Recycling room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395,280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31,230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390,930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33,894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347,160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29,640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305,160 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24,883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303435"/>
                  </a:ext>
                </a:extLst>
              </a:tr>
              <a:tr h="3482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management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and</a:t>
                      </a: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operating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604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604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       604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604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995113"/>
                  </a:ext>
                </a:extLst>
              </a:tr>
              <a:tr h="38218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Total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3,581,494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226,236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3,580,214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  294,889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3,234,904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265,238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2,916,918 </a:t>
                      </a:r>
                    </a:p>
                  </a:txBody>
                  <a:tcPr marL="8856" marR="8856" marT="88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237,172 </a:t>
                      </a:r>
                    </a:p>
                  </a:txBody>
                  <a:tcPr marL="8856" marR="8856" marT="885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8113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06301"/>
              </p:ext>
            </p:extLst>
          </p:nvPr>
        </p:nvGraphicFramePr>
        <p:xfrm>
          <a:off x="288927" y="1100935"/>
          <a:ext cx="9056559" cy="2457056"/>
        </p:xfrm>
        <a:graphic>
          <a:graphicData uri="http://schemas.openxmlformats.org/drawingml/2006/table">
            <a:tbl>
              <a:tblPr/>
              <a:tblGrid>
                <a:gridCol w="655063">
                  <a:extLst>
                    <a:ext uri="{9D8B030D-6E8A-4147-A177-3AD203B41FA5}">
                      <a16:colId xmlns:a16="http://schemas.microsoft.com/office/drawing/2014/main" val="89493013"/>
                    </a:ext>
                  </a:extLst>
                </a:gridCol>
                <a:gridCol w="1520242">
                  <a:extLst>
                    <a:ext uri="{9D8B030D-6E8A-4147-A177-3AD203B41FA5}">
                      <a16:colId xmlns:a16="http://schemas.microsoft.com/office/drawing/2014/main" val="749346758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1169184538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3043466202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3466753629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4047132553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3154252903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1410560167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1327468307"/>
                    </a:ext>
                  </a:extLst>
                </a:gridCol>
                <a:gridCol w="658153">
                  <a:extLst>
                    <a:ext uri="{9D8B030D-6E8A-4147-A177-3AD203B41FA5}">
                      <a16:colId xmlns:a16="http://schemas.microsoft.com/office/drawing/2014/main" val="1603445627"/>
                    </a:ext>
                  </a:extLst>
                </a:gridCol>
                <a:gridCol w="825009">
                  <a:extLst>
                    <a:ext uri="{9D8B030D-6E8A-4147-A177-3AD203B41FA5}">
                      <a16:colId xmlns:a16="http://schemas.microsoft.com/office/drawing/2014/main" val="570632533"/>
                    </a:ext>
                  </a:extLst>
                </a:gridCol>
                <a:gridCol w="791021">
                  <a:extLst>
                    <a:ext uri="{9D8B030D-6E8A-4147-A177-3AD203B41FA5}">
                      <a16:colId xmlns:a16="http://schemas.microsoft.com/office/drawing/2014/main" val="3420647547"/>
                    </a:ext>
                  </a:extLst>
                </a:gridCol>
              </a:tblGrid>
              <a:tr h="24211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52207"/>
                  </a:ext>
                </a:extLst>
              </a:tr>
              <a:tr h="2421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January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February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March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Amt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265408"/>
                  </a:ext>
                </a:extLst>
              </a:tr>
              <a:tr h="3138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Avg Amt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466285"/>
                  </a:ext>
                </a:extLst>
              </a:tr>
              <a:tr h="331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Electricity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290,765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294,889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265,238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237,172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398,650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797,299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342713"/>
                  </a:ext>
                </a:extLst>
              </a:tr>
              <a:tr h="331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Fresh Water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2,093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2,344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2,037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1,484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2,933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5,865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71028"/>
                  </a:ext>
                </a:extLst>
              </a:tr>
              <a:tr h="331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Cost of wastewater treatment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31,500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38,388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26,754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36,384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50,763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101,526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30996"/>
                  </a:ext>
                </a:extLst>
              </a:tr>
              <a:tr h="331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Maintainance cost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65,801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176,778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13,975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6,529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98,641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197,282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577125"/>
                  </a:ext>
                </a:extLst>
              </a:tr>
              <a:tr h="33179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390,159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$ 512,399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$ 308,004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$  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281,569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550,986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</a:t>
                      </a:r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1,101,972 </a:t>
                      </a:r>
                    </a:p>
                  </a:txBody>
                  <a:tcPr marL="8317" marR="8317" marT="83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71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60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425990" y="776453"/>
            <a:ext cx="8839201" cy="276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OFFICE COST DETAIL 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769424" y="806873"/>
            <a:ext cx="7649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30" y="188718"/>
            <a:ext cx="764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MANAGEMENT COST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461622"/>
              </p:ext>
            </p:extLst>
          </p:nvPr>
        </p:nvGraphicFramePr>
        <p:xfrm>
          <a:off x="344486" y="1178807"/>
          <a:ext cx="9189893" cy="5513842"/>
        </p:xfrm>
        <a:graphic>
          <a:graphicData uri="http://schemas.openxmlformats.org/drawingml/2006/table">
            <a:tbl>
              <a:tblPr/>
              <a:tblGrid>
                <a:gridCol w="493607">
                  <a:extLst>
                    <a:ext uri="{9D8B030D-6E8A-4147-A177-3AD203B41FA5}">
                      <a16:colId xmlns:a16="http://schemas.microsoft.com/office/drawing/2014/main" val="2495769722"/>
                    </a:ext>
                  </a:extLst>
                </a:gridCol>
                <a:gridCol w="1103585">
                  <a:extLst>
                    <a:ext uri="{9D8B030D-6E8A-4147-A177-3AD203B41FA5}">
                      <a16:colId xmlns:a16="http://schemas.microsoft.com/office/drawing/2014/main" val="3987412036"/>
                    </a:ext>
                  </a:extLst>
                </a:gridCol>
                <a:gridCol w="1379702">
                  <a:extLst>
                    <a:ext uri="{9D8B030D-6E8A-4147-A177-3AD203B41FA5}">
                      <a16:colId xmlns:a16="http://schemas.microsoft.com/office/drawing/2014/main" val="1327877434"/>
                    </a:ext>
                  </a:extLst>
                </a:gridCol>
                <a:gridCol w="653059">
                  <a:extLst>
                    <a:ext uri="{9D8B030D-6E8A-4147-A177-3AD203B41FA5}">
                      <a16:colId xmlns:a16="http://schemas.microsoft.com/office/drawing/2014/main" val="1449960726"/>
                    </a:ext>
                  </a:extLst>
                </a:gridCol>
                <a:gridCol w="580497">
                  <a:extLst>
                    <a:ext uri="{9D8B030D-6E8A-4147-A177-3AD203B41FA5}">
                      <a16:colId xmlns:a16="http://schemas.microsoft.com/office/drawing/2014/main" val="39138823"/>
                    </a:ext>
                  </a:extLst>
                </a:gridCol>
                <a:gridCol w="653059">
                  <a:extLst>
                    <a:ext uri="{9D8B030D-6E8A-4147-A177-3AD203B41FA5}">
                      <a16:colId xmlns:a16="http://schemas.microsoft.com/office/drawing/2014/main" val="3039474321"/>
                    </a:ext>
                  </a:extLst>
                </a:gridCol>
                <a:gridCol w="507935">
                  <a:extLst>
                    <a:ext uri="{9D8B030D-6E8A-4147-A177-3AD203B41FA5}">
                      <a16:colId xmlns:a16="http://schemas.microsoft.com/office/drawing/2014/main" val="2624318195"/>
                    </a:ext>
                  </a:extLst>
                </a:gridCol>
                <a:gridCol w="680700">
                  <a:extLst>
                    <a:ext uri="{9D8B030D-6E8A-4147-A177-3AD203B41FA5}">
                      <a16:colId xmlns:a16="http://schemas.microsoft.com/office/drawing/2014/main" val="715642861"/>
                    </a:ext>
                  </a:extLst>
                </a:gridCol>
                <a:gridCol w="522957">
                  <a:extLst>
                    <a:ext uri="{9D8B030D-6E8A-4147-A177-3AD203B41FA5}">
                      <a16:colId xmlns:a16="http://schemas.microsoft.com/office/drawing/2014/main" val="3226526514"/>
                    </a:ext>
                  </a:extLst>
                </a:gridCol>
                <a:gridCol w="653698">
                  <a:extLst>
                    <a:ext uri="{9D8B030D-6E8A-4147-A177-3AD203B41FA5}">
                      <a16:colId xmlns:a16="http://schemas.microsoft.com/office/drawing/2014/main" val="215293954"/>
                    </a:ext>
                  </a:extLst>
                </a:gridCol>
                <a:gridCol w="653698">
                  <a:extLst>
                    <a:ext uri="{9D8B030D-6E8A-4147-A177-3AD203B41FA5}">
                      <a16:colId xmlns:a16="http://schemas.microsoft.com/office/drawing/2014/main" val="3779279340"/>
                    </a:ext>
                  </a:extLst>
                </a:gridCol>
                <a:gridCol w="653698">
                  <a:extLst>
                    <a:ext uri="{9D8B030D-6E8A-4147-A177-3AD203B41FA5}">
                      <a16:colId xmlns:a16="http://schemas.microsoft.com/office/drawing/2014/main" val="2277509385"/>
                    </a:ext>
                  </a:extLst>
                </a:gridCol>
                <a:gridCol w="653698">
                  <a:extLst>
                    <a:ext uri="{9D8B030D-6E8A-4147-A177-3AD203B41FA5}">
                      <a16:colId xmlns:a16="http://schemas.microsoft.com/office/drawing/2014/main" val="3016728440"/>
                    </a:ext>
                  </a:extLst>
                </a:gridCol>
              </a:tblGrid>
              <a:tr h="15789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 Y Avg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77545"/>
                  </a:ext>
                </a:extLst>
              </a:tr>
              <a:tr h="1578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368899"/>
                  </a:ext>
                </a:extLst>
              </a:tr>
              <a:tr h="1578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786163"/>
                  </a:ext>
                </a:extLst>
              </a:tr>
              <a:tr h="21499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Vietnamses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34,076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36,795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25,856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32,205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31,619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94,856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86091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Korean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2,413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2,054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2,033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2,303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2,130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6,390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02653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LPG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1,448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1,686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1,270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1,901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1,619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677398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Water drinking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971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568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617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1,105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2,290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034220"/>
                  </a:ext>
                </a:extLst>
              </a:tr>
              <a:tr h="2149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Rent  vehicle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Truck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4,133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5,011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3,415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3,895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4,107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12,321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1366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15,116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16,206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15,465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15,533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15,735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47,204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67543"/>
                  </a:ext>
                </a:extLst>
              </a:tr>
              <a:tr h="21499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Service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Security fee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4,921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5,244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5,035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4,810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5,029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15,088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48234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Cleaning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2,494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2,654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2,559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2,368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2,527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7,581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562955"/>
                  </a:ext>
                </a:extLst>
              </a:tr>
              <a:tr h="3102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Tree service, insect 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service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761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2,281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947812"/>
                  </a:ext>
                </a:extLst>
              </a:tr>
              <a:tr h="214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Labor protection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Uniform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597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020807"/>
                  </a:ext>
                </a:extLst>
              </a:tr>
              <a:tr h="21499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Office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Stationery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4,065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5,006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4,518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4,654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4,726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14,178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106342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Printing, photocopy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489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427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1,363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777481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Computer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4,239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2,150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4,141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9,357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5,216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15,647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070942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Telephone, internet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643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734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660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2,037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227470"/>
                  </a:ext>
                </a:extLst>
              </a:tr>
              <a:tr h="21499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Medicine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750225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Accident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41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106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04287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check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745150"/>
                  </a:ext>
                </a:extLst>
              </a:tr>
              <a:tr h="214993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Related Foreigners' 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expenses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 ticket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9,727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3,944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19,779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3,640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9,121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27,363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49808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Hotel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472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38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173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567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778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18942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Restaurance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639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1,894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3,882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401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2,059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6,177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905719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Visa, working permit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833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150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274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1,085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1,509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376584"/>
                  </a:ext>
                </a:extLst>
              </a:tr>
              <a:tr h="2149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Health check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377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09935"/>
                  </a:ext>
                </a:extLst>
              </a:tr>
              <a:tr h="21499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89,225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85,557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90,979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85,705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87,413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262,240 </a:t>
                      </a:r>
                    </a:p>
                  </a:txBody>
                  <a:tcPr marL="5499" marR="5499" marT="54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783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08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272481" y="764704"/>
            <a:ext cx="792088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PURCHASE COST BY ITEM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770910" y="985208"/>
            <a:ext cx="7906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 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472" y="164438"/>
            <a:ext cx="76467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 COST DETAIL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868920"/>
              </p:ext>
            </p:extLst>
          </p:nvPr>
        </p:nvGraphicFramePr>
        <p:xfrm>
          <a:off x="416495" y="1339406"/>
          <a:ext cx="9145015" cy="5041921"/>
        </p:xfrm>
        <a:graphic>
          <a:graphicData uri="http://schemas.openxmlformats.org/drawingml/2006/table">
            <a:tbl>
              <a:tblPr/>
              <a:tblGrid>
                <a:gridCol w="250263">
                  <a:extLst>
                    <a:ext uri="{9D8B030D-6E8A-4147-A177-3AD203B41FA5}">
                      <a16:colId xmlns:a16="http://schemas.microsoft.com/office/drawing/2014/main" val="604764215"/>
                    </a:ext>
                  </a:extLst>
                </a:gridCol>
                <a:gridCol w="1189898">
                  <a:extLst>
                    <a:ext uri="{9D8B030D-6E8A-4147-A177-3AD203B41FA5}">
                      <a16:colId xmlns:a16="http://schemas.microsoft.com/office/drawing/2014/main" val="333954277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16477881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9514096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37297672"/>
                    </a:ext>
                  </a:extLst>
                </a:gridCol>
                <a:gridCol w="698617">
                  <a:extLst>
                    <a:ext uri="{9D8B030D-6E8A-4147-A177-3AD203B41FA5}">
                      <a16:colId xmlns:a16="http://schemas.microsoft.com/office/drawing/2014/main" val="3358533919"/>
                    </a:ext>
                  </a:extLst>
                </a:gridCol>
                <a:gridCol w="381503">
                  <a:extLst>
                    <a:ext uri="{9D8B030D-6E8A-4147-A177-3AD203B41FA5}">
                      <a16:colId xmlns:a16="http://schemas.microsoft.com/office/drawing/2014/main" val="3924914614"/>
                    </a:ext>
                  </a:extLst>
                </a:gridCol>
                <a:gridCol w="744679">
                  <a:extLst>
                    <a:ext uri="{9D8B030D-6E8A-4147-A177-3AD203B41FA5}">
                      <a16:colId xmlns:a16="http://schemas.microsoft.com/office/drawing/2014/main" val="3912364875"/>
                    </a:ext>
                  </a:extLst>
                </a:gridCol>
                <a:gridCol w="407449">
                  <a:extLst>
                    <a:ext uri="{9D8B030D-6E8A-4147-A177-3AD203B41FA5}">
                      <a16:colId xmlns:a16="http://schemas.microsoft.com/office/drawing/2014/main" val="356673351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6085179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42470565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728552553"/>
                    </a:ext>
                  </a:extLst>
                </a:gridCol>
                <a:gridCol w="864094">
                  <a:extLst>
                    <a:ext uri="{9D8B030D-6E8A-4147-A177-3AD203B41FA5}">
                      <a16:colId xmlns:a16="http://schemas.microsoft.com/office/drawing/2014/main" val="3727236260"/>
                    </a:ext>
                  </a:extLst>
                </a:gridCol>
              </a:tblGrid>
              <a:tr h="19392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547235"/>
                  </a:ext>
                </a:extLst>
              </a:tr>
              <a:tr h="4120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34664"/>
                  </a:ext>
                </a:extLst>
              </a:tr>
              <a:tr h="1696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61456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Fixed assets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Machinery and equipment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294,418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236,662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204,395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189,268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210,108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630,325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089292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Raw materials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Ingot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769,181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922,474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517,215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1,041,235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826,975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2,480,924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300239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Mold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80,734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43,831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74,835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84,543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67,736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203,209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496347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Jig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11,646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5,451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8,521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28,347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14,106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42,319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144915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 tools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57,450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85,532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55,812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59,351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66,898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200,695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048556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Sub-materials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Semi - FGs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52,178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89,557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5,081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122,861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72,500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217,500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5828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Chemical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67,419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46,067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62,075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80,963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63,035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189,105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79981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Oil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66,853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61,168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53,631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74,733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63,177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189,531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361364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Packing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103,655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120,035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72,960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121,820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104,938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314,815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416835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67,600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102,912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72,916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68,270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81,366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244,097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27156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 supplies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192,934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210,360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155,999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172,804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179,721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539,163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51282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Merchandise-Trading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37,146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56,242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79,438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35,860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57,180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171,541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891223"/>
                  </a:ext>
                </a:extLst>
              </a:tr>
              <a:tr h="307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Others (Repair, Service fee...)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17,518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8,795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7,984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25,488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14,089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42,268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003438"/>
                  </a:ext>
                </a:extLst>
              </a:tr>
              <a:tr h="27472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1,818,730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1,989,086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1,370,862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2,105,543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1,821,830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5,465,491 </a:t>
                      </a:r>
                    </a:p>
                  </a:txBody>
                  <a:tcPr marL="6562" marR="6562" marT="65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17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6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2454" y="188640"/>
            <a:ext cx="76467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PURCHASING COST DETAIL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272481" y="764704"/>
            <a:ext cx="2880319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ko-KR" sz="1400" b="1" u="sng" dirty="0">
                <a:solidFill>
                  <a:prstClr val="black"/>
                </a:solidFill>
                <a:latin typeface="Times New Roman" panose="02020603050405020304" pitchFamily="18" charset="0"/>
                <a:ea typeface="맑은 고딕"/>
                <a:cs typeface="Times New Roman" panose="02020603050405020304" pitchFamily="18" charset="0"/>
              </a:rPr>
              <a:t>PURCHASE COST BY DEP’T</a:t>
            </a:r>
            <a:endParaRPr lang="ko-KR" altLang="en-US" sz="1100" b="1" u="sng" dirty="0">
              <a:solidFill>
                <a:prstClr val="black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70910" y="985208"/>
            <a:ext cx="7906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 [USD </a:t>
            </a:r>
            <a:r>
              <a:rPr lang="en-US" altLang="ko-KR" sz="800" b="1" dirty="0" smtClean="0">
                <a:solidFill>
                  <a:srgbClr val="000000"/>
                </a:solidFill>
                <a:latin typeface="Times New Roman"/>
              </a:rPr>
              <a:t>26,000</a:t>
            </a:r>
            <a:r>
              <a:rPr lang="en-US" altLang="ko-KR" sz="800" b="1" dirty="0">
                <a:solidFill>
                  <a:srgbClr val="000000"/>
                </a:solidFill>
                <a:latin typeface="Times New Roman"/>
              </a:rPr>
              <a:t>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69504"/>
              </p:ext>
            </p:extLst>
          </p:nvPr>
        </p:nvGraphicFramePr>
        <p:xfrm>
          <a:off x="344488" y="1200652"/>
          <a:ext cx="9073008" cy="5184585"/>
        </p:xfrm>
        <a:graphic>
          <a:graphicData uri="http://schemas.openxmlformats.org/drawingml/2006/table">
            <a:tbl>
              <a:tblPr/>
              <a:tblGrid>
                <a:gridCol w="263750">
                  <a:extLst>
                    <a:ext uri="{9D8B030D-6E8A-4147-A177-3AD203B41FA5}">
                      <a16:colId xmlns:a16="http://schemas.microsoft.com/office/drawing/2014/main" val="778943051"/>
                    </a:ext>
                  </a:extLst>
                </a:gridCol>
                <a:gridCol w="1464442">
                  <a:extLst>
                    <a:ext uri="{9D8B030D-6E8A-4147-A177-3AD203B41FA5}">
                      <a16:colId xmlns:a16="http://schemas.microsoft.com/office/drawing/2014/main" val="45220024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07216183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4283845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78154820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2491377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7481191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998985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73698199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67582124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92411321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981060479"/>
                    </a:ext>
                  </a:extLst>
                </a:gridCol>
              </a:tblGrid>
              <a:tr h="14595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2025Y Avg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2026Y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43722"/>
                  </a:ext>
                </a:extLst>
              </a:tr>
              <a:tr h="145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Average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369655"/>
                  </a:ext>
                </a:extLst>
              </a:tr>
              <a:tr h="145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815012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Assembly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12,617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15,787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733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76,734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31,085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93,254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205972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Casting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931,689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1,066,270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579,221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1,141,159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928,883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2,786,650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94754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Caulking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9,870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8,215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8,215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941537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Cleaning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1,871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442829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180,846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172,134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67,557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143,333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127,675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383,024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241531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CNC(Maintaining)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35,375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44,406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42,706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44,612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133,836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692442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Dev Team-R&amp;D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33,500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9,579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76,439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76,126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54,048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162,144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842277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EHS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3,831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3,530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2,020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2,775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5,550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838962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Hot press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10,284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553523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Injection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3,280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2,541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3,081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81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1,901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5,703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221211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Mold Dev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97,662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57,044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29,558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39,630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42,077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126,231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191810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N-Chromate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70,126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46,275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62,075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81,627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63,326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189,977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36666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Outsourcing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67,637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102,912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72,916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68,270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81,366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244,097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017107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Packing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-  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11712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Laser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6,730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25,334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25,334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75327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Polishing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25,250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8,660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141,350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2,215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50,741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152,224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19588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 support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77,880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105,917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69,475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164,396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113,263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339,788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622426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Production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143,004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258,159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128,226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191,834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192,740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578,219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045641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Merchandise-Trading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40,993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56,242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79,438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35,860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57,180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171,541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4501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Trimming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67,345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33,592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7,092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372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13,685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41,056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210321"/>
                  </a:ext>
                </a:extLst>
              </a:tr>
              <a:tr h="21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Warehouse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23,790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5,724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4,956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7,653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6,111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18,333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54678"/>
                  </a:ext>
                </a:extLst>
              </a:tr>
              <a:tr h="21576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1,818,730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1,989,086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1,370,862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2,105,543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1,811,782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$         5,465,491 </a:t>
                      </a:r>
                    </a:p>
                  </a:txBody>
                  <a:tcPr marL="5540" marR="5540" marT="5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46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10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TOP" val="97"/>
  <p:tag name="PRESERVEASPECTRATIO" val="False"/>
  <p:tag name="DEFAULTHEIGHT" val="23.5"/>
  <p:tag name="DEFAULTWIDTH" val="504"/>
  <p:tag name="DEFAULTONLEFT" val="234"/>
  <p:tag name="DEFAULTOFFLEFT" val="-524"/>
  <p:tag name="DEFAULTLEFT" val="234"/>
  <p:tag name="SLIDEELEMTYPE" val="2"/>
  <p:tag name="BULLETSTYLE" val="BulletStyle"/>
  <p:tag name="LEGALDAYONE" val="True"/>
</p:tagLst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rgbClr val="C00000"/>
          </a:solidFill>
        </a:ln>
      </a:spPr>
      <a:bodyPr lIns="0" tIns="0" rIns="0" bIns="0" anchor="ctr"/>
      <a:lstStyle>
        <a:defPPr>
          <a:lnSpc>
            <a:spcPct val="150000"/>
          </a:lnSpc>
          <a:buFont typeface="Wingdings" pitchFamily="2" charset="2"/>
          <a:buChar char="ü"/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dirty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160523</TotalTime>
  <Words>3479</Words>
  <Application>Microsoft Office PowerPoint</Application>
  <PresentationFormat>A4 Paper (210x297 mm)</PresentationFormat>
  <Paragraphs>1931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맑은 고딕</vt:lpstr>
      <vt:lpstr>Arial</vt:lpstr>
      <vt:lpstr>굴림</vt:lpstr>
      <vt:lpstr>HY헤드라인M</vt:lpstr>
      <vt:lpstr>Times New Roman</vt:lpstr>
      <vt:lpstr>Wingdings</vt:lpstr>
      <vt:lpstr>3_Office 테마</vt:lpstr>
      <vt:lpstr>디자인 사용자 지정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NVD.DUC</cp:lastModifiedBy>
  <cp:revision>7156</cp:revision>
  <cp:lastPrinted>2022-05-19T08:58:48Z</cp:lastPrinted>
  <dcterms:created xsi:type="dcterms:W3CDTF">2011-10-10T11:45:52Z</dcterms:created>
  <dcterms:modified xsi:type="dcterms:W3CDTF">2026-04-13T10:56:20Z</dcterms:modified>
</cp:coreProperties>
</file>