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3" r:id="rId2"/>
    <p:sldMasterId id="2147483673" r:id="rId3"/>
  </p:sldMasterIdLst>
  <p:notesMasterIdLst>
    <p:notesMasterId r:id="rId17"/>
  </p:notesMasterIdLst>
  <p:handoutMasterIdLst>
    <p:handoutMasterId r:id="rId18"/>
  </p:handoutMasterIdLst>
  <p:sldIdLst>
    <p:sldId id="2387" r:id="rId4"/>
    <p:sldId id="2381" r:id="rId5"/>
    <p:sldId id="2393" r:id="rId6"/>
    <p:sldId id="2422" r:id="rId7"/>
    <p:sldId id="2423" r:id="rId8"/>
    <p:sldId id="2424" r:id="rId9"/>
    <p:sldId id="2394" r:id="rId10"/>
    <p:sldId id="2413" r:id="rId11"/>
    <p:sldId id="2425" r:id="rId12"/>
    <p:sldId id="2416" r:id="rId13"/>
    <p:sldId id="2419" r:id="rId14"/>
    <p:sldId id="2420" r:id="rId15"/>
    <p:sldId id="2421" r:id="rId16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126">
          <p15:clr>
            <a:srgbClr val="A4A3A4"/>
          </p15:clr>
        </p15:guide>
        <p15:guide id="3" pos="3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F8CBAD"/>
    <a:srgbClr val="C5D9F1"/>
    <a:srgbClr val="0000CC"/>
    <a:srgbClr val="0000FF"/>
    <a:srgbClr val="BDD7EE"/>
    <a:srgbClr val="FFFF99"/>
    <a:srgbClr val="00CC00"/>
    <a:srgbClr val="0070C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1" autoAdjust="0"/>
    <p:restoredTop sz="99290" autoAdjust="0"/>
  </p:normalViewPr>
  <p:slideViewPr>
    <p:cSldViewPr>
      <p:cViewPr varScale="1">
        <p:scale>
          <a:sx n="115" d="100"/>
          <a:sy n="115" d="100"/>
        </p:scale>
        <p:origin x="1422" y="84"/>
      </p:cViewPr>
      <p:guideLst>
        <p:guide orient="horz" pos="2205"/>
        <p:guide pos="126"/>
        <p:guide pos="3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0" y="9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B5C9A13-03EA-4153-90E7-64CB6544750C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3D32E10-4494-41C4-9885-B0E787CCA8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2846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AF093C0-20F9-48E4-AA16-FB02A0489609}" type="datetimeFigureOut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50" y="4715353"/>
            <a:ext cx="5437179" cy="4468177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8B44670-C299-4ED8-9CB8-3DED7816EFB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93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1" y="4716463"/>
            <a:ext cx="5438775" cy="44672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D99B6-8C63-46D3-AC4E-F19BB306C2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15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31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2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0"/>
            <a:ext cx="4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cxnSp>
        <p:nvCxnSpPr>
          <p:cNvPr id="3" name="직선 연결선 2"/>
          <p:cNvCxnSpPr/>
          <p:nvPr userDrawn="1"/>
        </p:nvCxnSpPr>
        <p:spPr>
          <a:xfrm flipV="1">
            <a:off x="415925" y="3213100"/>
            <a:ext cx="9490075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149725"/>
            <a:ext cx="2879725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80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963" y="304800"/>
            <a:ext cx="9937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8"/>
          <p:cNvGrpSpPr>
            <a:grpSpLocks/>
          </p:cNvGrpSpPr>
          <p:nvPr userDrawn="1"/>
        </p:nvGrpSpPr>
        <p:grpSpPr bwMode="auto">
          <a:xfrm>
            <a:off x="0" y="188913"/>
            <a:ext cx="9906000" cy="539750"/>
            <a:chOff x="0" y="188586"/>
            <a:chExt cx="9906000" cy="540070"/>
          </a:xfrm>
        </p:grpSpPr>
        <p:cxnSp>
          <p:nvCxnSpPr>
            <p:cNvPr id="4" name="직선 연결선 7"/>
            <p:cNvCxnSpPr/>
            <p:nvPr userDrawn="1"/>
          </p:nvCxnSpPr>
          <p:spPr>
            <a:xfrm>
              <a:off x="0" y="728656"/>
              <a:ext cx="85534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7"/>
            <p:cNvCxnSpPr/>
            <p:nvPr userDrawn="1"/>
          </p:nvCxnSpPr>
          <p:spPr>
            <a:xfrm flipV="1">
              <a:off x="8542338" y="188586"/>
              <a:ext cx="358775" cy="54007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7"/>
            <p:cNvCxnSpPr/>
            <p:nvPr userDrawn="1"/>
          </p:nvCxnSpPr>
          <p:spPr>
            <a:xfrm>
              <a:off x="8890000" y="188586"/>
              <a:ext cx="1016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 userDrawn="1"/>
        </p:nvSpPr>
        <p:spPr>
          <a:xfrm>
            <a:off x="9201472" y="6607571"/>
            <a:ext cx="1125538" cy="27781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D1C4E95F-9563-46A9-9EB6-D394B7B21AD3}" type="slidenum">
              <a:rPr kumimoji="0"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kumimoji="0"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7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E51BE2-9DB0-4E8B-8D64-12DD0A8B5E76}" type="slidenum">
              <a:rPr kumimoji="0"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55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58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4295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36C311-8ED8-49F5-8800-41EDEBCD2E02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79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DED5-6D09-4E5D-ACFB-26E99AF8E165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79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0179EE-A4D0-4756-8715-32E6600E2D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4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8C053-CB01-43BB-BA35-94F4793F2B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64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ECA0D-9461-4095-8CFB-A82A789CA73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777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BD97-7C83-4AAA-9989-428C7347FFF7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45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AF198-EB07-4988-A7D1-464160EAFF6C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889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7F70CB-A4CE-45B8-8E65-61F3FA5A781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29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FDD4A-57D3-44BA-AC50-237085C9613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2026-03-11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715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29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08000" y="1557338"/>
            <a:ext cx="8915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2052" name="제목 개체 틀 1"/>
          <p:cNvSpPr>
            <a:spLocks noGrp="1"/>
          </p:cNvSpPr>
          <p:nvPr>
            <p:ph type="title"/>
          </p:nvPr>
        </p:nvSpPr>
        <p:spPr bwMode="auto">
          <a:xfrm>
            <a:off x="9525" y="-14288"/>
            <a:ext cx="9867900" cy="6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475" y="6524625"/>
            <a:ext cx="2311400" cy="311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1">
              <a:defRPr kumimoji="1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HY헤드라인M" pitchFamily="18" charset="-127"/>
          <a:ea typeface="HY헤드라인M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"/>
        <a:defRPr sz="24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08BDBC4-D6A0-4D5C-94E5-512CF430AA8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480" y="980728"/>
            <a:ext cx="9360000" cy="36000"/>
          </a:xfrm>
          <a:prstGeom prst="rect">
            <a:avLst/>
          </a:prstGeom>
          <a:solidFill>
            <a:srgbClr val="001C5C"/>
          </a:solidFill>
          <a:ln>
            <a:solidFill>
              <a:srgbClr val="001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497" y="6252495"/>
            <a:ext cx="6457503" cy="610741"/>
          </a:xfrm>
          <a:prstGeom prst="rect">
            <a:avLst/>
          </a:prstGeom>
        </p:spPr>
      </p:pic>
      <p:pic>
        <p:nvPicPr>
          <p:cNvPr id="8" name="그림 5" descr="회사 로고.pn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424" y="404664"/>
            <a:ext cx="1066367" cy="52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0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856984" y="5229200"/>
            <a:ext cx="2150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2026.03.</a:t>
            </a:r>
            <a:r>
              <a:rPr kumimoji="0" lang="en-US" altLang="ko-KR" sz="16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057571" y="1268760"/>
            <a:ext cx="7679776" cy="1500198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ffectLst/>
        </p:spPr>
        <p:txBody>
          <a:bodyPr lIns="0" anchor="ctr">
            <a:normAutofit fontScale="92500" lnSpcReduction="20000"/>
          </a:bodyPr>
          <a:lstStyle/>
          <a:p>
            <a:pPr lvl="0" algn="ctr" fontAlgn="auto" latinLnBrk="0">
              <a:lnSpc>
                <a:spcPct val="150000"/>
              </a:lnSpc>
              <a:spcAft>
                <a:spcPts val="0"/>
              </a:spcAft>
              <a:defRPr/>
            </a:pPr>
            <a:r>
              <a:rPr kumimoji="0" lang="en-US" altLang="ko-KR" sz="3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</a:t>
            </a:r>
            <a:r>
              <a:rPr kumimoji="0" lang="en-US" altLang="ko-KR" sz="3800" b="1" kern="0" noProof="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altLang="ko-KR" sz="3800" b="1" kern="0" noProof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FEB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MANAGEMENT DEP’T</a:t>
            </a:r>
            <a:r>
              <a:rPr kumimoji="0" lang="ko-KR" alt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REPORT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그림 5" descr="회사 로고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215" y="3717032"/>
            <a:ext cx="212248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48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2430" y="188718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FEB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88504" y="947463"/>
            <a:ext cx="8839201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CATEGORY</a:t>
            </a:r>
            <a:r>
              <a:rPr lang="ko-KR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920552" y="1268760"/>
            <a:ext cx="7632848" cy="2160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1.1: Salary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1.2: Salary report by dep’t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1.3: OT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1.4: OT report by dep’t</a:t>
            </a:r>
          </a:p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1.5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OT standard &amp; OT amount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20552" y="3284984"/>
            <a:ext cx="5688632" cy="115212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2.1: Utility – EHS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2.2: Office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552" y="4437112"/>
            <a:ext cx="3816424" cy="12961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3.1: Purchase cost by item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3.2: Purchase cost by dep’t </a:t>
            </a:r>
          </a:p>
        </p:txBody>
      </p:sp>
    </p:spTree>
    <p:extLst>
      <p:ext uri="{BB962C8B-B14F-4D97-AF65-F5344CB8AC3E}">
        <p14:creationId xmlns:p14="http://schemas.microsoft.com/office/powerpoint/2010/main" val="199513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03211" y="861699"/>
            <a:ext cx="3353645" cy="30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FEB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432" y="188640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– 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FEB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88779"/>
              </p:ext>
            </p:extLst>
          </p:nvPr>
        </p:nvGraphicFramePr>
        <p:xfrm>
          <a:off x="303211" y="1268760"/>
          <a:ext cx="9114285" cy="4853806"/>
        </p:xfrm>
        <a:graphic>
          <a:graphicData uri="http://schemas.openxmlformats.org/drawingml/2006/table">
            <a:tbl>
              <a:tblPr/>
              <a:tblGrid>
                <a:gridCol w="545333">
                  <a:extLst>
                    <a:ext uri="{9D8B030D-6E8A-4147-A177-3AD203B41FA5}">
                      <a16:colId xmlns:a16="http://schemas.microsoft.com/office/drawing/2014/main" val="2572046213"/>
                    </a:ext>
                  </a:extLst>
                </a:gridCol>
                <a:gridCol w="865675">
                  <a:extLst>
                    <a:ext uri="{9D8B030D-6E8A-4147-A177-3AD203B41FA5}">
                      <a16:colId xmlns:a16="http://schemas.microsoft.com/office/drawing/2014/main" val="1151484834"/>
                    </a:ext>
                  </a:extLst>
                </a:gridCol>
                <a:gridCol w="839620">
                  <a:extLst>
                    <a:ext uri="{9D8B030D-6E8A-4147-A177-3AD203B41FA5}">
                      <a16:colId xmlns:a16="http://schemas.microsoft.com/office/drawing/2014/main" val="1691194661"/>
                    </a:ext>
                  </a:extLst>
                </a:gridCol>
                <a:gridCol w="2009882">
                  <a:extLst>
                    <a:ext uri="{9D8B030D-6E8A-4147-A177-3AD203B41FA5}">
                      <a16:colId xmlns:a16="http://schemas.microsoft.com/office/drawing/2014/main" val="3929974727"/>
                    </a:ext>
                  </a:extLst>
                </a:gridCol>
                <a:gridCol w="1092615">
                  <a:extLst>
                    <a:ext uri="{9D8B030D-6E8A-4147-A177-3AD203B41FA5}">
                      <a16:colId xmlns:a16="http://schemas.microsoft.com/office/drawing/2014/main" val="1077541019"/>
                    </a:ext>
                  </a:extLst>
                </a:gridCol>
                <a:gridCol w="735282">
                  <a:extLst>
                    <a:ext uri="{9D8B030D-6E8A-4147-A177-3AD203B41FA5}">
                      <a16:colId xmlns:a16="http://schemas.microsoft.com/office/drawing/2014/main" val="2975622599"/>
                    </a:ext>
                  </a:extLst>
                </a:gridCol>
                <a:gridCol w="934563">
                  <a:extLst>
                    <a:ext uri="{9D8B030D-6E8A-4147-A177-3AD203B41FA5}">
                      <a16:colId xmlns:a16="http://schemas.microsoft.com/office/drawing/2014/main" val="3833170446"/>
                    </a:ext>
                  </a:extLst>
                </a:gridCol>
                <a:gridCol w="1010154">
                  <a:extLst>
                    <a:ext uri="{9D8B030D-6E8A-4147-A177-3AD203B41FA5}">
                      <a16:colId xmlns:a16="http://schemas.microsoft.com/office/drawing/2014/main" val="3882929552"/>
                    </a:ext>
                  </a:extLst>
                </a:gridCol>
                <a:gridCol w="1081161">
                  <a:extLst>
                    <a:ext uri="{9D8B030D-6E8A-4147-A177-3AD203B41FA5}">
                      <a16:colId xmlns:a16="http://schemas.microsoft.com/office/drawing/2014/main" val="3022026235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[1USD/26,000vnd]</a:t>
                      </a: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31875"/>
                  </a:ext>
                </a:extLst>
              </a:tr>
              <a:tr h="4529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62653"/>
                  </a:ext>
                </a:extLst>
              </a:tr>
              <a:tr h="2930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</a:t>
                      </a:r>
                      <a:r>
                        <a:rPr lang="vi-VN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490,510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$ 457,686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$ 999,253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803454"/>
                  </a:ext>
                </a:extLst>
              </a:tr>
              <a:tr h="29307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EHS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/GA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$ 290,765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$ 295,691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$ 294,889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$ 265,238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$ 560,127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14664"/>
                  </a:ext>
                </a:extLst>
              </a:tr>
              <a:tr h="29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$ 2,093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$ 2,236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$ 2,344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$ 2,037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$ 4,381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567770"/>
                  </a:ext>
                </a:extLst>
              </a:tr>
              <a:tr h="4174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$ 31,500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$ 38,069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$ 38,388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$ 26,754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$ 65,142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52362"/>
                  </a:ext>
                </a:extLst>
              </a:tr>
              <a:tr h="29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$ 65,801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$ 35,619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$ 176,778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$ 13,975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$ 190,753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01504"/>
                  </a:ext>
                </a:extLst>
              </a:tr>
              <a:tr h="29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$ 89,225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$ 89,481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$ 85,557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$ 90,979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$ 176,535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532622"/>
                  </a:ext>
                </a:extLst>
              </a:tr>
              <a:tr h="3463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$ 1,818,730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$ 1,646,484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$ 1,989,086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$ 1,370,862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$ 3,359,948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336529"/>
                  </a:ext>
                </a:extLst>
              </a:tr>
              <a:tr h="35523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$ 2,336,255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$ 2,565,267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$ 3,076,135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$ 2,280,004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$ 5,356,139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375253"/>
                  </a:ext>
                </a:extLst>
              </a:tr>
              <a:tr h="166825">
                <a:tc gridSpan="2"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793686"/>
                  </a:ext>
                </a:extLst>
              </a:tr>
              <a:tr h="46181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 Total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22242"/>
                  </a:ext>
                </a:extLst>
              </a:tr>
              <a:tr h="45292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OT/ Hours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75,366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58,840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140,838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358606"/>
                  </a:ext>
                </a:extLst>
              </a:tr>
              <a:tr h="45292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OT. Amount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$ 174,804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$ 181,512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$ 206,388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$ 149,342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$ 355,729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491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83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2480" y="3400828"/>
            <a:ext cx="38738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971" y="3726041"/>
            <a:ext cx="9145016" cy="291283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just"/>
            <a:endParaRPr lang="en-US" altLang="ko-KR" sz="13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&amp; others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vi-VN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ko-KR" sz="13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</a:t>
            </a: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Salary in Feb 2026 is higher than in Jan 2026 ($ 21,066)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following 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company pays 50% of the 13th-month salary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bonus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($ 96,744)</a:t>
            </a:r>
          </a:p>
          <a:p>
            <a:pPr algn="just"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decreased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$ 57,046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2026</a:t>
            </a:r>
          </a:p>
          <a:p>
            <a:pPr algn="just"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hours in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23,159 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 compared to </a:t>
            </a:r>
            <a:r>
              <a:rPr lang="en-US" altLang="ko-KR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2026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bracket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3%,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(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SEVT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process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36%;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8%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Qualcom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55,56%;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ZF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38%;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Mando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12%. </a:t>
            </a:r>
            <a:r>
              <a:rPr lang="vi-VN" sz="1300" dirty="0"/>
              <a:t>hosiden tháng 2 tăng: 17%, Samsung bracket tăng: 51%, samsung CNC tăng: 25% LG tăng: 12% ZF tăng: 47%, hanwha tăng: 46% Innorex</a:t>
            </a:r>
            <a:endParaRPr lang="en-US" altLang="ko-KR" sz="1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444" y="898847"/>
            <a:ext cx="31757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FEB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453034"/>
              </p:ext>
            </p:extLst>
          </p:nvPr>
        </p:nvGraphicFramePr>
        <p:xfrm>
          <a:off x="387971" y="1079572"/>
          <a:ext cx="9145016" cy="2368151"/>
        </p:xfrm>
        <a:graphic>
          <a:graphicData uri="http://schemas.openxmlformats.org/drawingml/2006/table">
            <a:tbl>
              <a:tblPr/>
              <a:tblGrid>
                <a:gridCol w="463542">
                  <a:extLst>
                    <a:ext uri="{9D8B030D-6E8A-4147-A177-3AD203B41FA5}">
                      <a16:colId xmlns:a16="http://schemas.microsoft.com/office/drawing/2014/main" val="2431400077"/>
                    </a:ext>
                  </a:extLst>
                </a:gridCol>
                <a:gridCol w="1365183">
                  <a:extLst>
                    <a:ext uri="{9D8B030D-6E8A-4147-A177-3AD203B41FA5}">
                      <a16:colId xmlns:a16="http://schemas.microsoft.com/office/drawing/2014/main" val="479640444"/>
                    </a:ext>
                  </a:extLst>
                </a:gridCol>
                <a:gridCol w="1609642">
                  <a:extLst>
                    <a:ext uri="{9D8B030D-6E8A-4147-A177-3AD203B41FA5}">
                      <a16:colId xmlns:a16="http://schemas.microsoft.com/office/drawing/2014/main" val="2516715510"/>
                    </a:ext>
                  </a:extLst>
                </a:gridCol>
                <a:gridCol w="1057958">
                  <a:extLst>
                    <a:ext uri="{9D8B030D-6E8A-4147-A177-3AD203B41FA5}">
                      <a16:colId xmlns:a16="http://schemas.microsoft.com/office/drawing/2014/main" val="3298948303"/>
                    </a:ext>
                  </a:extLst>
                </a:gridCol>
                <a:gridCol w="1023459">
                  <a:extLst>
                    <a:ext uri="{9D8B030D-6E8A-4147-A177-3AD203B41FA5}">
                      <a16:colId xmlns:a16="http://schemas.microsoft.com/office/drawing/2014/main" val="2470428261"/>
                    </a:ext>
                  </a:extLst>
                </a:gridCol>
                <a:gridCol w="1115456">
                  <a:extLst>
                    <a:ext uri="{9D8B030D-6E8A-4147-A177-3AD203B41FA5}">
                      <a16:colId xmlns:a16="http://schemas.microsoft.com/office/drawing/2014/main" val="3804184139"/>
                    </a:ext>
                  </a:extLst>
                </a:gridCol>
                <a:gridCol w="1095332">
                  <a:extLst>
                    <a:ext uri="{9D8B030D-6E8A-4147-A177-3AD203B41FA5}">
                      <a16:colId xmlns:a16="http://schemas.microsoft.com/office/drawing/2014/main" val="2231024908"/>
                    </a:ext>
                  </a:extLst>
                </a:gridCol>
                <a:gridCol w="1414444">
                  <a:extLst>
                    <a:ext uri="{9D8B030D-6E8A-4147-A177-3AD203B41FA5}">
                      <a16:colId xmlns:a16="http://schemas.microsoft.com/office/drawing/2014/main" val="390194703"/>
                    </a:ext>
                  </a:extLst>
                </a:gridCol>
              </a:tblGrid>
              <a:tr h="35290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287" marR="9287" marT="9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977350"/>
                  </a:ext>
                </a:extLst>
              </a:tr>
              <a:tr h="5664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36872"/>
                  </a:ext>
                </a:extLst>
              </a:tr>
              <a:tr h="48291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$ 38,141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$ 457,686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$ 999,253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419407"/>
                  </a:ext>
                </a:extLst>
              </a:tr>
              <a:tr h="4829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amount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$ 174,804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$ 181,512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$ 206,388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$ 149,342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$ 355,729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895455"/>
                  </a:ext>
                </a:extLst>
              </a:tr>
              <a:tr h="4829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hours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75,366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58,840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140,838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75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95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5034" y="3929542"/>
            <a:ext cx="8989668" cy="285982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electricity, </a:t>
            </a:r>
            <a:r>
              <a:rPr lang="en-US" sz="13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maintainance</a:t>
            </a: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waste water, office cost 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Feb,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cost is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$ 29,651 compared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(The company has 9 days of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holidays)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 cost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11,634 than Jan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(The company has 9 days of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holidays)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Maintenance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2026 decreased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162,803 than Jan 2026 because: 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No payment has been incurred for maintenance and repair items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Office cost of  Feb 2026 increased $5,422 than Jan 2026 because: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food of </a:t>
            </a:r>
            <a:r>
              <a:rPr lang="en-US" sz="1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Vietnamses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reduced $10,939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costs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airfare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$15,835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(Book tickets for Vietnamese staff and foreign managers to go to China and South Korea for business trips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0434" y="3621765"/>
            <a:ext cx="39097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0434" y="707425"/>
            <a:ext cx="40765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FEB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276770"/>
              </p:ext>
            </p:extLst>
          </p:nvPr>
        </p:nvGraphicFramePr>
        <p:xfrm>
          <a:off x="490039" y="1045409"/>
          <a:ext cx="8992791" cy="2576353"/>
        </p:xfrm>
        <a:graphic>
          <a:graphicData uri="http://schemas.openxmlformats.org/drawingml/2006/table">
            <a:tbl>
              <a:tblPr/>
              <a:tblGrid>
                <a:gridCol w="506883">
                  <a:extLst>
                    <a:ext uri="{9D8B030D-6E8A-4147-A177-3AD203B41FA5}">
                      <a16:colId xmlns:a16="http://schemas.microsoft.com/office/drawing/2014/main" val="3087659951"/>
                    </a:ext>
                  </a:extLst>
                </a:gridCol>
                <a:gridCol w="1016863">
                  <a:extLst>
                    <a:ext uri="{9D8B030D-6E8A-4147-A177-3AD203B41FA5}">
                      <a16:colId xmlns:a16="http://schemas.microsoft.com/office/drawing/2014/main" val="864957178"/>
                    </a:ext>
                  </a:extLst>
                </a:gridCol>
                <a:gridCol w="1857386">
                  <a:extLst>
                    <a:ext uri="{9D8B030D-6E8A-4147-A177-3AD203B41FA5}">
                      <a16:colId xmlns:a16="http://schemas.microsoft.com/office/drawing/2014/main" val="27322907"/>
                    </a:ext>
                  </a:extLst>
                </a:gridCol>
                <a:gridCol w="1040348">
                  <a:extLst>
                    <a:ext uri="{9D8B030D-6E8A-4147-A177-3AD203B41FA5}">
                      <a16:colId xmlns:a16="http://schemas.microsoft.com/office/drawing/2014/main" val="2250316783"/>
                    </a:ext>
                  </a:extLst>
                </a:gridCol>
                <a:gridCol w="1006423">
                  <a:extLst>
                    <a:ext uri="{9D8B030D-6E8A-4147-A177-3AD203B41FA5}">
                      <a16:colId xmlns:a16="http://schemas.microsoft.com/office/drawing/2014/main" val="2104073409"/>
                    </a:ext>
                  </a:extLst>
                </a:gridCol>
                <a:gridCol w="1096889">
                  <a:extLst>
                    <a:ext uri="{9D8B030D-6E8A-4147-A177-3AD203B41FA5}">
                      <a16:colId xmlns:a16="http://schemas.microsoft.com/office/drawing/2014/main" val="1595651809"/>
                    </a:ext>
                  </a:extLst>
                </a:gridCol>
                <a:gridCol w="1077099">
                  <a:extLst>
                    <a:ext uri="{9D8B030D-6E8A-4147-A177-3AD203B41FA5}">
                      <a16:colId xmlns:a16="http://schemas.microsoft.com/office/drawing/2014/main" val="3827729720"/>
                    </a:ext>
                  </a:extLst>
                </a:gridCol>
                <a:gridCol w="1390900">
                  <a:extLst>
                    <a:ext uri="{9D8B030D-6E8A-4147-A177-3AD203B41FA5}">
                      <a16:colId xmlns:a16="http://schemas.microsoft.com/office/drawing/2014/main" val="3897450638"/>
                    </a:ext>
                  </a:extLst>
                </a:gridCol>
              </a:tblGrid>
              <a:tr h="2000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287" marR="9287" marT="9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358207"/>
                  </a:ext>
                </a:extLst>
              </a:tr>
              <a:tr h="408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66089"/>
                  </a:ext>
                </a:extLst>
              </a:tr>
              <a:tr h="32804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UTILITY/EHS/GA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$ 290,765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$ 295,691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$ 294,889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$ 265,238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$ 560,127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175047"/>
                  </a:ext>
                </a:extLst>
              </a:tr>
              <a:tr h="3280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$ 2,093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$ 2,236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$ 2,344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$ 2,037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$ 4,381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15245"/>
                  </a:ext>
                </a:extLst>
              </a:tr>
              <a:tr h="3280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$ 31,500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$ 38,069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$ 38,388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$ 26,754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$ 65,142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116336"/>
                  </a:ext>
                </a:extLst>
              </a:tr>
              <a:tr h="3280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$ 65,801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$ 35,619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$ 176,778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$ 13,975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$ 190,753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275343"/>
                  </a:ext>
                </a:extLst>
              </a:tr>
              <a:tr h="3280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$ 89,225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$ 89,481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$ 85,557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$ 90,979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$ 176,535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860408"/>
                  </a:ext>
                </a:extLst>
              </a:tr>
              <a:tr h="3280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$ 479,384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$ 461,096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$ 597,956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$ 398,983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$ 996,939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073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30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8504" y="3140864"/>
            <a:ext cx="38972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3000" y="967274"/>
            <a:ext cx="4546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FEB</a:t>
            </a: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50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4648" y="3573016"/>
            <a:ext cx="9116857" cy="295232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/>
          <a:lstStyle/>
          <a:p>
            <a:pPr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purchasing cost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purchasing cost 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decreased $618,224 (~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21%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)compared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2026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following reasons:</a:t>
            </a:r>
            <a:b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company has 9 days of holidays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4191"/>
              </p:ext>
            </p:extLst>
          </p:nvPr>
        </p:nvGraphicFramePr>
        <p:xfrm>
          <a:off x="344487" y="1382520"/>
          <a:ext cx="9217018" cy="1216581"/>
        </p:xfrm>
        <a:graphic>
          <a:graphicData uri="http://schemas.openxmlformats.org/drawingml/2006/table">
            <a:tbl>
              <a:tblPr/>
              <a:tblGrid>
                <a:gridCol w="396706">
                  <a:extLst>
                    <a:ext uri="{9D8B030D-6E8A-4147-A177-3AD203B41FA5}">
                      <a16:colId xmlns:a16="http://schemas.microsoft.com/office/drawing/2014/main" val="547865728"/>
                    </a:ext>
                  </a:extLst>
                </a:gridCol>
                <a:gridCol w="1113336">
                  <a:extLst>
                    <a:ext uri="{9D8B030D-6E8A-4147-A177-3AD203B41FA5}">
                      <a16:colId xmlns:a16="http://schemas.microsoft.com/office/drawing/2014/main" val="656231389"/>
                    </a:ext>
                  </a:extLst>
                </a:gridCol>
                <a:gridCol w="1356479">
                  <a:extLst>
                    <a:ext uri="{9D8B030D-6E8A-4147-A177-3AD203B41FA5}">
                      <a16:colId xmlns:a16="http://schemas.microsoft.com/office/drawing/2014/main" val="1678663954"/>
                    </a:ext>
                  </a:extLst>
                </a:gridCol>
                <a:gridCol w="1177321">
                  <a:extLst>
                    <a:ext uri="{9D8B030D-6E8A-4147-A177-3AD203B41FA5}">
                      <a16:colId xmlns:a16="http://schemas.microsoft.com/office/drawing/2014/main" val="2424375447"/>
                    </a:ext>
                  </a:extLst>
                </a:gridCol>
                <a:gridCol w="1138930">
                  <a:extLst>
                    <a:ext uri="{9D8B030D-6E8A-4147-A177-3AD203B41FA5}">
                      <a16:colId xmlns:a16="http://schemas.microsoft.com/office/drawing/2014/main" val="1925549169"/>
                    </a:ext>
                  </a:extLst>
                </a:gridCol>
                <a:gridCol w="1241306">
                  <a:extLst>
                    <a:ext uri="{9D8B030D-6E8A-4147-A177-3AD203B41FA5}">
                      <a16:colId xmlns:a16="http://schemas.microsoft.com/office/drawing/2014/main" val="1444382500"/>
                    </a:ext>
                  </a:extLst>
                </a:gridCol>
                <a:gridCol w="1218912">
                  <a:extLst>
                    <a:ext uri="{9D8B030D-6E8A-4147-A177-3AD203B41FA5}">
                      <a16:colId xmlns:a16="http://schemas.microsoft.com/office/drawing/2014/main" val="3353799574"/>
                    </a:ext>
                  </a:extLst>
                </a:gridCol>
                <a:gridCol w="1574028">
                  <a:extLst>
                    <a:ext uri="{9D8B030D-6E8A-4147-A177-3AD203B41FA5}">
                      <a16:colId xmlns:a16="http://schemas.microsoft.com/office/drawing/2014/main" val="2530365385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87" marR="9287" marT="9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287" marR="9287" marT="9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499304"/>
                  </a:ext>
                </a:extLst>
              </a:tr>
              <a:tr h="4550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677870"/>
                  </a:ext>
                </a:extLst>
              </a:tr>
              <a:tr h="538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$ 1,818,730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$ 1,646,484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$ 1,989,086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$ 1,370,862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$ 3,359,948</a:t>
                      </a:r>
                    </a:p>
                  </a:txBody>
                  <a:tcPr marL="9287" marR="9287" marT="9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128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82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3679"/>
            <a:ext cx="30134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SALARY COST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94434" y="756666"/>
            <a:ext cx="28303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ITEM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4435" y="1024470"/>
            <a:ext cx="9073008" cy="504056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Char char="ü"/>
            </a:pP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394435" y="4139105"/>
            <a:ext cx="2608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DEP’T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93251" y="853411"/>
            <a:ext cx="682409" cy="153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Rectangle 5"/>
          <p:cNvSpPr/>
          <p:nvPr/>
        </p:nvSpPr>
        <p:spPr>
          <a:xfrm>
            <a:off x="8894603" y="4174851"/>
            <a:ext cx="879707" cy="31455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64232"/>
              </p:ext>
            </p:extLst>
          </p:nvPr>
        </p:nvGraphicFramePr>
        <p:xfrm>
          <a:off x="266137" y="703471"/>
          <a:ext cx="9508173" cy="3372045"/>
        </p:xfrm>
        <a:graphic>
          <a:graphicData uri="http://schemas.openxmlformats.org/drawingml/2006/table">
            <a:tbl>
              <a:tblPr/>
              <a:tblGrid>
                <a:gridCol w="325834">
                  <a:extLst>
                    <a:ext uri="{9D8B030D-6E8A-4147-A177-3AD203B41FA5}">
                      <a16:colId xmlns:a16="http://schemas.microsoft.com/office/drawing/2014/main" val="2130501147"/>
                    </a:ext>
                  </a:extLst>
                </a:gridCol>
                <a:gridCol w="808968">
                  <a:extLst>
                    <a:ext uri="{9D8B030D-6E8A-4147-A177-3AD203B41FA5}">
                      <a16:colId xmlns:a16="http://schemas.microsoft.com/office/drawing/2014/main" val="3084073044"/>
                    </a:ext>
                  </a:extLst>
                </a:gridCol>
                <a:gridCol w="1247157">
                  <a:extLst>
                    <a:ext uri="{9D8B030D-6E8A-4147-A177-3AD203B41FA5}">
                      <a16:colId xmlns:a16="http://schemas.microsoft.com/office/drawing/2014/main" val="2721164108"/>
                    </a:ext>
                  </a:extLst>
                </a:gridCol>
                <a:gridCol w="716273">
                  <a:extLst>
                    <a:ext uri="{9D8B030D-6E8A-4147-A177-3AD203B41FA5}">
                      <a16:colId xmlns:a16="http://schemas.microsoft.com/office/drawing/2014/main" val="2010745487"/>
                    </a:ext>
                  </a:extLst>
                </a:gridCol>
                <a:gridCol w="685375">
                  <a:extLst>
                    <a:ext uri="{9D8B030D-6E8A-4147-A177-3AD203B41FA5}">
                      <a16:colId xmlns:a16="http://schemas.microsoft.com/office/drawing/2014/main" val="2147177285"/>
                    </a:ext>
                  </a:extLst>
                </a:gridCol>
                <a:gridCol w="682567">
                  <a:extLst>
                    <a:ext uri="{9D8B030D-6E8A-4147-A177-3AD203B41FA5}">
                      <a16:colId xmlns:a16="http://schemas.microsoft.com/office/drawing/2014/main" val="1087858826"/>
                    </a:ext>
                  </a:extLst>
                </a:gridCol>
                <a:gridCol w="632005">
                  <a:extLst>
                    <a:ext uri="{9D8B030D-6E8A-4147-A177-3AD203B41FA5}">
                      <a16:colId xmlns:a16="http://schemas.microsoft.com/office/drawing/2014/main" val="319108052"/>
                    </a:ext>
                  </a:extLst>
                </a:gridCol>
                <a:gridCol w="682567">
                  <a:extLst>
                    <a:ext uri="{9D8B030D-6E8A-4147-A177-3AD203B41FA5}">
                      <a16:colId xmlns:a16="http://schemas.microsoft.com/office/drawing/2014/main" val="3442501177"/>
                    </a:ext>
                  </a:extLst>
                </a:gridCol>
                <a:gridCol w="539310">
                  <a:extLst>
                    <a:ext uri="{9D8B030D-6E8A-4147-A177-3AD203B41FA5}">
                      <a16:colId xmlns:a16="http://schemas.microsoft.com/office/drawing/2014/main" val="3043984889"/>
                    </a:ext>
                  </a:extLst>
                </a:gridCol>
                <a:gridCol w="820203">
                  <a:extLst>
                    <a:ext uri="{9D8B030D-6E8A-4147-A177-3AD203B41FA5}">
                      <a16:colId xmlns:a16="http://schemas.microsoft.com/office/drawing/2014/main" val="632190654"/>
                    </a:ext>
                  </a:extLst>
                </a:gridCol>
                <a:gridCol w="648859">
                  <a:extLst>
                    <a:ext uri="{9D8B030D-6E8A-4147-A177-3AD203B41FA5}">
                      <a16:colId xmlns:a16="http://schemas.microsoft.com/office/drawing/2014/main" val="2888374726"/>
                    </a:ext>
                  </a:extLst>
                </a:gridCol>
                <a:gridCol w="817393">
                  <a:extLst>
                    <a:ext uri="{9D8B030D-6E8A-4147-A177-3AD203B41FA5}">
                      <a16:colId xmlns:a16="http://schemas.microsoft.com/office/drawing/2014/main" val="4251466248"/>
                    </a:ext>
                  </a:extLst>
                </a:gridCol>
                <a:gridCol w="901662">
                  <a:extLst>
                    <a:ext uri="{9D8B030D-6E8A-4147-A177-3AD203B41FA5}">
                      <a16:colId xmlns:a16="http://schemas.microsoft.com/office/drawing/2014/main" val="636314714"/>
                    </a:ext>
                  </a:extLst>
                </a:gridCol>
              </a:tblGrid>
              <a:tr h="21923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07952"/>
                  </a:ext>
                </a:extLst>
              </a:tr>
              <a:tr h="219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56056"/>
                  </a:ext>
                </a:extLst>
              </a:tr>
              <a:tr h="2192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1,196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860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253855"/>
                  </a:ext>
                </a:extLst>
              </a:tr>
              <a:tr h="2963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97928"/>
                  </a:ext>
                </a:extLst>
              </a:tr>
              <a:tr h="243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220,537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207,638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215,302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208,985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212,144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424,287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95831"/>
                  </a:ext>
                </a:extLst>
              </a:tr>
              <a:tr h="243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174,804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181,512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149,342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177,865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355,729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25124"/>
                  </a:ext>
                </a:extLst>
              </a:tr>
              <a:tr h="226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skill, senior, studiousness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64,322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61,964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62,589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53,968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58,278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116,557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219124"/>
                  </a:ext>
                </a:extLst>
              </a:tr>
              <a:tr h="4402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 Additions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annual leave, productivity bonus fee for introduce workers, covid test fee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3,961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3,555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3,930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2,106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4,212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78566"/>
                  </a:ext>
                </a:extLst>
              </a:tr>
              <a:tr h="241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Bonus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Tet holidays, good tasks...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18,870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96,744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48,372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96,744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15510"/>
                  </a:ext>
                </a:extLst>
              </a:tr>
              <a:tr h="2963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best employees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persons/month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747234"/>
                  </a:ext>
                </a:extLst>
              </a:tr>
              <a:tr h="241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Resigned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+ allowances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5,699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2,096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73841"/>
                  </a:ext>
                </a:extLst>
              </a:tr>
              <a:tr h="243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2,317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921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885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862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1,724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95495"/>
                  </a:ext>
                </a:extLst>
              </a:tr>
              <a:tr h="24311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$ 490,511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457,686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$ 499,626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$ 999,253</a:t>
                      </a:r>
                    </a:p>
                  </a:txBody>
                  <a:tcPr marL="8275" marR="8275" marT="82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48391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90461"/>
              </p:ext>
            </p:extLst>
          </p:nvPr>
        </p:nvGraphicFramePr>
        <p:xfrm>
          <a:off x="266137" y="4510469"/>
          <a:ext cx="9508172" cy="2223947"/>
        </p:xfrm>
        <a:graphic>
          <a:graphicData uri="http://schemas.openxmlformats.org/drawingml/2006/table">
            <a:tbl>
              <a:tblPr/>
              <a:tblGrid>
                <a:gridCol w="611560">
                  <a:extLst>
                    <a:ext uri="{9D8B030D-6E8A-4147-A177-3AD203B41FA5}">
                      <a16:colId xmlns:a16="http://schemas.microsoft.com/office/drawing/2014/main" val="2981017018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472869905"/>
                    </a:ext>
                  </a:extLst>
                </a:gridCol>
                <a:gridCol w="608924">
                  <a:extLst>
                    <a:ext uri="{9D8B030D-6E8A-4147-A177-3AD203B41FA5}">
                      <a16:colId xmlns:a16="http://schemas.microsoft.com/office/drawing/2014/main" val="179100841"/>
                    </a:ext>
                  </a:extLst>
                </a:gridCol>
                <a:gridCol w="569383">
                  <a:extLst>
                    <a:ext uri="{9D8B030D-6E8A-4147-A177-3AD203B41FA5}">
                      <a16:colId xmlns:a16="http://schemas.microsoft.com/office/drawing/2014/main" val="529305814"/>
                    </a:ext>
                  </a:extLst>
                </a:gridCol>
                <a:gridCol w="463942">
                  <a:extLst>
                    <a:ext uri="{9D8B030D-6E8A-4147-A177-3AD203B41FA5}">
                      <a16:colId xmlns:a16="http://schemas.microsoft.com/office/drawing/2014/main" val="2865707384"/>
                    </a:ext>
                  </a:extLst>
                </a:gridCol>
                <a:gridCol w="653736">
                  <a:extLst>
                    <a:ext uri="{9D8B030D-6E8A-4147-A177-3AD203B41FA5}">
                      <a16:colId xmlns:a16="http://schemas.microsoft.com/office/drawing/2014/main" val="416495507"/>
                    </a:ext>
                  </a:extLst>
                </a:gridCol>
                <a:gridCol w="656373">
                  <a:extLst>
                    <a:ext uri="{9D8B030D-6E8A-4147-A177-3AD203B41FA5}">
                      <a16:colId xmlns:a16="http://schemas.microsoft.com/office/drawing/2014/main" val="660404962"/>
                    </a:ext>
                  </a:extLst>
                </a:gridCol>
                <a:gridCol w="458670">
                  <a:extLst>
                    <a:ext uri="{9D8B030D-6E8A-4147-A177-3AD203B41FA5}">
                      <a16:colId xmlns:a16="http://schemas.microsoft.com/office/drawing/2014/main" val="2487286656"/>
                    </a:ext>
                  </a:extLst>
                </a:gridCol>
                <a:gridCol w="506118">
                  <a:extLst>
                    <a:ext uri="{9D8B030D-6E8A-4147-A177-3AD203B41FA5}">
                      <a16:colId xmlns:a16="http://schemas.microsoft.com/office/drawing/2014/main" val="3458071519"/>
                    </a:ext>
                  </a:extLst>
                </a:gridCol>
                <a:gridCol w="537750">
                  <a:extLst>
                    <a:ext uri="{9D8B030D-6E8A-4147-A177-3AD203B41FA5}">
                      <a16:colId xmlns:a16="http://schemas.microsoft.com/office/drawing/2014/main" val="1805474627"/>
                    </a:ext>
                  </a:extLst>
                </a:gridCol>
                <a:gridCol w="506118">
                  <a:extLst>
                    <a:ext uri="{9D8B030D-6E8A-4147-A177-3AD203B41FA5}">
                      <a16:colId xmlns:a16="http://schemas.microsoft.com/office/drawing/2014/main" val="916122348"/>
                    </a:ext>
                  </a:extLst>
                </a:gridCol>
                <a:gridCol w="564470">
                  <a:extLst>
                    <a:ext uri="{9D8B030D-6E8A-4147-A177-3AD203B41FA5}">
                      <a16:colId xmlns:a16="http://schemas.microsoft.com/office/drawing/2014/main" val="3595146317"/>
                    </a:ext>
                  </a:extLst>
                </a:gridCol>
                <a:gridCol w="627016">
                  <a:extLst>
                    <a:ext uri="{9D8B030D-6E8A-4147-A177-3AD203B41FA5}">
                      <a16:colId xmlns:a16="http://schemas.microsoft.com/office/drawing/2014/main" val="3479824909"/>
                    </a:ext>
                  </a:extLst>
                </a:gridCol>
                <a:gridCol w="482394">
                  <a:extLst>
                    <a:ext uri="{9D8B030D-6E8A-4147-A177-3AD203B41FA5}">
                      <a16:colId xmlns:a16="http://schemas.microsoft.com/office/drawing/2014/main" val="1010416330"/>
                    </a:ext>
                  </a:extLst>
                </a:gridCol>
                <a:gridCol w="648465">
                  <a:extLst>
                    <a:ext uri="{9D8B030D-6E8A-4147-A177-3AD203B41FA5}">
                      <a16:colId xmlns:a16="http://schemas.microsoft.com/office/drawing/2014/main" val="2302175127"/>
                    </a:ext>
                  </a:extLst>
                </a:gridCol>
                <a:gridCol w="759178">
                  <a:extLst>
                    <a:ext uri="{9D8B030D-6E8A-4147-A177-3AD203B41FA5}">
                      <a16:colId xmlns:a16="http://schemas.microsoft.com/office/drawing/2014/main" val="548722728"/>
                    </a:ext>
                  </a:extLst>
                </a:gridCol>
              </a:tblGrid>
              <a:tr h="2884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 Avg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15097"/>
                  </a:ext>
                </a:extLst>
              </a:tr>
              <a:tr h="2277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65263"/>
                  </a:ext>
                </a:extLst>
              </a:tr>
              <a:tr h="3036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Person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64907"/>
                  </a:ext>
                </a:extLst>
              </a:tr>
              <a:tr h="28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105,884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95,909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133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110,046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134,271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122,159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244,317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102872"/>
                  </a:ext>
                </a:extLst>
              </a:tr>
              <a:tr h="28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83,875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78,031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89,989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92,502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91,246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182,491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85348"/>
                  </a:ext>
                </a:extLst>
              </a:tr>
              <a:tr h="28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673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298,434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619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282,826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612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288,173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616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282,547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285,360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570,720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28901"/>
                  </a:ext>
                </a:extLst>
              </a:tr>
              <a:tr h="28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 OP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2,317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921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885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862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1,724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59970"/>
                  </a:ext>
                </a:extLst>
              </a:tr>
              <a:tr h="28084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927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490,511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860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457,687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$ 489,093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$ 510,159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499,626 </a:t>
                      </a:r>
                    </a:p>
                  </a:txBody>
                  <a:tcPr marL="7979" marR="7979" marT="7979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999,252 </a:t>
                      </a:r>
                    </a:p>
                  </a:txBody>
                  <a:tcPr marL="7979" marR="7979" marT="79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9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10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5357"/>
            <a:ext cx="24212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OT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OVERTIME  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496" y="822677"/>
            <a:ext cx="22772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TITLE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862964" y="952001"/>
            <a:ext cx="72006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[Time/hour]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231" y="4581128"/>
            <a:ext cx="2037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</a:t>
            </a:r>
            <a:r>
              <a:rPr lang="en-US" altLang="ko-KR" sz="1400" b="1" u="sng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DEPT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04259"/>
              </p:ext>
            </p:extLst>
          </p:nvPr>
        </p:nvGraphicFramePr>
        <p:xfrm>
          <a:off x="297102" y="1166013"/>
          <a:ext cx="9285921" cy="3415123"/>
        </p:xfrm>
        <a:graphic>
          <a:graphicData uri="http://schemas.openxmlformats.org/drawingml/2006/table">
            <a:tbl>
              <a:tblPr/>
              <a:tblGrid>
                <a:gridCol w="335418">
                  <a:extLst>
                    <a:ext uri="{9D8B030D-6E8A-4147-A177-3AD203B41FA5}">
                      <a16:colId xmlns:a16="http://schemas.microsoft.com/office/drawing/2014/main" val="74918823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242886650"/>
                    </a:ext>
                  </a:extLst>
                </a:gridCol>
                <a:gridCol w="1122592">
                  <a:extLst>
                    <a:ext uri="{9D8B030D-6E8A-4147-A177-3AD203B41FA5}">
                      <a16:colId xmlns:a16="http://schemas.microsoft.com/office/drawing/2014/main" val="4217620547"/>
                    </a:ext>
                  </a:extLst>
                </a:gridCol>
                <a:gridCol w="321268">
                  <a:extLst>
                    <a:ext uri="{9D8B030D-6E8A-4147-A177-3AD203B41FA5}">
                      <a16:colId xmlns:a16="http://schemas.microsoft.com/office/drawing/2014/main" val="3217690091"/>
                    </a:ext>
                  </a:extLst>
                </a:gridCol>
                <a:gridCol w="430173">
                  <a:extLst>
                    <a:ext uri="{9D8B030D-6E8A-4147-A177-3AD203B41FA5}">
                      <a16:colId xmlns:a16="http://schemas.microsoft.com/office/drawing/2014/main" val="2780798654"/>
                    </a:ext>
                  </a:extLst>
                </a:gridCol>
                <a:gridCol w="408392">
                  <a:extLst>
                    <a:ext uri="{9D8B030D-6E8A-4147-A177-3AD203B41FA5}">
                      <a16:colId xmlns:a16="http://schemas.microsoft.com/office/drawing/2014/main" val="2286781808"/>
                    </a:ext>
                  </a:extLst>
                </a:gridCol>
                <a:gridCol w="397502">
                  <a:extLst>
                    <a:ext uri="{9D8B030D-6E8A-4147-A177-3AD203B41FA5}">
                      <a16:colId xmlns:a16="http://schemas.microsoft.com/office/drawing/2014/main" val="726493113"/>
                    </a:ext>
                  </a:extLst>
                </a:gridCol>
                <a:gridCol w="392057">
                  <a:extLst>
                    <a:ext uri="{9D8B030D-6E8A-4147-A177-3AD203B41FA5}">
                      <a16:colId xmlns:a16="http://schemas.microsoft.com/office/drawing/2014/main" val="3011852350"/>
                    </a:ext>
                  </a:extLst>
                </a:gridCol>
                <a:gridCol w="321268">
                  <a:extLst>
                    <a:ext uri="{9D8B030D-6E8A-4147-A177-3AD203B41FA5}">
                      <a16:colId xmlns:a16="http://schemas.microsoft.com/office/drawing/2014/main" val="2264919024"/>
                    </a:ext>
                  </a:extLst>
                </a:gridCol>
                <a:gridCol w="508221">
                  <a:extLst>
                    <a:ext uri="{9D8B030D-6E8A-4147-A177-3AD203B41FA5}">
                      <a16:colId xmlns:a16="http://schemas.microsoft.com/office/drawing/2014/main" val="2725329680"/>
                    </a:ext>
                  </a:extLst>
                </a:gridCol>
                <a:gridCol w="506407">
                  <a:extLst>
                    <a:ext uri="{9D8B030D-6E8A-4147-A177-3AD203B41FA5}">
                      <a16:colId xmlns:a16="http://schemas.microsoft.com/office/drawing/2014/main" val="3921098279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799567795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822874546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1838094746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3850917961"/>
                    </a:ext>
                  </a:extLst>
                </a:gridCol>
                <a:gridCol w="450138">
                  <a:extLst>
                    <a:ext uri="{9D8B030D-6E8A-4147-A177-3AD203B41FA5}">
                      <a16:colId xmlns:a16="http://schemas.microsoft.com/office/drawing/2014/main" val="3739924491"/>
                    </a:ext>
                  </a:extLst>
                </a:gridCol>
                <a:gridCol w="446509">
                  <a:extLst>
                    <a:ext uri="{9D8B030D-6E8A-4147-A177-3AD203B41FA5}">
                      <a16:colId xmlns:a16="http://schemas.microsoft.com/office/drawing/2014/main" val="1956738797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623966928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3101506955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948733445"/>
                    </a:ext>
                  </a:extLst>
                </a:gridCol>
                <a:gridCol w="304932">
                  <a:extLst>
                    <a:ext uri="{9D8B030D-6E8A-4147-A177-3AD203B41FA5}">
                      <a16:colId xmlns:a16="http://schemas.microsoft.com/office/drawing/2014/main" val="3196959817"/>
                    </a:ext>
                  </a:extLst>
                </a:gridCol>
                <a:gridCol w="486440">
                  <a:extLst>
                    <a:ext uri="{9D8B030D-6E8A-4147-A177-3AD203B41FA5}">
                      <a16:colId xmlns:a16="http://schemas.microsoft.com/office/drawing/2014/main" val="515013648"/>
                    </a:ext>
                  </a:extLst>
                </a:gridCol>
              </a:tblGrid>
              <a:tr h="14762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OVERTIME WORKING 2026 (OT - hrs)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 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in 2026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58844"/>
                  </a:ext>
                </a:extLst>
              </a:tr>
              <a:tr h="136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159481"/>
                  </a:ext>
                </a:extLst>
              </a:tr>
              <a:tr h="222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06625"/>
                  </a:ext>
                </a:extLst>
              </a:tr>
              <a:tr h="223713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ACCOUNT/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/EXIM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14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119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788254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HR/ GA/ EHS/IT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875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104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904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886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11731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 PLAN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38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05214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R&amp;D/PT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661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785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20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747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118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766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846588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574549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2,820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103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3,241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2,234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2,738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70938"/>
                  </a:ext>
                </a:extLst>
              </a:tr>
              <a:tr h="22371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DIE-CASTING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8,807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8,963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6,287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7,625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540731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PRESS/TRIM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68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7,080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7,169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72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5,081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6,125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221960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245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21,505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245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25,013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246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17,302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21,157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8950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W.H/ASS/INJ/POL/CHR/HOT/ALR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22,596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132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227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23,623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142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227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17,190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20,406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39728"/>
                  </a:ext>
                </a:extLst>
              </a:tr>
              <a:tr h="2237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MOULDING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2,045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2,312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1,565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1,938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31813"/>
                  </a:ext>
                </a:extLst>
              </a:tr>
              <a:tr h="2237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QA-QC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IOPQC,C/S, RELIAB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107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8,824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9,788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109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7,386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8,587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31366"/>
                  </a:ext>
                </a:extLst>
              </a:tr>
              <a:tr h="223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860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75,365.5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1,101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867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81,998.0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1,168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781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874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58,839.5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1,014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565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70,419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24776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12397"/>
              </p:ext>
            </p:extLst>
          </p:nvPr>
        </p:nvGraphicFramePr>
        <p:xfrm>
          <a:off x="296781" y="4941168"/>
          <a:ext cx="9286241" cy="1800199"/>
        </p:xfrm>
        <a:graphic>
          <a:graphicData uri="http://schemas.openxmlformats.org/drawingml/2006/table">
            <a:tbl>
              <a:tblPr/>
              <a:tblGrid>
                <a:gridCol w="156730">
                  <a:extLst>
                    <a:ext uri="{9D8B030D-6E8A-4147-A177-3AD203B41FA5}">
                      <a16:colId xmlns:a16="http://schemas.microsoft.com/office/drawing/2014/main" val="139011779"/>
                    </a:ext>
                  </a:extLst>
                </a:gridCol>
                <a:gridCol w="1457586">
                  <a:extLst>
                    <a:ext uri="{9D8B030D-6E8A-4147-A177-3AD203B41FA5}">
                      <a16:colId xmlns:a16="http://schemas.microsoft.com/office/drawing/2014/main" val="329074628"/>
                    </a:ext>
                  </a:extLst>
                </a:gridCol>
                <a:gridCol w="346765">
                  <a:extLst>
                    <a:ext uri="{9D8B030D-6E8A-4147-A177-3AD203B41FA5}">
                      <a16:colId xmlns:a16="http://schemas.microsoft.com/office/drawing/2014/main" val="1564263492"/>
                    </a:ext>
                  </a:extLst>
                </a:gridCol>
                <a:gridCol w="464312">
                  <a:extLst>
                    <a:ext uri="{9D8B030D-6E8A-4147-A177-3AD203B41FA5}">
                      <a16:colId xmlns:a16="http://schemas.microsoft.com/office/drawing/2014/main" val="3732555232"/>
                    </a:ext>
                  </a:extLst>
                </a:gridCol>
                <a:gridCol w="440802">
                  <a:extLst>
                    <a:ext uri="{9D8B030D-6E8A-4147-A177-3AD203B41FA5}">
                      <a16:colId xmlns:a16="http://schemas.microsoft.com/office/drawing/2014/main" val="782322816"/>
                    </a:ext>
                  </a:extLst>
                </a:gridCol>
                <a:gridCol w="429048">
                  <a:extLst>
                    <a:ext uri="{9D8B030D-6E8A-4147-A177-3AD203B41FA5}">
                      <a16:colId xmlns:a16="http://schemas.microsoft.com/office/drawing/2014/main" val="1023527232"/>
                    </a:ext>
                  </a:extLst>
                </a:gridCol>
                <a:gridCol w="423170">
                  <a:extLst>
                    <a:ext uri="{9D8B030D-6E8A-4147-A177-3AD203B41FA5}">
                      <a16:colId xmlns:a16="http://schemas.microsoft.com/office/drawing/2014/main" val="3633208633"/>
                    </a:ext>
                  </a:extLst>
                </a:gridCol>
                <a:gridCol w="346765">
                  <a:extLst>
                    <a:ext uri="{9D8B030D-6E8A-4147-A177-3AD203B41FA5}">
                      <a16:colId xmlns:a16="http://schemas.microsoft.com/office/drawing/2014/main" val="844611544"/>
                    </a:ext>
                  </a:extLst>
                </a:gridCol>
                <a:gridCol w="548554">
                  <a:extLst>
                    <a:ext uri="{9D8B030D-6E8A-4147-A177-3AD203B41FA5}">
                      <a16:colId xmlns:a16="http://schemas.microsoft.com/office/drawing/2014/main" val="1070095143"/>
                    </a:ext>
                  </a:extLst>
                </a:gridCol>
                <a:gridCol w="546595">
                  <a:extLst>
                    <a:ext uri="{9D8B030D-6E8A-4147-A177-3AD203B41FA5}">
                      <a16:colId xmlns:a16="http://schemas.microsoft.com/office/drawing/2014/main" val="2911903161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3356039097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1023567693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369426455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3567256102"/>
                    </a:ext>
                  </a:extLst>
                </a:gridCol>
                <a:gridCol w="485862">
                  <a:extLst>
                    <a:ext uri="{9D8B030D-6E8A-4147-A177-3AD203B41FA5}">
                      <a16:colId xmlns:a16="http://schemas.microsoft.com/office/drawing/2014/main" val="1115305854"/>
                    </a:ext>
                  </a:extLst>
                </a:gridCol>
                <a:gridCol w="481944">
                  <a:extLst>
                    <a:ext uri="{9D8B030D-6E8A-4147-A177-3AD203B41FA5}">
                      <a16:colId xmlns:a16="http://schemas.microsoft.com/office/drawing/2014/main" val="2486606398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210612395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1095535463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3934439091"/>
                    </a:ext>
                  </a:extLst>
                </a:gridCol>
                <a:gridCol w="329133">
                  <a:extLst>
                    <a:ext uri="{9D8B030D-6E8A-4147-A177-3AD203B41FA5}">
                      <a16:colId xmlns:a16="http://schemas.microsoft.com/office/drawing/2014/main" val="911539091"/>
                    </a:ext>
                  </a:extLst>
                </a:gridCol>
                <a:gridCol w="525044">
                  <a:extLst>
                    <a:ext uri="{9D8B030D-6E8A-4147-A177-3AD203B41FA5}">
                      <a16:colId xmlns:a16="http://schemas.microsoft.com/office/drawing/2014/main" val="4261502129"/>
                    </a:ext>
                  </a:extLst>
                </a:gridCol>
              </a:tblGrid>
              <a:tr h="2329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OVERTIME WORKING 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</a:t>
                      </a:r>
                      <a:r>
                        <a:rPr lang="vi-VN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FOR TITLE (OT 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r>
                        <a:rPr lang="vi-VN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hrs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76" marR="5876" marT="587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in 2026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54703"/>
                  </a:ext>
                </a:extLst>
              </a:tr>
              <a:tr h="183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43958"/>
                  </a:ext>
                </a:extLst>
              </a:tr>
              <a:tr h="2823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Person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TOT 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340283"/>
                  </a:ext>
                </a:extLst>
              </a:tr>
              <a:tr h="2823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127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5,857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117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6,322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136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5,026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5,674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88595"/>
                  </a:ext>
                </a:extLst>
              </a:tr>
              <a:tr h="2823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114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10,257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12,520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9,186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124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10,853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26057"/>
                  </a:ext>
                </a:extLst>
              </a:tr>
              <a:tr h="2823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619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59,252.0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132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612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63,156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142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616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44,628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128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53,892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512341"/>
                  </a:ext>
                </a:extLst>
              </a:tr>
              <a:tr h="25414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860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75,366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370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867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81,998.0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393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253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874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58,839.5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372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185 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876" marR="5876" marT="58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70,419 </a:t>
                      </a:r>
                    </a:p>
                  </a:txBody>
                  <a:tcPr marL="5876" marR="5876" marT="5876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03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10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0472" y="332656"/>
            <a:ext cx="2160240" cy="360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OT- OVERTIME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8504" y="836712"/>
            <a:ext cx="2592288" cy="2880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OT &amp; AMOUNT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595EE-A60D-3B73-7594-E26FC7E993E8}"/>
              </a:ext>
            </a:extLst>
          </p:cNvPr>
          <p:cNvSpPr txBox="1"/>
          <p:nvPr/>
        </p:nvSpPr>
        <p:spPr>
          <a:xfrm>
            <a:off x="8551026" y="980728"/>
            <a:ext cx="866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[USD </a:t>
            </a:r>
            <a:r>
              <a:rPr lang="en-US" altLang="ko-KR" sz="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26,000</a:t>
            </a: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850057"/>
              </p:ext>
            </p:extLst>
          </p:nvPr>
        </p:nvGraphicFramePr>
        <p:xfrm>
          <a:off x="488504" y="1340768"/>
          <a:ext cx="8915399" cy="4680520"/>
        </p:xfrm>
        <a:graphic>
          <a:graphicData uri="http://schemas.openxmlformats.org/drawingml/2006/table">
            <a:tbl>
              <a:tblPr/>
              <a:tblGrid>
                <a:gridCol w="881790">
                  <a:extLst>
                    <a:ext uri="{9D8B030D-6E8A-4147-A177-3AD203B41FA5}">
                      <a16:colId xmlns:a16="http://schemas.microsoft.com/office/drawing/2014/main" val="1295032302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3606687973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880835611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2268949507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2783195018"/>
                    </a:ext>
                  </a:extLst>
                </a:gridCol>
                <a:gridCol w="576555">
                  <a:extLst>
                    <a:ext uri="{9D8B030D-6E8A-4147-A177-3AD203B41FA5}">
                      <a16:colId xmlns:a16="http://schemas.microsoft.com/office/drawing/2014/main" val="3957199580"/>
                    </a:ext>
                  </a:extLst>
                </a:gridCol>
                <a:gridCol w="680419">
                  <a:extLst>
                    <a:ext uri="{9D8B030D-6E8A-4147-A177-3AD203B41FA5}">
                      <a16:colId xmlns:a16="http://schemas.microsoft.com/office/drawing/2014/main" val="1763693678"/>
                    </a:ext>
                  </a:extLst>
                </a:gridCol>
                <a:gridCol w="661342">
                  <a:extLst>
                    <a:ext uri="{9D8B030D-6E8A-4147-A177-3AD203B41FA5}">
                      <a16:colId xmlns:a16="http://schemas.microsoft.com/office/drawing/2014/main" val="32783768"/>
                    </a:ext>
                  </a:extLst>
                </a:gridCol>
                <a:gridCol w="610470">
                  <a:extLst>
                    <a:ext uri="{9D8B030D-6E8A-4147-A177-3AD203B41FA5}">
                      <a16:colId xmlns:a16="http://schemas.microsoft.com/office/drawing/2014/main" val="1787510170"/>
                    </a:ext>
                  </a:extLst>
                </a:gridCol>
                <a:gridCol w="568076">
                  <a:extLst>
                    <a:ext uri="{9D8B030D-6E8A-4147-A177-3AD203B41FA5}">
                      <a16:colId xmlns:a16="http://schemas.microsoft.com/office/drawing/2014/main" val="2871124007"/>
                    </a:ext>
                  </a:extLst>
                </a:gridCol>
                <a:gridCol w="542640">
                  <a:extLst>
                    <a:ext uri="{9D8B030D-6E8A-4147-A177-3AD203B41FA5}">
                      <a16:colId xmlns:a16="http://schemas.microsoft.com/office/drawing/2014/main" val="3622628630"/>
                    </a:ext>
                  </a:extLst>
                </a:gridCol>
                <a:gridCol w="627427">
                  <a:extLst>
                    <a:ext uri="{9D8B030D-6E8A-4147-A177-3AD203B41FA5}">
                      <a16:colId xmlns:a16="http://schemas.microsoft.com/office/drawing/2014/main" val="3848813412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605441070"/>
                    </a:ext>
                  </a:extLst>
                </a:gridCol>
                <a:gridCol w="746130">
                  <a:extLst>
                    <a:ext uri="{9D8B030D-6E8A-4147-A177-3AD203B41FA5}">
                      <a16:colId xmlns:a16="http://schemas.microsoft.com/office/drawing/2014/main" val="40723896"/>
                    </a:ext>
                  </a:extLst>
                </a:gridCol>
              </a:tblGrid>
              <a:tr h="6371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Jan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Feb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Apr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May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Aug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Sep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Oct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Nov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Dec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836823"/>
                  </a:ext>
                </a:extLst>
              </a:tr>
              <a:tr h="6371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867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874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$ 1,741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388803"/>
                  </a:ext>
                </a:extLst>
              </a:tr>
              <a:tr h="6371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OT 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40hrs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34,680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52,440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$ 87,120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27548"/>
                  </a:ext>
                </a:extLst>
              </a:tr>
              <a:tr h="6371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 OT (hrs)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81,998.0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58,839.5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$ 140,838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379500"/>
                  </a:ext>
                </a:extLst>
              </a:tr>
              <a:tr h="5329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Balance OT(hrs)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47,318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6,400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$ 53,718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943672"/>
                  </a:ext>
                </a:extLst>
              </a:tr>
              <a:tr h="5329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81,493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161,210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$ 242,703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949491"/>
                  </a:ext>
                </a:extLst>
              </a:tr>
              <a:tr h="5329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206,388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149,342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$ 355,729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762455"/>
                  </a:ext>
                </a:extLst>
              </a:tr>
              <a:tr h="5329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124,895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(11,868)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$ 113,026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131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83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8464" y="181876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MANAGEMENT COST DETAIL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316988" y="740616"/>
            <a:ext cx="23762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UTILITY </a:t>
            </a: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TOTAL COST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697416" y="885212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24728" y="3631627"/>
            <a:ext cx="2304256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ELECTRICITY DETAIL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28569"/>
              </p:ext>
            </p:extLst>
          </p:nvPr>
        </p:nvGraphicFramePr>
        <p:xfrm>
          <a:off x="316988" y="1201797"/>
          <a:ext cx="9145380" cy="2429832"/>
        </p:xfrm>
        <a:graphic>
          <a:graphicData uri="http://schemas.openxmlformats.org/drawingml/2006/table">
            <a:tbl>
              <a:tblPr/>
              <a:tblGrid>
                <a:gridCol w="399815">
                  <a:extLst>
                    <a:ext uri="{9D8B030D-6E8A-4147-A177-3AD203B41FA5}">
                      <a16:colId xmlns:a16="http://schemas.microsoft.com/office/drawing/2014/main" val="4246303269"/>
                    </a:ext>
                  </a:extLst>
                </a:gridCol>
                <a:gridCol w="1796823">
                  <a:extLst>
                    <a:ext uri="{9D8B030D-6E8A-4147-A177-3AD203B41FA5}">
                      <a16:colId xmlns:a16="http://schemas.microsoft.com/office/drawing/2014/main" val="519895011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717359278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2417569717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3456121116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905529398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2793358502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2307657720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4172359924"/>
                    </a:ext>
                  </a:extLst>
                </a:gridCol>
                <a:gridCol w="664608">
                  <a:extLst>
                    <a:ext uri="{9D8B030D-6E8A-4147-A177-3AD203B41FA5}">
                      <a16:colId xmlns:a16="http://schemas.microsoft.com/office/drawing/2014/main" val="2512640369"/>
                    </a:ext>
                  </a:extLst>
                </a:gridCol>
                <a:gridCol w="833100">
                  <a:extLst>
                    <a:ext uri="{9D8B030D-6E8A-4147-A177-3AD203B41FA5}">
                      <a16:colId xmlns:a16="http://schemas.microsoft.com/office/drawing/2014/main" val="65707714"/>
                    </a:ext>
                  </a:extLst>
                </a:gridCol>
                <a:gridCol w="798778">
                  <a:extLst>
                    <a:ext uri="{9D8B030D-6E8A-4147-A177-3AD203B41FA5}">
                      <a16:colId xmlns:a16="http://schemas.microsoft.com/office/drawing/2014/main" val="1777375641"/>
                    </a:ext>
                  </a:extLst>
                </a:gridCol>
              </a:tblGrid>
              <a:tr h="23943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771151"/>
                  </a:ext>
                </a:extLst>
              </a:tr>
              <a:tr h="239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January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February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942549"/>
                  </a:ext>
                </a:extLst>
              </a:tr>
              <a:tr h="310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889759"/>
                  </a:ext>
                </a:extLst>
              </a:tr>
              <a:tr h="328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290,765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295,691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265,238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280,064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560,127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972956"/>
                  </a:ext>
                </a:extLst>
              </a:tr>
              <a:tr h="328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Fresh Water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2,093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2,236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2,344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2,037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2,191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4,381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79703"/>
                  </a:ext>
                </a:extLst>
              </a:tr>
              <a:tr h="328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wastewater treatment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31,500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38,069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38,388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26,754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32,571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65,142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92853"/>
                  </a:ext>
                </a:extLst>
              </a:tr>
              <a:tr h="3281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Maintainance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65,801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35,619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176,778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13,975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95,377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190,753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77183"/>
                  </a:ext>
                </a:extLst>
              </a:tr>
              <a:tr h="32811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390,159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371,615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512,399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308,004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410,202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820,403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75694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912902"/>
              </p:ext>
            </p:extLst>
          </p:nvPr>
        </p:nvGraphicFramePr>
        <p:xfrm>
          <a:off x="316988" y="3991666"/>
          <a:ext cx="9145381" cy="2679869"/>
        </p:xfrm>
        <a:graphic>
          <a:graphicData uri="http://schemas.openxmlformats.org/drawingml/2006/table">
            <a:tbl>
              <a:tblPr/>
              <a:tblGrid>
                <a:gridCol w="1492538">
                  <a:extLst>
                    <a:ext uri="{9D8B030D-6E8A-4147-A177-3AD203B41FA5}">
                      <a16:colId xmlns:a16="http://schemas.microsoft.com/office/drawing/2014/main" val="3992335431"/>
                    </a:ext>
                  </a:extLst>
                </a:gridCol>
                <a:gridCol w="2152699">
                  <a:extLst>
                    <a:ext uri="{9D8B030D-6E8A-4147-A177-3AD203B41FA5}">
                      <a16:colId xmlns:a16="http://schemas.microsoft.com/office/drawing/2014/main" val="3393530487"/>
                    </a:ext>
                  </a:extLst>
                </a:gridCol>
                <a:gridCol w="861079">
                  <a:extLst>
                    <a:ext uri="{9D8B030D-6E8A-4147-A177-3AD203B41FA5}">
                      <a16:colId xmlns:a16="http://schemas.microsoft.com/office/drawing/2014/main" val="4095539832"/>
                    </a:ext>
                  </a:extLst>
                </a:gridCol>
                <a:gridCol w="807262">
                  <a:extLst>
                    <a:ext uri="{9D8B030D-6E8A-4147-A177-3AD203B41FA5}">
                      <a16:colId xmlns:a16="http://schemas.microsoft.com/office/drawing/2014/main" val="369081515"/>
                    </a:ext>
                  </a:extLst>
                </a:gridCol>
                <a:gridCol w="889782">
                  <a:extLst>
                    <a:ext uri="{9D8B030D-6E8A-4147-A177-3AD203B41FA5}">
                      <a16:colId xmlns:a16="http://schemas.microsoft.com/office/drawing/2014/main" val="1892158972"/>
                    </a:ext>
                  </a:extLst>
                </a:gridCol>
                <a:gridCol w="1033295">
                  <a:extLst>
                    <a:ext uri="{9D8B030D-6E8A-4147-A177-3AD203B41FA5}">
                      <a16:colId xmlns:a16="http://schemas.microsoft.com/office/drawing/2014/main" val="1046760135"/>
                    </a:ext>
                  </a:extLst>
                </a:gridCol>
                <a:gridCol w="932836">
                  <a:extLst>
                    <a:ext uri="{9D8B030D-6E8A-4147-A177-3AD203B41FA5}">
                      <a16:colId xmlns:a16="http://schemas.microsoft.com/office/drawing/2014/main" val="908747914"/>
                    </a:ext>
                  </a:extLst>
                </a:gridCol>
                <a:gridCol w="975890">
                  <a:extLst>
                    <a:ext uri="{9D8B030D-6E8A-4147-A177-3AD203B41FA5}">
                      <a16:colId xmlns:a16="http://schemas.microsoft.com/office/drawing/2014/main" val="1308205621"/>
                    </a:ext>
                  </a:extLst>
                </a:gridCol>
              </a:tblGrid>
              <a:tr h="1924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meter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Area 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Jan.2</a:t>
                      </a: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Feb.2</a:t>
                      </a: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04215"/>
                  </a:ext>
                </a:extLst>
              </a:tr>
              <a:tr h="19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587"/>
                  </a:ext>
                </a:extLst>
              </a:tr>
              <a:tr h="3937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3750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1, CNC2, Tapping, Chromate, painting, chiller A.chiller CNC auto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1,297,600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84,777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1,294,300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105,842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1,135,700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92,710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83544"/>
                  </a:ext>
                </a:extLst>
              </a:tr>
              <a:tr h="358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2500 KVA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Casting,Trimming, Mold,FCU, Office,Air compressor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1,033,664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53,889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1,076,224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87,731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975,744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79,248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223045"/>
                  </a:ext>
                </a:extLst>
              </a:tr>
              <a:tr h="35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1250A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Chillers, Chillier for painting, Polishing, Injection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507,040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30,951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481,920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39,366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455,600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37,025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91733"/>
                  </a:ext>
                </a:extLst>
              </a:tr>
              <a:tr h="218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1250B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Casting,Chiller,New WH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347,910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24,784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336,840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27,452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320,700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26,012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70935"/>
                  </a:ext>
                </a:extLst>
              </a:tr>
              <a:tr h="218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1250C KVA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Recycling room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395,280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31,230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390,930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33,894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347,160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29,640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39251"/>
                  </a:ext>
                </a:extLst>
              </a:tr>
              <a:tr h="358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management and operating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604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604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604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178736"/>
                  </a:ext>
                </a:extLst>
              </a:tr>
              <a:tr h="39370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3,581,494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226,236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3,580,214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294,889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3,234,904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265,238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60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425990" y="776453"/>
            <a:ext cx="8839201" cy="276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OFFICE COST DETAIL 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769424" y="806873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30" y="188718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MANAGEMENT COST DETAIL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489966"/>
              </p:ext>
            </p:extLst>
          </p:nvPr>
        </p:nvGraphicFramePr>
        <p:xfrm>
          <a:off x="344488" y="1183926"/>
          <a:ext cx="9073007" cy="5426450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137155861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64629468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32652594"/>
                    </a:ext>
                  </a:extLst>
                </a:gridCol>
                <a:gridCol w="624860">
                  <a:extLst>
                    <a:ext uri="{9D8B030D-6E8A-4147-A177-3AD203B41FA5}">
                      <a16:colId xmlns:a16="http://schemas.microsoft.com/office/drawing/2014/main" val="1958664365"/>
                    </a:ext>
                  </a:extLst>
                </a:gridCol>
                <a:gridCol w="554076">
                  <a:extLst>
                    <a:ext uri="{9D8B030D-6E8A-4147-A177-3AD203B41FA5}">
                      <a16:colId xmlns:a16="http://schemas.microsoft.com/office/drawing/2014/main" val="877495487"/>
                    </a:ext>
                  </a:extLst>
                </a:gridCol>
                <a:gridCol w="554076">
                  <a:extLst>
                    <a:ext uri="{9D8B030D-6E8A-4147-A177-3AD203B41FA5}">
                      <a16:colId xmlns:a16="http://schemas.microsoft.com/office/drawing/2014/main" val="3072898149"/>
                    </a:ext>
                  </a:extLst>
                </a:gridCol>
                <a:gridCol w="500800">
                  <a:extLst>
                    <a:ext uri="{9D8B030D-6E8A-4147-A177-3AD203B41FA5}">
                      <a16:colId xmlns:a16="http://schemas.microsoft.com/office/drawing/2014/main" val="2667442684"/>
                    </a:ext>
                  </a:extLst>
                </a:gridCol>
                <a:gridCol w="522112">
                  <a:extLst>
                    <a:ext uri="{9D8B030D-6E8A-4147-A177-3AD203B41FA5}">
                      <a16:colId xmlns:a16="http://schemas.microsoft.com/office/drawing/2014/main" val="4010145451"/>
                    </a:ext>
                  </a:extLst>
                </a:gridCol>
                <a:gridCol w="519447">
                  <a:extLst>
                    <a:ext uri="{9D8B030D-6E8A-4147-A177-3AD203B41FA5}">
                      <a16:colId xmlns:a16="http://schemas.microsoft.com/office/drawing/2014/main" val="46571931"/>
                    </a:ext>
                  </a:extLst>
                </a:gridCol>
                <a:gridCol w="639319">
                  <a:extLst>
                    <a:ext uri="{9D8B030D-6E8A-4147-A177-3AD203B41FA5}">
                      <a16:colId xmlns:a16="http://schemas.microsoft.com/office/drawing/2014/main" val="2212525527"/>
                    </a:ext>
                  </a:extLst>
                </a:gridCol>
                <a:gridCol w="639319">
                  <a:extLst>
                    <a:ext uri="{9D8B030D-6E8A-4147-A177-3AD203B41FA5}">
                      <a16:colId xmlns:a16="http://schemas.microsoft.com/office/drawing/2014/main" val="2650027509"/>
                    </a:ext>
                  </a:extLst>
                </a:gridCol>
                <a:gridCol w="639319">
                  <a:extLst>
                    <a:ext uri="{9D8B030D-6E8A-4147-A177-3AD203B41FA5}">
                      <a16:colId xmlns:a16="http://schemas.microsoft.com/office/drawing/2014/main" val="3707946359"/>
                    </a:ext>
                  </a:extLst>
                </a:gridCol>
                <a:gridCol w="639319">
                  <a:extLst>
                    <a:ext uri="{9D8B030D-6E8A-4147-A177-3AD203B41FA5}">
                      <a16:colId xmlns:a16="http://schemas.microsoft.com/office/drawing/2014/main" val="1684787556"/>
                    </a:ext>
                  </a:extLst>
                </a:gridCol>
              </a:tblGrid>
              <a:tr h="11438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 Y Avg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Dec-25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726159"/>
                  </a:ext>
                </a:extLst>
              </a:tr>
              <a:tr h="1461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814019"/>
                  </a:ext>
                </a:extLst>
              </a:tr>
              <a:tr h="1461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226667"/>
                  </a:ext>
                </a:extLst>
              </a:tr>
              <a:tr h="21768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Vietnamses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34,076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34,106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36,795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25,856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31,325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62,651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5503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Korean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2,054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2,033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2,043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4,087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103689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LPG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1,448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1,463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1,686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1,270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1,478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2,956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17476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drinking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1,163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568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617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593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1,186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36735"/>
                  </a:ext>
                </a:extLst>
              </a:tr>
              <a:tr h="21768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Rent  vehicle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Truck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4,133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4,205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3,415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4,213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8,427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5191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15,116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15,603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16,206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15,465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15,835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31,671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739251"/>
                  </a:ext>
                </a:extLst>
              </a:tr>
              <a:tr h="21768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Service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Security fee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4,921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5,083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5,244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5,035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5,139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10,279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65263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2,636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2,559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2,607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5,213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7933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Tree service, insect service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669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1,520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853199"/>
                  </a:ext>
                </a:extLst>
              </a:tr>
              <a:tr h="217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Labor protection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Uniform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597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631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918277"/>
                  </a:ext>
                </a:extLst>
              </a:tr>
              <a:tr h="21768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Stationery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4,065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4,878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4,518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4,762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9,524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65859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Printing, photocopy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585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451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902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307672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Computer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4,239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2,055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4,141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3,145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6,291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62984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Telephone, internet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709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734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689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1,377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822112"/>
                  </a:ext>
                </a:extLst>
              </a:tr>
              <a:tr h="21768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Medicine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18827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Accident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99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41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160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319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2914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604630"/>
                  </a:ext>
                </a:extLst>
              </a:tr>
              <a:tr h="21768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Related Foreigners' expenses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 ticket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9,727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10,990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3,944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19,779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11,862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23,723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93777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Hotel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472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173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106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998819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Restaurance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1,208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1,894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3,882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2,888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5,776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408860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Visa, working permit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1,122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274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212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424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735893"/>
                  </a:ext>
                </a:extLst>
              </a:tr>
              <a:tr h="217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01092"/>
                  </a:ext>
                </a:extLst>
              </a:tr>
              <a:tr h="21768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89,225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89,481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85,557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90,979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88,268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176,535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889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08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792088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PURCHASE COST BY ITEM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472" y="164438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852459"/>
              </p:ext>
            </p:extLst>
          </p:nvPr>
        </p:nvGraphicFramePr>
        <p:xfrm>
          <a:off x="294724" y="1337201"/>
          <a:ext cx="9122770" cy="5068490"/>
        </p:xfrm>
        <a:graphic>
          <a:graphicData uri="http://schemas.openxmlformats.org/drawingml/2006/table">
            <a:tbl>
              <a:tblPr/>
              <a:tblGrid>
                <a:gridCol w="239705">
                  <a:extLst>
                    <a:ext uri="{9D8B030D-6E8A-4147-A177-3AD203B41FA5}">
                      <a16:colId xmlns:a16="http://schemas.microsoft.com/office/drawing/2014/main" val="4178796090"/>
                    </a:ext>
                  </a:extLst>
                </a:gridCol>
                <a:gridCol w="1326367">
                  <a:extLst>
                    <a:ext uri="{9D8B030D-6E8A-4147-A177-3AD203B41FA5}">
                      <a16:colId xmlns:a16="http://schemas.microsoft.com/office/drawing/2014/main" val="3245505976"/>
                    </a:ext>
                  </a:extLst>
                </a:gridCol>
                <a:gridCol w="1326367">
                  <a:extLst>
                    <a:ext uri="{9D8B030D-6E8A-4147-A177-3AD203B41FA5}">
                      <a16:colId xmlns:a16="http://schemas.microsoft.com/office/drawing/2014/main" val="1407192555"/>
                    </a:ext>
                  </a:extLst>
                </a:gridCol>
                <a:gridCol w="581284">
                  <a:extLst>
                    <a:ext uri="{9D8B030D-6E8A-4147-A177-3AD203B41FA5}">
                      <a16:colId xmlns:a16="http://schemas.microsoft.com/office/drawing/2014/main" val="1881644683"/>
                    </a:ext>
                  </a:extLst>
                </a:gridCol>
                <a:gridCol w="663184">
                  <a:extLst>
                    <a:ext uri="{9D8B030D-6E8A-4147-A177-3AD203B41FA5}">
                      <a16:colId xmlns:a16="http://schemas.microsoft.com/office/drawing/2014/main" val="3951482933"/>
                    </a:ext>
                  </a:extLst>
                </a:gridCol>
                <a:gridCol w="659188">
                  <a:extLst>
                    <a:ext uri="{9D8B030D-6E8A-4147-A177-3AD203B41FA5}">
                      <a16:colId xmlns:a16="http://schemas.microsoft.com/office/drawing/2014/main" val="4064637850"/>
                    </a:ext>
                  </a:extLst>
                </a:gridCol>
                <a:gridCol w="515366">
                  <a:extLst>
                    <a:ext uri="{9D8B030D-6E8A-4147-A177-3AD203B41FA5}">
                      <a16:colId xmlns:a16="http://schemas.microsoft.com/office/drawing/2014/main" val="3545574942"/>
                    </a:ext>
                  </a:extLst>
                </a:gridCol>
                <a:gridCol w="593270">
                  <a:extLst>
                    <a:ext uri="{9D8B030D-6E8A-4147-A177-3AD203B41FA5}">
                      <a16:colId xmlns:a16="http://schemas.microsoft.com/office/drawing/2014/main" val="2550957275"/>
                    </a:ext>
                  </a:extLst>
                </a:gridCol>
                <a:gridCol w="497388">
                  <a:extLst>
                    <a:ext uri="{9D8B030D-6E8A-4147-A177-3AD203B41FA5}">
                      <a16:colId xmlns:a16="http://schemas.microsoft.com/office/drawing/2014/main" val="1268091072"/>
                    </a:ext>
                  </a:extLst>
                </a:gridCol>
                <a:gridCol w="743085">
                  <a:extLst>
                    <a:ext uri="{9D8B030D-6E8A-4147-A177-3AD203B41FA5}">
                      <a16:colId xmlns:a16="http://schemas.microsoft.com/office/drawing/2014/main" val="2236793838"/>
                    </a:ext>
                  </a:extLst>
                </a:gridCol>
                <a:gridCol w="497388">
                  <a:extLst>
                    <a:ext uri="{9D8B030D-6E8A-4147-A177-3AD203B41FA5}">
                      <a16:colId xmlns:a16="http://schemas.microsoft.com/office/drawing/2014/main" val="3872097971"/>
                    </a:ext>
                  </a:extLst>
                </a:gridCol>
                <a:gridCol w="743085">
                  <a:extLst>
                    <a:ext uri="{9D8B030D-6E8A-4147-A177-3AD203B41FA5}">
                      <a16:colId xmlns:a16="http://schemas.microsoft.com/office/drawing/2014/main" val="4135848683"/>
                    </a:ext>
                  </a:extLst>
                </a:gridCol>
                <a:gridCol w="737093">
                  <a:extLst>
                    <a:ext uri="{9D8B030D-6E8A-4147-A177-3AD203B41FA5}">
                      <a16:colId xmlns:a16="http://schemas.microsoft.com/office/drawing/2014/main" val="717301115"/>
                    </a:ext>
                  </a:extLst>
                </a:gridCol>
              </a:tblGrid>
              <a:tr h="18960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44436"/>
                  </a:ext>
                </a:extLst>
              </a:tr>
              <a:tr h="2460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4945"/>
                  </a:ext>
                </a:extLst>
              </a:tr>
              <a:tr h="2751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60061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Fixed assets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Machinery and equipment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294,418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89,908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236,662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204,395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220,528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441,056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045726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Raw materials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Ingot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769,181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817,000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922,474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517,215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719,844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1,439,689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56006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80,734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60,470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43,831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74,835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59,333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118,667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609080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Jig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11,646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30,198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5,451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8,521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6,986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13,972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77469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tools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57,450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62,749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85,532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55,812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70,672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141,344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744900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Sub-materials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Semi - FGs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52,178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19,208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89,557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5,081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47,319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94,638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71774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Chemical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67,419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83,092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46,067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62,075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54,071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108,142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68327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Oil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66,853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78,398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61,168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53,631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57,399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114,798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70161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103,655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123,271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120,035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72,960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96,497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192,995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82324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67,600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87,755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72,916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87,914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175,828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35315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supplies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192,934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151,883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210,360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155,999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183,179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366,359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746640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37,146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5,618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79,438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67,840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135,681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644185"/>
                  </a:ext>
                </a:extLst>
              </a:tr>
              <a:tr h="31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Others (Repair, Service fee...)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17,518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36,935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8,795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7,984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8,390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16,780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511610"/>
                  </a:ext>
                </a:extLst>
              </a:tr>
              <a:tr h="31126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1,646,484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1,370,862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1,679,974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3,359,948 </a:t>
                      </a:r>
                    </a:p>
                  </a:txBody>
                  <a:tcPr marL="6523" marR="6523" marT="6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424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63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2454" y="188640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2880319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PURCHASE COST BY DEP’T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92677"/>
              </p:ext>
            </p:extLst>
          </p:nvPr>
        </p:nvGraphicFramePr>
        <p:xfrm>
          <a:off x="272481" y="1313005"/>
          <a:ext cx="9145016" cy="5212341"/>
        </p:xfrm>
        <a:graphic>
          <a:graphicData uri="http://schemas.openxmlformats.org/drawingml/2006/table">
            <a:tbl>
              <a:tblPr/>
              <a:tblGrid>
                <a:gridCol w="254618">
                  <a:extLst>
                    <a:ext uri="{9D8B030D-6E8A-4147-A177-3AD203B41FA5}">
                      <a16:colId xmlns:a16="http://schemas.microsoft.com/office/drawing/2014/main" val="3275082144"/>
                    </a:ext>
                  </a:extLst>
                </a:gridCol>
                <a:gridCol w="2272462">
                  <a:extLst>
                    <a:ext uri="{9D8B030D-6E8A-4147-A177-3AD203B41FA5}">
                      <a16:colId xmlns:a16="http://schemas.microsoft.com/office/drawing/2014/main" val="3958360359"/>
                    </a:ext>
                  </a:extLst>
                </a:gridCol>
                <a:gridCol w="617447">
                  <a:extLst>
                    <a:ext uri="{9D8B030D-6E8A-4147-A177-3AD203B41FA5}">
                      <a16:colId xmlns:a16="http://schemas.microsoft.com/office/drawing/2014/main" val="3410473001"/>
                    </a:ext>
                  </a:extLst>
                </a:gridCol>
                <a:gridCol w="704442">
                  <a:extLst>
                    <a:ext uri="{9D8B030D-6E8A-4147-A177-3AD203B41FA5}">
                      <a16:colId xmlns:a16="http://schemas.microsoft.com/office/drawing/2014/main" val="3992926026"/>
                    </a:ext>
                  </a:extLst>
                </a:gridCol>
                <a:gridCol w="700199">
                  <a:extLst>
                    <a:ext uri="{9D8B030D-6E8A-4147-A177-3AD203B41FA5}">
                      <a16:colId xmlns:a16="http://schemas.microsoft.com/office/drawing/2014/main" val="2607409672"/>
                    </a:ext>
                  </a:extLst>
                </a:gridCol>
                <a:gridCol w="547428">
                  <a:extLst>
                    <a:ext uri="{9D8B030D-6E8A-4147-A177-3AD203B41FA5}">
                      <a16:colId xmlns:a16="http://schemas.microsoft.com/office/drawing/2014/main" val="3362718447"/>
                    </a:ext>
                  </a:extLst>
                </a:gridCol>
                <a:gridCol w="630179">
                  <a:extLst>
                    <a:ext uri="{9D8B030D-6E8A-4147-A177-3AD203B41FA5}">
                      <a16:colId xmlns:a16="http://schemas.microsoft.com/office/drawing/2014/main" val="1397788646"/>
                    </a:ext>
                  </a:extLst>
                </a:gridCol>
                <a:gridCol w="528332">
                  <a:extLst>
                    <a:ext uri="{9D8B030D-6E8A-4147-A177-3AD203B41FA5}">
                      <a16:colId xmlns:a16="http://schemas.microsoft.com/office/drawing/2014/main" val="823101153"/>
                    </a:ext>
                  </a:extLst>
                </a:gridCol>
                <a:gridCol w="789314">
                  <a:extLst>
                    <a:ext uri="{9D8B030D-6E8A-4147-A177-3AD203B41FA5}">
                      <a16:colId xmlns:a16="http://schemas.microsoft.com/office/drawing/2014/main" val="3178778683"/>
                    </a:ext>
                  </a:extLst>
                </a:gridCol>
                <a:gridCol w="528332">
                  <a:extLst>
                    <a:ext uri="{9D8B030D-6E8A-4147-A177-3AD203B41FA5}">
                      <a16:colId xmlns:a16="http://schemas.microsoft.com/office/drawing/2014/main" val="3349890643"/>
                    </a:ext>
                  </a:extLst>
                </a:gridCol>
                <a:gridCol w="789314">
                  <a:extLst>
                    <a:ext uri="{9D8B030D-6E8A-4147-A177-3AD203B41FA5}">
                      <a16:colId xmlns:a16="http://schemas.microsoft.com/office/drawing/2014/main" val="4178453782"/>
                    </a:ext>
                  </a:extLst>
                </a:gridCol>
                <a:gridCol w="782949">
                  <a:extLst>
                    <a:ext uri="{9D8B030D-6E8A-4147-A177-3AD203B41FA5}">
                      <a16:colId xmlns:a16="http://schemas.microsoft.com/office/drawing/2014/main" val="375269903"/>
                    </a:ext>
                  </a:extLst>
                </a:gridCol>
              </a:tblGrid>
              <a:tr h="14673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210936"/>
                  </a:ext>
                </a:extLst>
              </a:tr>
              <a:tr h="146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83560"/>
                  </a:ext>
                </a:extLst>
              </a:tr>
              <a:tr h="146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59045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Assembly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12,617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11,132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15,787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733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8,260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16,520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890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931,689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936,277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1,066,270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579,221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822,745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1,645,491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79846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Caulking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9,870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5,460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34218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1,871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75295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180,846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106,347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172,134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67,557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119,846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239,692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3395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CNC(Maintaining)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35,375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22,224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44,406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45,565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91,130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580128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Dev Team-R&amp;D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33,500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27,166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9,579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76,439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43,009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86,017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023744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EHS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3,831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5,889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3,530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2,020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2,775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5,550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9133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 press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10,284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612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Injection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3,280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1,678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3,081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2,811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5,622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9763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 Dev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97,662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65,546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57,044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29,558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43,301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86,602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29351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N-Chromate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70,126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83,092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46,275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62,075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54,175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108,350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16846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67,637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87,755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72,916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87,914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175,828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12702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357048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Laser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69265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Polishing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25,250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29,673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8,660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141,350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75,005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150,010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08980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support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77,880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62,553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105,917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69,475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87,696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175,392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815802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143,004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169,620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258,159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128,226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193,193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386,385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15778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40,993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5,618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79,438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67,840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135,681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68831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Trimming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67,345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19,257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7,092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20,342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40,685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548539"/>
                  </a:ext>
                </a:extLst>
              </a:tr>
              <a:tr h="2169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Warehouse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23,790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7,197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4,956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5,340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10,680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592473"/>
                  </a:ext>
                </a:extLst>
              </a:tr>
              <a:tr h="2169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1,646,484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1,370,862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1,680,131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3,359,948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739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104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TOP" val="97"/>
  <p:tag name="PRESERVEASPECTRATIO" val="False"/>
  <p:tag name="DEFAULTHEIGHT" val="23.5"/>
  <p:tag name="DEFAULTWIDTH" val="504"/>
  <p:tag name="DEFAULTONLEFT" val="234"/>
  <p:tag name="DEFAULTOFFLEFT" val="-524"/>
  <p:tag name="DEFAULTLEFT" val="234"/>
  <p:tag name="SLIDEELEMTYPE" val="2"/>
  <p:tag name="BULLETSTYLE" val="BulletStyle"/>
  <p:tag name="LEGALDAYONE" val="True"/>
</p:tagLst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rgbClr val="C00000"/>
          </a:solidFill>
        </a:ln>
      </a:spPr>
      <a:bodyPr lIns="0" tIns="0" rIns="0" bIns="0" anchor="ctr"/>
      <a:lstStyle>
        <a:defPPr>
          <a:lnSpc>
            <a:spcPct val="150000"/>
          </a:lnSpc>
          <a:buFont typeface="Wingdings" pitchFamily="2" charset="2"/>
          <a:buChar char="ü"/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dirty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160384</TotalTime>
  <Words>3624</Words>
  <Application>Microsoft Office PowerPoint</Application>
  <PresentationFormat>A4 Paper (210x297 mm)</PresentationFormat>
  <Paragraphs>1907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맑은 고딕</vt:lpstr>
      <vt:lpstr>Arial</vt:lpstr>
      <vt:lpstr>Calibri</vt:lpstr>
      <vt:lpstr>굴림</vt:lpstr>
      <vt:lpstr>HY헤드라인M</vt:lpstr>
      <vt:lpstr>Times New Roman</vt:lpstr>
      <vt:lpstr>Wingdings</vt:lpstr>
      <vt:lpstr>3_Office 테마</vt:lpstr>
      <vt:lpstr>디자인 사용자 지정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NVD.DUC</cp:lastModifiedBy>
  <cp:revision>7118</cp:revision>
  <cp:lastPrinted>2022-05-19T08:58:48Z</cp:lastPrinted>
  <dcterms:created xsi:type="dcterms:W3CDTF">2011-10-10T11:45:52Z</dcterms:created>
  <dcterms:modified xsi:type="dcterms:W3CDTF">2026-03-11T09:53:27Z</dcterms:modified>
</cp:coreProperties>
</file>