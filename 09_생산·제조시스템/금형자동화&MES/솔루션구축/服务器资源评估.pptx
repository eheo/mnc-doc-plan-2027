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833" r:id="rId2"/>
    <p:sldId id="834" r:id="rId3"/>
    <p:sldId id="83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89648-DD19-404E-B03A-ECAF7E987D18}" v="1" dt="2026-05-02T03:02:19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 bwMode="auto">
          <a:xfrm>
            <a:off x="10029825" y="130175"/>
            <a:ext cx="198278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6"/>
          <p:cNvCxnSpPr>
            <a:cxnSpLocks noChangeShapeType="1"/>
          </p:cNvCxnSpPr>
          <p:nvPr userDrawn="1"/>
        </p:nvCxnSpPr>
        <p:spPr bwMode="auto">
          <a:xfrm flipH="1">
            <a:off x="0" y="703263"/>
            <a:ext cx="12192000" cy="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矩形 5"/>
          <p:cNvSpPr>
            <a:spLocks noChangeArrowheads="1"/>
          </p:cNvSpPr>
          <p:nvPr userDrawn="1"/>
        </p:nvSpPr>
        <p:spPr bwMode="auto">
          <a:xfrm>
            <a:off x="-47625" y="163513"/>
            <a:ext cx="166688" cy="463550"/>
          </a:xfrm>
          <a:prstGeom prst="rect">
            <a:avLst/>
          </a:prstGeom>
          <a:solidFill>
            <a:srgbClr val="275A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177800" y="22226"/>
            <a:ext cx="9702800" cy="658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0" hasCustomPrompt="1"/>
          </p:nvPr>
        </p:nvSpPr>
        <p:spPr>
          <a:xfrm>
            <a:off x="330200" y="1041399"/>
            <a:ext cx="11493500" cy="54609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CC431-9574-4F47-A647-E688FA77A4E3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8AAB0-A7EA-48CD-B258-E708C136F9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模德宝系统网络架构与建议</a:t>
            </a: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281226" y="2573440"/>
            <a:ext cx="11273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/>
          <p:nvPr/>
        </p:nvCxnSpPr>
        <p:spPr bwMode="auto">
          <a:xfrm>
            <a:off x="944252" y="788686"/>
            <a:ext cx="0" cy="60368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50"/>
          <p:cNvSpPr txBox="1"/>
          <p:nvPr/>
        </p:nvSpPr>
        <p:spPr>
          <a:xfrm>
            <a:off x="342503" y="157591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用户</a:t>
            </a:r>
          </a:p>
        </p:txBody>
      </p:sp>
      <p:sp>
        <p:nvSpPr>
          <p:cNvPr id="12" name="TextBox 240"/>
          <p:cNvSpPr txBox="1"/>
          <p:nvPr/>
        </p:nvSpPr>
        <p:spPr>
          <a:xfrm>
            <a:off x="300614" y="5800734"/>
            <a:ext cx="664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物理服务器</a:t>
            </a:r>
          </a:p>
        </p:txBody>
      </p:sp>
      <p:pic>
        <p:nvPicPr>
          <p:cNvPr id="16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145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983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21"/>
          <p:cNvSpPr/>
          <p:nvPr/>
        </p:nvSpPr>
        <p:spPr>
          <a:xfrm>
            <a:off x="1171464" y="771229"/>
            <a:ext cx="1478388" cy="315223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407752" y="771229"/>
            <a:ext cx="2037296" cy="315223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312069" y="868485"/>
            <a:ext cx="1337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个工控机对接</a:t>
            </a:r>
            <a:r>
              <a:rPr lang="en-US" altLang="zh-CN" sz="1200" dirty="0"/>
              <a:t>200</a:t>
            </a:r>
            <a:r>
              <a:rPr lang="zh-CN" altLang="en-US" sz="1200" dirty="0"/>
              <a:t>台设备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440704" y="788686"/>
            <a:ext cx="1884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用户操作电脑或平板、看板</a:t>
            </a: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342503" y="5725679"/>
            <a:ext cx="11273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50"/>
          <p:cNvSpPr txBox="1"/>
          <p:nvPr/>
        </p:nvSpPr>
        <p:spPr>
          <a:xfrm>
            <a:off x="342503" y="403183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网络</a:t>
            </a:r>
          </a:p>
        </p:txBody>
      </p:sp>
      <p:sp>
        <p:nvSpPr>
          <p:cNvPr id="28" name="矩形 27"/>
          <p:cNvSpPr/>
          <p:nvPr/>
        </p:nvSpPr>
        <p:spPr>
          <a:xfrm>
            <a:off x="4216070" y="4904103"/>
            <a:ext cx="4200131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核心交换机</a:t>
            </a:r>
            <a:r>
              <a:rPr lang="en-US" altLang="zh-CN" dirty="0"/>
              <a:t>(</a:t>
            </a:r>
            <a:r>
              <a:rPr lang="zh-CN" altLang="en-US" dirty="0"/>
              <a:t>三层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232337" y="3293965"/>
            <a:ext cx="1339807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交换机</a:t>
            </a:r>
          </a:p>
        </p:txBody>
      </p:sp>
      <p:sp>
        <p:nvSpPr>
          <p:cNvPr id="31" name="矩形 30"/>
          <p:cNvSpPr/>
          <p:nvPr/>
        </p:nvSpPr>
        <p:spPr>
          <a:xfrm>
            <a:off x="9464331" y="3293965"/>
            <a:ext cx="1784016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交换机</a:t>
            </a:r>
          </a:p>
        </p:txBody>
      </p:sp>
      <p:cxnSp>
        <p:nvCxnSpPr>
          <p:cNvPr id="33" name="连接符: 肘形 32"/>
          <p:cNvCxnSpPr>
            <a:stCxn id="16" idx="2"/>
            <a:endCxn id="44" idx="0"/>
          </p:cNvCxnSpPr>
          <p:nvPr/>
        </p:nvCxnSpPr>
        <p:spPr>
          <a:xfrm rot="16200000" flipH="1">
            <a:off x="1097839" y="2697588"/>
            <a:ext cx="1087860" cy="1030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615352" y="4900929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245724" y="4900929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876096" y="4900929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506468" y="4900929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7136840" y="4900929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767210" y="4900929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581111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878096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087941" y="330068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0384926" y="330068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连接符: 肘形 51"/>
          <p:cNvCxnSpPr>
            <a:stCxn id="17" idx="2"/>
            <a:endCxn id="45" idx="0"/>
          </p:cNvCxnSpPr>
          <p:nvPr/>
        </p:nvCxnSpPr>
        <p:spPr>
          <a:xfrm rot="5400000">
            <a:off x="1583751" y="2611748"/>
            <a:ext cx="1087860" cy="2747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1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934" y="1518280"/>
            <a:ext cx="390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" name="连接符: 肘形 55"/>
          <p:cNvCxnSpPr>
            <a:stCxn id="55" idx="2"/>
            <a:endCxn id="48" idx="0"/>
          </p:cNvCxnSpPr>
          <p:nvPr/>
        </p:nvCxnSpPr>
        <p:spPr>
          <a:xfrm rot="16200000" flipH="1">
            <a:off x="9464144" y="2564682"/>
            <a:ext cx="1268051" cy="20394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>
            <a:endCxn id="49" idx="0"/>
          </p:cNvCxnSpPr>
          <p:nvPr/>
        </p:nvCxnSpPr>
        <p:spPr>
          <a:xfrm rot="5400000">
            <a:off x="10089276" y="2440481"/>
            <a:ext cx="1268051" cy="45234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31" idx="2"/>
            <a:endCxn id="39" idx="0"/>
          </p:cNvCxnSpPr>
          <p:nvPr/>
        </p:nvCxnSpPr>
        <p:spPr>
          <a:xfrm flipH="1">
            <a:off x="7879411" y="3856684"/>
            <a:ext cx="2476928" cy="104424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 flipV="1">
            <a:off x="6105992" y="5439137"/>
            <a:ext cx="1" cy="419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>
            <a:off x="10610401" y="1575917"/>
            <a:ext cx="715036" cy="508067"/>
            <a:chOff x="7649214" y="1458241"/>
            <a:chExt cx="980436" cy="649836"/>
          </a:xfrm>
        </p:grpSpPr>
        <p:pic>
          <p:nvPicPr>
            <p:cNvPr id="89" name="图片 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49214" y="1458241"/>
              <a:ext cx="980436" cy="649836"/>
            </a:xfrm>
            <a:prstGeom prst="rect">
              <a:avLst/>
            </a:prstGeom>
          </p:spPr>
        </p:pic>
        <p:pic>
          <p:nvPicPr>
            <p:cNvPr id="90" name="图片 8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7722117" y="1520929"/>
              <a:ext cx="843239" cy="511701"/>
            </a:xfrm>
            <a:prstGeom prst="rect">
              <a:avLst/>
            </a:prstGeom>
            <a:noFill/>
            <a:ln w="12700">
              <a:noFill/>
              <a:prstDash val="dashDot"/>
            </a:ln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9312" y="1783773"/>
            <a:ext cx="514081" cy="337859"/>
          </a:xfrm>
          <a:prstGeom prst="rect">
            <a:avLst/>
          </a:prstGeom>
        </p:spPr>
      </p:pic>
      <p:pic>
        <p:nvPicPr>
          <p:cNvPr id="20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609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447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40"/>
          <p:cNvSpPr/>
          <p:nvPr/>
        </p:nvSpPr>
        <p:spPr>
          <a:xfrm>
            <a:off x="2808928" y="771229"/>
            <a:ext cx="1478388" cy="315223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2869801" y="3293965"/>
            <a:ext cx="1339807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交换机</a:t>
            </a:r>
          </a:p>
        </p:txBody>
      </p:sp>
      <p:cxnSp>
        <p:nvCxnSpPr>
          <p:cNvPr id="54" name="连接符: 肘形 53"/>
          <p:cNvCxnSpPr>
            <a:stCxn id="20" idx="2"/>
            <a:endCxn id="58" idx="0"/>
          </p:cNvCxnSpPr>
          <p:nvPr/>
        </p:nvCxnSpPr>
        <p:spPr>
          <a:xfrm rot="16200000" flipH="1">
            <a:off x="2735303" y="2697588"/>
            <a:ext cx="1087860" cy="1030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3218575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515560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连接符: 肘形 90"/>
          <p:cNvCxnSpPr>
            <a:stCxn id="21" idx="2"/>
            <a:endCxn id="59" idx="0"/>
          </p:cNvCxnSpPr>
          <p:nvPr/>
        </p:nvCxnSpPr>
        <p:spPr>
          <a:xfrm rot="5400000">
            <a:off x="3221215" y="2611748"/>
            <a:ext cx="1087860" cy="2747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725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563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矩形 93"/>
          <p:cNvSpPr/>
          <p:nvPr/>
        </p:nvSpPr>
        <p:spPr>
          <a:xfrm>
            <a:off x="4405044" y="771229"/>
            <a:ext cx="1478388" cy="315223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4465917" y="3293965"/>
            <a:ext cx="1339807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交换机</a:t>
            </a:r>
          </a:p>
        </p:txBody>
      </p:sp>
      <p:cxnSp>
        <p:nvCxnSpPr>
          <p:cNvPr id="97" name="连接符: 肘形 96"/>
          <p:cNvCxnSpPr>
            <a:stCxn id="92" idx="2"/>
            <a:endCxn id="98" idx="0"/>
          </p:cNvCxnSpPr>
          <p:nvPr/>
        </p:nvCxnSpPr>
        <p:spPr>
          <a:xfrm rot="16200000" flipH="1">
            <a:off x="4331419" y="2697588"/>
            <a:ext cx="1087860" cy="1030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4814691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5111676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连接符: 肘形 99"/>
          <p:cNvCxnSpPr>
            <a:stCxn id="93" idx="2"/>
            <a:endCxn id="99" idx="0"/>
          </p:cNvCxnSpPr>
          <p:nvPr/>
        </p:nvCxnSpPr>
        <p:spPr>
          <a:xfrm rot="5400000">
            <a:off x="4817331" y="2611748"/>
            <a:ext cx="1087860" cy="2747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419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257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矩形 102"/>
          <p:cNvSpPr/>
          <p:nvPr/>
        </p:nvSpPr>
        <p:spPr>
          <a:xfrm>
            <a:off x="6033738" y="771229"/>
            <a:ext cx="1478388" cy="315223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6094611" y="3293965"/>
            <a:ext cx="1339807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交换机</a:t>
            </a:r>
          </a:p>
        </p:txBody>
      </p:sp>
      <p:cxnSp>
        <p:nvCxnSpPr>
          <p:cNvPr id="106" name="连接符: 肘形 105"/>
          <p:cNvCxnSpPr>
            <a:stCxn id="101" idx="2"/>
            <a:endCxn id="107" idx="0"/>
          </p:cNvCxnSpPr>
          <p:nvPr/>
        </p:nvCxnSpPr>
        <p:spPr>
          <a:xfrm rot="16200000" flipH="1">
            <a:off x="5960113" y="2697588"/>
            <a:ext cx="1087860" cy="1030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6443385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6740370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连接符: 肘形 108"/>
          <p:cNvCxnSpPr>
            <a:stCxn id="102" idx="2"/>
            <a:endCxn id="108" idx="0"/>
          </p:cNvCxnSpPr>
          <p:nvPr/>
        </p:nvCxnSpPr>
        <p:spPr>
          <a:xfrm rot="5400000">
            <a:off x="6446025" y="2611748"/>
            <a:ext cx="1087860" cy="2747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363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201" y="1514270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矩形 112"/>
          <p:cNvSpPr/>
          <p:nvPr/>
        </p:nvSpPr>
        <p:spPr>
          <a:xfrm>
            <a:off x="7629682" y="771229"/>
            <a:ext cx="1478388" cy="315223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7690555" y="3293965"/>
            <a:ext cx="1339807" cy="562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交换机</a:t>
            </a:r>
          </a:p>
        </p:txBody>
      </p:sp>
      <p:cxnSp>
        <p:nvCxnSpPr>
          <p:cNvPr id="116" name="连接符: 肘形 115"/>
          <p:cNvCxnSpPr>
            <a:stCxn id="111" idx="2"/>
            <a:endCxn id="117" idx="0"/>
          </p:cNvCxnSpPr>
          <p:nvPr/>
        </p:nvCxnSpPr>
        <p:spPr>
          <a:xfrm rot="16200000" flipH="1">
            <a:off x="7556057" y="2697588"/>
            <a:ext cx="1087860" cy="1030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8039329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/>
          <p:cNvSpPr/>
          <p:nvPr/>
        </p:nvSpPr>
        <p:spPr>
          <a:xfrm>
            <a:off x="8336314" y="3293061"/>
            <a:ext cx="224401" cy="136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连接符: 肘形 118"/>
          <p:cNvCxnSpPr>
            <a:stCxn id="112" idx="2"/>
            <a:endCxn id="118" idx="0"/>
          </p:cNvCxnSpPr>
          <p:nvPr/>
        </p:nvCxnSpPr>
        <p:spPr>
          <a:xfrm rot="5400000">
            <a:off x="8041969" y="2611748"/>
            <a:ext cx="1087860" cy="2747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11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564" y="5725679"/>
            <a:ext cx="2411122" cy="101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" name="图片 1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395" y="3746646"/>
            <a:ext cx="630577" cy="484021"/>
          </a:xfrm>
          <a:prstGeom prst="rect">
            <a:avLst/>
          </a:prstGeom>
        </p:spPr>
      </p:pic>
      <p:pic>
        <p:nvPicPr>
          <p:cNvPr id="126" name="图片 1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531" y="3746646"/>
            <a:ext cx="630577" cy="484021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995" y="3746646"/>
            <a:ext cx="630577" cy="484021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500" y="3746646"/>
            <a:ext cx="630577" cy="484021"/>
          </a:xfrm>
          <a:prstGeom prst="rect">
            <a:avLst/>
          </a:prstGeom>
        </p:spPr>
      </p:pic>
      <p:pic>
        <p:nvPicPr>
          <p:cNvPr id="129" name="图片 12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225" y="3746646"/>
            <a:ext cx="630577" cy="484021"/>
          </a:xfrm>
          <a:prstGeom prst="rect">
            <a:avLst/>
          </a:prstGeom>
        </p:spPr>
      </p:pic>
      <p:cxnSp>
        <p:nvCxnSpPr>
          <p:cNvPr id="136" name="直接连接符 135"/>
          <p:cNvCxnSpPr>
            <a:stCxn id="129" idx="2"/>
            <a:endCxn id="38" idx="0"/>
          </p:cNvCxnSpPr>
          <p:nvPr/>
        </p:nvCxnSpPr>
        <p:spPr>
          <a:xfrm flipH="1">
            <a:off x="7249041" y="4230667"/>
            <a:ext cx="1199473" cy="67026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stCxn id="128" idx="2"/>
            <a:endCxn id="37" idx="0"/>
          </p:cNvCxnSpPr>
          <p:nvPr/>
        </p:nvCxnSpPr>
        <p:spPr>
          <a:xfrm flipH="1">
            <a:off x="6618669" y="4230667"/>
            <a:ext cx="173120" cy="67026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127" idx="2"/>
            <a:endCxn id="36" idx="0"/>
          </p:cNvCxnSpPr>
          <p:nvPr/>
        </p:nvCxnSpPr>
        <p:spPr>
          <a:xfrm>
            <a:off x="5155284" y="4230667"/>
            <a:ext cx="833013" cy="67026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stCxn id="126" idx="2"/>
            <a:endCxn id="35" idx="0"/>
          </p:cNvCxnSpPr>
          <p:nvPr/>
        </p:nvCxnSpPr>
        <p:spPr>
          <a:xfrm>
            <a:off x="3517820" y="4230667"/>
            <a:ext cx="1840105" cy="67026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stCxn id="125" idx="2"/>
            <a:endCxn id="34" idx="0"/>
          </p:cNvCxnSpPr>
          <p:nvPr/>
        </p:nvCxnSpPr>
        <p:spPr>
          <a:xfrm>
            <a:off x="2021684" y="4230667"/>
            <a:ext cx="2705869" cy="67026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1" name="文本框 150"/>
          <p:cNvSpPr txBox="1"/>
          <p:nvPr/>
        </p:nvSpPr>
        <p:spPr>
          <a:xfrm>
            <a:off x="2873975" y="868485"/>
            <a:ext cx="1337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个工控机对接</a:t>
            </a:r>
            <a:r>
              <a:rPr lang="en-US" altLang="zh-CN" sz="1200" dirty="0"/>
              <a:t>200</a:t>
            </a:r>
            <a:r>
              <a:rPr lang="zh-CN" altLang="en-US" sz="1200" dirty="0"/>
              <a:t>台设备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4486391" y="868485"/>
            <a:ext cx="1337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个工控机对接</a:t>
            </a:r>
            <a:r>
              <a:rPr lang="en-US" altLang="zh-CN" sz="1200" dirty="0"/>
              <a:t>200</a:t>
            </a:r>
            <a:r>
              <a:rPr lang="zh-CN" altLang="en-US" sz="1200" dirty="0"/>
              <a:t>台设备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6090688" y="868485"/>
            <a:ext cx="1337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个工控机对接</a:t>
            </a:r>
            <a:r>
              <a:rPr lang="en-US" altLang="zh-CN" sz="1200" dirty="0"/>
              <a:t>200</a:t>
            </a:r>
            <a:r>
              <a:rPr lang="zh-CN" altLang="en-US" sz="1200" dirty="0"/>
              <a:t>台设备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7699984" y="868485"/>
            <a:ext cx="1337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个工控机对接</a:t>
            </a:r>
            <a:r>
              <a:rPr lang="en-US" altLang="zh-CN" sz="1200" dirty="0"/>
              <a:t>200</a:t>
            </a:r>
            <a:r>
              <a:rPr lang="zh-CN" altLang="en-US" sz="1200" dirty="0"/>
              <a:t>台设备</a:t>
            </a: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0934" y="2459767"/>
            <a:ext cx="449635" cy="331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文本框 156"/>
          <p:cNvSpPr txBox="1"/>
          <p:nvPr/>
        </p:nvSpPr>
        <p:spPr>
          <a:xfrm>
            <a:off x="7960690" y="61402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客户负责所有有线、无线网络的架设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网络连接示意图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593977" y="3675899"/>
            <a:ext cx="7961822" cy="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377872" y="1679076"/>
          <a:ext cx="2423622" cy="456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052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网络机柜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WIFI POE</a:t>
                      </a:r>
                      <a:r>
                        <a:rPr lang="zh-CN" altLang="en-US" dirty="0"/>
                        <a:t>交换机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工控机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双网卡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SCADA</a:t>
                      </a:r>
                      <a:r>
                        <a:rPr lang="zh-CN" altLang="en-US" dirty="0"/>
                        <a:t>交换机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SCADA</a:t>
                      </a:r>
                      <a:r>
                        <a:rPr lang="zh-CN" altLang="en-US" dirty="0"/>
                        <a:t>交换机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SCADA</a:t>
                      </a:r>
                      <a:r>
                        <a:rPr lang="zh-CN" altLang="en-US" dirty="0"/>
                        <a:t>交换机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620" y="2002082"/>
            <a:ext cx="864350" cy="860234"/>
          </a:xfrm>
          <a:prstGeom prst="rect">
            <a:avLst/>
          </a:prstGeom>
        </p:spPr>
      </p:pic>
      <p:cxnSp>
        <p:nvCxnSpPr>
          <p:cNvPr id="8" name="直接连接符 7"/>
          <p:cNvCxnSpPr>
            <a:stCxn id="9" idx="3"/>
            <a:endCxn id="6" idx="1"/>
          </p:cNvCxnSpPr>
          <p:nvPr/>
        </p:nvCxnSpPr>
        <p:spPr>
          <a:xfrm>
            <a:off x="7926179" y="2426698"/>
            <a:ext cx="432441" cy="5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801494" y="2266223"/>
            <a:ext cx="124685" cy="320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809816" y="4520740"/>
            <a:ext cx="126000" cy="169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7963661" y="5034145"/>
            <a:ext cx="412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424" y="1441761"/>
            <a:ext cx="1163662" cy="76477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424" y="2479930"/>
            <a:ext cx="1163662" cy="764771"/>
          </a:xfrm>
          <a:prstGeom prst="rect">
            <a:avLst/>
          </a:prstGeom>
        </p:spPr>
      </p:pic>
      <p:pic>
        <p:nvPicPr>
          <p:cNvPr id="14" name="图形 13" descr="Wi Fi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8088" y="2167067"/>
            <a:ext cx="491319" cy="491319"/>
          </a:xfrm>
          <a:prstGeom prst="rect">
            <a:avLst/>
          </a:prstGeom>
        </p:spPr>
      </p:pic>
      <p:pic>
        <p:nvPicPr>
          <p:cNvPr id="15" name="图形 14" descr="Wi Fi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2105" y="1578486"/>
            <a:ext cx="491319" cy="491319"/>
          </a:xfrm>
          <a:prstGeom prst="rect">
            <a:avLst/>
          </a:prstGeom>
        </p:spPr>
      </p:pic>
      <p:pic>
        <p:nvPicPr>
          <p:cNvPr id="16" name="图形 15" descr="Wi Fi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2105" y="2616655"/>
            <a:ext cx="491319" cy="491319"/>
          </a:xfrm>
          <a:prstGeom prst="rect">
            <a:avLst/>
          </a:prstGeom>
        </p:spPr>
      </p:pic>
      <p:cxnSp>
        <p:nvCxnSpPr>
          <p:cNvPr id="17" name="直接连接符 16"/>
          <p:cNvCxnSpPr>
            <a:stCxn id="14" idx="3"/>
            <a:endCxn id="15" idx="1"/>
          </p:cNvCxnSpPr>
          <p:nvPr/>
        </p:nvCxnSpPr>
        <p:spPr>
          <a:xfrm flipV="1">
            <a:off x="9689407" y="1824146"/>
            <a:ext cx="202698" cy="588581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14" idx="3"/>
            <a:endCxn id="16" idx="1"/>
          </p:cNvCxnSpPr>
          <p:nvPr/>
        </p:nvCxnSpPr>
        <p:spPr>
          <a:xfrm>
            <a:off x="9689407" y="2412727"/>
            <a:ext cx="202698" cy="449588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646045" y="208574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办公局域网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76676" y="837980"/>
            <a:ext cx="8604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办公局域网涉密，平板通过</a:t>
            </a:r>
            <a:r>
              <a:rPr lang="en-US" altLang="zh-CN" dirty="0"/>
              <a:t>WIFI</a:t>
            </a:r>
            <a:r>
              <a:rPr lang="zh-CN" altLang="en-US" dirty="0"/>
              <a:t>连接，与工业局域网物理隔离，不共用交换机。</a:t>
            </a:r>
            <a:endParaRPr lang="en-US" altLang="zh-CN" dirty="0"/>
          </a:p>
          <a:p>
            <a:r>
              <a:rPr lang="zh-CN" altLang="en-US" dirty="0"/>
              <a:t>工控机使用双网卡，同时连接两个网段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835120" y="4021128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工业局域网</a:t>
            </a:r>
          </a:p>
        </p:txBody>
      </p:sp>
      <p:sp>
        <p:nvSpPr>
          <p:cNvPr id="22" name="矩形 21"/>
          <p:cNvSpPr/>
          <p:nvPr/>
        </p:nvSpPr>
        <p:spPr>
          <a:xfrm>
            <a:off x="7794209" y="3472758"/>
            <a:ext cx="116362" cy="133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797788" y="3737820"/>
            <a:ext cx="116362" cy="133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8030094" y="3804321"/>
            <a:ext cx="0" cy="8629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117677" y="2708098"/>
            <a:ext cx="0" cy="805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7876734" y="2708098"/>
            <a:ext cx="240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7876734" y="3513245"/>
            <a:ext cx="240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7926179" y="3804321"/>
            <a:ext cx="103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7926179" y="4667250"/>
            <a:ext cx="103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表格 4"/>
          <p:cNvGraphicFramePr>
            <a:graphicFrameLocks noGrp="1"/>
          </p:cNvGraphicFramePr>
          <p:nvPr/>
        </p:nvGraphicFramePr>
        <p:xfrm>
          <a:off x="876676" y="1704015"/>
          <a:ext cx="2423622" cy="3993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052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服务器机柜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模云智能制造系统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3928012" y="3485771"/>
            <a:ext cx="109935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物理隔离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3273730" y="2357542"/>
            <a:ext cx="116362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280917" y="2462394"/>
            <a:ext cx="116362" cy="133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>
            <a:stCxn id="32" idx="3"/>
            <a:endCxn id="33" idx="1"/>
          </p:cNvCxnSpPr>
          <p:nvPr/>
        </p:nvCxnSpPr>
        <p:spPr>
          <a:xfrm flipV="1">
            <a:off x="3390092" y="2528896"/>
            <a:ext cx="1890825" cy="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589046" y="3676278"/>
            <a:ext cx="16192" cy="272452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593977" y="6400801"/>
            <a:ext cx="7961822" cy="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1544434" y="3676278"/>
            <a:ext cx="6391" cy="272452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963661" y="5906527"/>
            <a:ext cx="412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794209" y="2642800"/>
            <a:ext cx="116362" cy="133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1413" y="2455960"/>
            <a:ext cx="684090" cy="172641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1413" y="4726699"/>
            <a:ext cx="684090" cy="172641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1413" y="5306098"/>
            <a:ext cx="684090" cy="172641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1413" y="5885497"/>
            <a:ext cx="684090" cy="172641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299" y="3437389"/>
            <a:ext cx="630577" cy="484021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1413" y="4985938"/>
            <a:ext cx="684090" cy="172641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1413" y="5580479"/>
            <a:ext cx="684090" cy="172641"/>
          </a:xfrm>
          <a:prstGeom prst="rect">
            <a:avLst/>
          </a:prstGeom>
        </p:spPr>
      </p:pic>
      <p:pic>
        <p:nvPicPr>
          <p:cNvPr id="48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438" y="4627832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5" descr="E:\Workspaces\mdb_web\WebRoot\images\tooling\machine\FANUC\TP.jp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438" y="5504305"/>
            <a:ext cx="614161" cy="69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方案设计说明与服务器配置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30200" y="1041399"/>
            <a:ext cx="11493500" cy="5642034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举例：</a:t>
            </a:r>
            <a:r>
              <a:rPr lang="zh-CN" altLang="en-US" dirty="0"/>
              <a:t>对</a:t>
            </a:r>
            <a:r>
              <a:rPr lang="en-US" altLang="zh-CN" dirty="0"/>
              <a:t>980</a:t>
            </a:r>
            <a:r>
              <a:rPr lang="zh-CN" altLang="en-US" dirty="0"/>
              <a:t>台</a:t>
            </a:r>
            <a:r>
              <a:rPr lang="en-US" altLang="zh-CN" dirty="0"/>
              <a:t>CNC</a:t>
            </a:r>
            <a:r>
              <a:rPr lang="zh-CN" altLang="en-US" dirty="0"/>
              <a:t>进行数据采集，每台</a:t>
            </a:r>
            <a:r>
              <a:rPr lang="en-US" altLang="zh-CN" dirty="0"/>
              <a:t>CNC</a:t>
            </a:r>
            <a:r>
              <a:rPr lang="zh-CN" altLang="en-US" dirty="0"/>
              <a:t>设备按</a:t>
            </a:r>
            <a:r>
              <a:rPr lang="en-US" altLang="zh-CN" dirty="0"/>
              <a:t>0.5Mbps</a:t>
            </a:r>
            <a:r>
              <a:rPr lang="zh-CN" altLang="en-US" dirty="0"/>
              <a:t>的速率计算，预计需要</a:t>
            </a:r>
            <a:r>
              <a:rPr lang="en-US" altLang="zh-CN" dirty="0"/>
              <a:t>500Mbps</a:t>
            </a:r>
            <a:r>
              <a:rPr lang="zh-CN" altLang="en-US" dirty="0"/>
              <a:t> 的网络带宽的带宽。采用在现场每</a:t>
            </a:r>
            <a:r>
              <a:rPr lang="en-US" altLang="zh-CN" dirty="0"/>
              <a:t>200</a:t>
            </a:r>
            <a:r>
              <a:rPr lang="zh-CN" altLang="en-US" dirty="0"/>
              <a:t>台分组布置</a:t>
            </a:r>
            <a:r>
              <a:rPr lang="en-US" altLang="zh-CN" dirty="0"/>
              <a:t>1</a:t>
            </a:r>
            <a:r>
              <a:rPr lang="zh-CN" altLang="en-US" dirty="0"/>
              <a:t>台工控机的方案防止网络瓶颈，每台工控机处理的流量</a:t>
            </a:r>
            <a:r>
              <a:rPr lang="en-US" altLang="zh-CN" dirty="0"/>
              <a:t>100mbps</a:t>
            </a:r>
            <a:r>
              <a:rPr lang="zh-CN" altLang="en-US" dirty="0"/>
              <a:t>（</a:t>
            </a:r>
            <a:r>
              <a:rPr lang="en-US" altLang="zh-CN" dirty="0"/>
              <a:t>0.5</a:t>
            </a:r>
            <a:r>
              <a:rPr lang="zh-CN" altLang="en-US" dirty="0"/>
              <a:t>*</a:t>
            </a:r>
            <a:r>
              <a:rPr lang="en-US" altLang="zh-CN" dirty="0"/>
              <a:t>200</a:t>
            </a:r>
            <a:r>
              <a:rPr lang="zh-CN" altLang="en-US" dirty="0"/>
              <a:t>）。同时，考虑网络安全，工控机采用双网卡，对工业网络与办公网络物理隔离。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dirty="0"/>
              <a:t>【</a:t>
            </a:r>
            <a:r>
              <a:rPr lang="zh-CN" altLang="en-US" dirty="0"/>
              <a:t>可选</a:t>
            </a:r>
            <a:r>
              <a:rPr lang="en-US" altLang="zh-CN" dirty="0"/>
              <a:t>】</a:t>
            </a:r>
            <a:r>
              <a:rPr lang="zh-CN" altLang="en-US" dirty="0"/>
              <a:t>现场可以采用</a:t>
            </a:r>
            <a:r>
              <a:rPr lang="en-US" altLang="zh-CN" dirty="0"/>
              <a:t>Windows</a:t>
            </a:r>
            <a:r>
              <a:rPr lang="zh-CN" altLang="en-US" dirty="0"/>
              <a:t>电脑或平板操作，方便技术员批量上</a:t>
            </a:r>
            <a:r>
              <a:rPr lang="zh-CN" altLang="en-US"/>
              <a:t>传程式：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平板：</a:t>
            </a:r>
            <a:r>
              <a:rPr lang="en-US" altLang="zh-CN" dirty="0"/>
              <a:t>Windows OS</a:t>
            </a:r>
            <a:r>
              <a:rPr lang="zh-CN" altLang="en-US" dirty="0"/>
              <a:t>、分配率 </a:t>
            </a:r>
            <a:r>
              <a:rPr lang="en-US" altLang="zh-CN" dirty="0"/>
              <a:t>1920</a:t>
            </a:r>
            <a:r>
              <a:rPr lang="zh-CN" altLang="en-US" dirty="0"/>
              <a:t>*</a:t>
            </a:r>
            <a:r>
              <a:rPr lang="en-US" altLang="zh-CN" dirty="0"/>
              <a:t>1080</a:t>
            </a:r>
            <a:r>
              <a:rPr lang="zh-CN" altLang="en-US" dirty="0"/>
              <a:t>、</a:t>
            </a:r>
            <a:r>
              <a:rPr lang="en-US" altLang="zh-CN" dirty="0"/>
              <a:t>8G</a:t>
            </a:r>
            <a:r>
              <a:rPr lang="zh-CN" altLang="en-US" dirty="0"/>
              <a:t>以上内存，</a:t>
            </a:r>
            <a:r>
              <a:rPr lang="en-US" altLang="zh-CN" dirty="0"/>
              <a:t>256G SSD</a:t>
            </a:r>
            <a:r>
              <a:rPr lang="zh-CN" altLang="en-US" dirty="0"/>
              <a:t>硬盘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预算每台</a:t>
            </a:r>
            <a:r>
              <a:rPr lang="en-US" altLang="zh-CN" dirty="0"/>
              <a:t>0.5</a:t>
            </a:r>
            <a:r>
              <a:rPr lang="zh-CN" altLang="en-US" dirty="0"/>
              <a:t>万元 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dirty="0"/>
              <a:t>980</a:t>
            </a:r>
            <a:r>
              <a:rPr lang="zh-CN" altLang="en-US" dirty="0"/>
              <a:t>台</a:t>
            </a:r>
            <a:r>
              <a:rPr lang="en-US" altLang="zh-CN" dirty="0"/>
              <a:t>CNC</a:t>
            </a:r>
            <a:r>
              <a:rPr lang="zh-CN" altLang="en-US" dirty="0"/>
              <a:t>，分</a:t>
            </a:r>
            <a:r>
              <a:rPr lang="en-US" altLang="zh-CN" dirty="0"/>
              <a:t>5</a:t>
            </a:r>
            <a:r>
              <a:rPr lang="zh-CN" altLang="en-US" dirty="0"/>
              <a:t>组，每组约</a:t>
            </a:r>
            <a:r>
              <a:rPr lang="en-US" altLang="zh-CN" dirty="0"/>
              <a:t>200</a:t>
            </a:r>
            <a:r>
              <a:rPr lang="zh-CN" altLang="en-US" dirty="0"/>
              <a:t>台</a:t>
            </a:r>
            <a:r>
              <a:rPr lang="en-US" altLang="zh-CN" dirty="0"/>
              <a:t>CNC</a:t>
            </a:r>
            <a:r>
              <a:rPr lang="zh-CN" altLang="en-US" dirty="0"/>
              <a:t>配置</a:t>
            </a:r>
            <a:r>
              <a:rPr lang="en-US" altLang="zh-CN" dirty="0"/>
              <a:t>1</a:t>
            </a:r>
            <a:r>
              <a:rPr lang="zh-CN" altLang="en-US" dirty="0"/>
              <a:t>台工控机：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台</a:t>
            </a:r>
            <a:r>
              <a:rPr lang="en-US" altLang="zh-CN" dirty="0"/>
              <a:t>】</a:t>
            </a:r>
            <a:r>
              <a:rPr lang="zh-CN" altLang="en-US" dirty="0"/>
              <a:t>研华 </a:t>
            </a:r>
            <a:r>
              <a:rPr lang="en-US" altLang="zh-CN" dirty="0"/>
              <a:t>MIC-77H I5-10500\16G\256G MSATA\</a:t>
            </a:r>
            <a:r>
              <a:rPr lang="zh-CN" altLang="en-US" dirty="0"/>
              <a:t>正常</a:t>
            </a:r>
            <a:r>
              <a:rPr lang="en-US" altLang="zh-CN" dirty="0"/>
              <a:t>Win10 64</a:t>
            </a:r>
            <a:r>
              <a:rPr lang="zh-CN" altLang="en-US" dirty="0"/>
              <a:t>位</a:t>
            </a:r>
            <a:r>
              <a:rPr lang="en-US" altLang="zh-CN" dirty="0"/>
              <a:t>\19V</a:t>
            </a:r>
            <a:r>
              <a:rPr lang="zh-CN" altLang="en-US" dirty="0"/>
              <a:t>电源</a:t>
            </a:r>
            <a:endParaRPr lang="en-US" altLang="zh-CN" dirty="0"/>
          </a:p>
          <a:p>
            <a:pPr lvl="1"/>
            <a:r>
              <a:rPr lang="zh-CN" altLang="en-US" dirty="0"/>
              <a:t>预算每台</a:t>
            </a:r>
            <a:r>
              <a:rPr lang="en-US" altLang="zh-CN" dirty="0"/>
              <a:t>1</a:t>
            </a:r>
            <a:r>
              <a:rPr lang="zh-CN" altLang="en-US" dirty="0"/>
              <a:t>万元</a:t>
            </a:r>
            <a:r>
              <a:rPr lang="en-US" altLang="zh-CN" dirty="0"/>
              <a:t> </a:t>
            </a:r>
            <a:r>
              <a:rPr lang="zh-CN" altLang="en-US" dirty="0"/>
              <a:t>，备用</a:t>
            </a:r>
            <a:r>
              <a:rPr lang="en-US" altLang="zh-CN" dirty="0"/>
              <a:t>1</a:t>
            </a:r>
            <a:r>
              <a:rPr lang="zh-CN" altLang="en-US" dirty="0"/>
              <a:t>台。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dirty="0"/>
              <a:t>配置</a:t>
            </a:r>
            <a:r>
              <a:rPr lang="en-US" altLang="zh-CN" dirty="0"/>
              <a:t>1</a:t>
            </a:r>
            <a:r>
              <a:rPr lang="zh-CN" altLang="en-US" dirty="0"/>
              <a:t>个服务器</a:t>
            </a:r>
            <a:r>
              <a:rPr lang="en-US" altLang="zh-CN" dirty="0"/>
              <a:t>(</a:t>
            </a:r>
            <a:r>
              <a:rPr lang="zh-CN" altLang="en-US" dirty="0"/>
              <a:t>物理服务器或虚拟机都可以</a:t>
            </a:r>
            <a:r>
              <a:rPr lang="en-US" altLang="zh-CN" dirty="0"/>
              <a:t>)</a:t>
            </a:r>
            <a:r>
              <a:rPr lang="zh-CN" altLang="en-US" dirty="0"/>
              <a:t>，采用全固态硬盘：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台</a:t>
            </a:r>
            <a:r>
              <a:rPr lang="en-US" altLang="zh-CN" dirty="0"/>
              <a:t>】2.4G 20</a:t>
            </a:r>
            <a:r>
              <a:rPr lang="zh-CN" altLang="en-US" dirty="0"/>
              <a:t>核以上、</a:t>
            </a:r>
            <a:r>
              <a:rPr lang="en-US" altLang="zh-CN" dirty="0"/>
              <a:t>32G 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r>
              <a:rPr lang="zh-CN" altLang="en-US" dirty="0"/>
              <a:t>内存、</a:t>
            </a:r>
            <a:r>
              <a:rPr lang="en-US" altLang="zh-CN" dirty="0"/>
              <a:t>960 SSD </a:t>
            </a:r>
            <a:r>
              <a:rPr lang="zh-CN" altLang="en-US" dirty="0"/>
              <a:t>*</a:t>
            </a:r>
            <a:r>
              <a:rPr lang="en-US" altLang="zh-CN" dirty="0"/>
              <a:t>4</a:t>
            </a:r>
          </a:p>
          <a:p>
            <a:pPr lvl="1"/>
            <a:r>
              <a:rPr lang="zh-CN" altLang="en-US" dirty="0"/>
              <a:t>预算每台</a:t>
            </a:r>
            <a:r>
              <a:rPr lang="en-US" altLang="zh-CN" dirty="0"/>
              <a:t>4.5</a:t>
            </a:r>
            <a:r>
              <a:rPr lang="zh-CN" altLang="en-US" dirty="0"/>
              <a:t>万元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876A7AC-CEEA-46AB-A2D7-0F4F6D3FF7CD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d609bb32-23a3-464a-b83b-8cb9018bf9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</Words>
  <Application>Microsoft Office PowerPoint</Application>
  <PresentationFormat>와이드스크린</PresentationFormat>
  <Paragraphs>43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Wingdings</vt:lpstr>
      <vt:lpstr>Office 主题​​</vt:lpstr>
      <vt:lpstr>模德宝系统网络架构与建议</vt:lpstr>
      <vt:lpstr>网络连接示意图</vt:lpstr>
      <vt:lpstr>方案设计说明与服务器配置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 荣望</dc:creator>
  <cp:lastModifiedBy>임재홍</cp:lastModifiedBy>
  <cp:revision>21</cp:revision>
  <dcterms:created xsi:type="dcterms:W3CDTF">2022-12-01T09:33:00Z</dcterms:created>
  <dcterms:modified xsi:type="dcterms:W3CDTF">2026-05-02T03:02:26Z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0ECBA5A599604850BC1E132AE59B4AA2_12</vt:lpwstr>
  </property>
  <property fmtid="{D5CDD505-2E9C-101B-9397-08002B2CF9AE}" pid="3" name="KSOProductBuildVer">
    <vt:lpwstr>2052-12.1.0.25865</vt:lpwstr>
  </property>
</Properties>
</file>