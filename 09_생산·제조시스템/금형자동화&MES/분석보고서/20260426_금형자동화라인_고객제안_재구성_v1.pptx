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algun Gothic"/>
              </a:rPr>
              <a:t>표지 슬라이드 발표 노트</a:t>
            </a:r>
          </a:p>
          <a:p>
            <a:r>
              <a:rPr sz="1100">
                <a:latin typeface="Malgun Gothic"/>
              </a:rPr>
              <a:t>- 첫 인사: "M&amp;C Electronics Vina의 초정밀 금형 자동화 라인 구축 제안 자료를 보여드리겠습니다."</a:t>
            </a:r>
          </a:p>
          <a:p>
            <a:r>
              <a:rPr sz="1100">
                <a:latin typeface="Malgun Gothic"/>
              </a:rPr>
              <a:t>- 핵심 한 줄: "외주 단가 25% 절감, 금형 수명 2배, 화재·사고 ZERO를 보증하는 라인입니다."</a:t>
            </a:r>
          </a:p>
          <a:p>
            <a:r>
              <a:rPr sz="1100">
                <a:latin typeface="Malgun Gothic"/>
              </a:rPr>
              <a:t>- 프로젝트 코드, 문서번호, 버전, 기밀등급은 미팅 대상에 맞춰 인쇄 직전 갱신</a:t>
            </a:r>
          </a:p>
          <a:p>
            <a:r>
              <a:rPr sz="1100">
                <a:latin typeface="Malgun Gothic"/>
              </a:rPr>
              <a:t>- 양사 로고 병기는 PDF 출력 직전 추가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algun Gothic"/>
              </a:rPr>
              <a:t>Agenda — 5섹션 구조를 먼저 안내하여 고객이 흐름을 예측하게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algun Gothic"/>
              </a:rPr>
              <a:t>Executive Summary 발표 노트</a:t>
            </a:r>
          </a:p>
          <a:p>
            <a:r>
              <a:rPr sz="1100">
                <a:latin typeface="Malgun Gothic"/>
              </a:rPr>
              <a:t>- 4대 KPI를 1초 안에 뇌리에 박는다: 단가 △25%, 수명 ×2, CAPA 월 300만, 사고 ZERO</a:t>
            </a:r>
          </a:p>
          <a:p>
            <a:r>
              <a:rPr sz="1100">
                <a:latin typeface="Malgun Gothic"/>
              </a:rPr>
              <a:t>- 단가 25%는 외주 비교, 200K Shot은 CMM 폐쇄루프 보증, 월 300만은 Lights-out·OEE 85% 기반</a:t>
            </a:r>
          </a:p>
          <a:p>
            <a:r>
              <a:rPr sz="1100">
                <a:latin typeface="Malgun Gothic"/>
              </a:rPr>
              <a:t>- 부록 산식 시트로 "왜 25%인가?" 질문에 즉시 대응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algun Gothic"/>
              </a:rPr>
              <a:t>고객사 4대 통증을 명시하고, "본 라인이 4가지 모두를 해결한다"고 다음 슬라이드로 자연스럽게 연결.</a:t>
            </a:r>
          </a:p>
          <a:p>
            <a:r>
              <a:rPr sz="1100">
                <a:latin typeface="Malgun Gothic"/>
              </a:rPr>
              <a:t>경쟁사 화재 사고 사례가 이미 알려져 있으므로 직접 거론은 피하고 "경쟁사가 겪고 있는 위험" 으로 우회.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algun Gothic"/>
              </a:rPr>
              <a:t>5축 비교는 고객사가 의사결정에서 실제 사용하는 기준에 맞춰 구성. 좌(레이더)·우(표)로 동시에 보여 빠른 비교 가능.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algun Gothic"/>
              </a:rPr>
              <a:t>평면도는 PoC 도면(천진 매개 V2 DWG·총조립도)을 단순화한 것. 발표 시 측면도·3D는 별첨 파일로 함께 제시.</a:t>
            </a:r>
          </a:p>
          <a:p>
            <a:r>
              <a:rPr sz="1100">
                <a:latin typeface="Malgun Gothic"/>
              </a:rPr>
              <a:t>환경 규격(22℃±2℃, 20–75% RH 등)은 슬라이드 하단 캡션에 명기 — 고객 감사 체크리스트와 1:1 대응.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algun Gothic"/>
              </a:rPr>
              <a:t>폐쇄루프(Closed-loop)의 핵심 — CMM 검사가 단순 "검사" 가 아니라 "피드백 데이터 생성"으로 디지털 BOM을 갱신한다.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algun Gothic"/>
              </a:rPr>
              <a:t>Cost Crusher 슬라이드는 외주 단가의 절대값(12,000)을 노출하지 않고 "비율"로만 설명. 부록 시트만 내부용에 절대값 포함.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algun Gothic"/>
              </a:rPr>
              <a:t>200K Shot 보증은 단순 슬로건이 아니라 "보증 조항" 형태로 문서화. 법무팀 검토 후 계약서 별첨으로 제공 가능함을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algun Gothic"/>
              </a:rPr>
              <a:t>5계층 아키텍처(L0 설비 → L4 비즈니스)로 도면·BOM·OEE·재고를 단일 데이터 소스에서 통제. "100% 추적성"이 메시지.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algun Gothic"/>
              </a:rPr>
              <a:t>고객사가 가장 우려하는 "도면·BOM 유출" 에 대한 답. 모더바오 클라우드는 옵션이고, 기본은 사내 폐쇄망 운영임을 명확히.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algun Gothic"/>
              </a:rPr>
              <a:t>경쟁사 화재 사고와의 차별화 포인트. ISO/IATF/AS9100D 인증 진행 현황은 미팅 시 최신 상태 반영.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algun Gothic"/>
              </a:rPr>
              <a:t>월 300만개 CAPA의 정량 근거 슬라이드. 사이클타임·캐비티 수치는 시리즈 결정 후 확정해 인쇄.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algun Gothic"/>
              </a:rPr>
              <a:t>삼성 5월 6일 미팅에서 약속한 "5~6개월 내 완성"을 간트 차트로 입증. 핵심 마일스톤 6개를 한 화면에.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algun Gothic"/>
              </a:rPr>
              <a:t>차별화 5축 — 화재·안전, 납기 안정, 추적성, 단가, 확장성. 경쟁사 화재 사고를 직접 거론하지 않고 "사고 이력 보유" 로 우회.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algun Gothic"/>
              </a:rPr>
              <a:t>TCO 그래프는 "외주가 비싸다"가 아니라 "투자가 빠르게 회수된다"는 메시지로 사용. 상세 가정·민감도는 부록.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>
                <a:latin typeface="Malgun Gothic"/>
              </a:rPr>
              <a:t>Call to Action 발표 노트</a:t>
            </a:r>
          </a:p>
          <a:p>
            <a:r>
              <a:rPr sz="1100">
                <a:latin typeface="Malgun Gothic"/>
              </a:rPr>
              <a:t>- "오늘 미팅 후 우리가 먼저 NDA 초안과 협력업체 등록 신청서를 보내드리겠다" 는 적극적 후속 액션</a:t>
            </a:r>
          </a:p>
          <a:p>
            <a:r>
              <a:rPr sz="1100">
                <a:latin typeface="Malgun Gothic"/>
              </a:rPr>
              <a:t>- Pilot 발주 1~2 금형 → 수명·수율 검증 → 양산 진입 (3~6개월) 로드맵을 명확히</a:t>
            </a:r>
          </a:p>
          <a:p>
            <a:r>
              <a:rPr sz="1100">
                <a:latin typeface="Malgun Gothic"/>
              </a:rPr>
              <a:t>- 마지막 인사: "본 라인은 단순 외주 대체가 아니라, 함께 성장할 수 있는 장기 파트너십입니다."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66"/>
                </a:solidFill>
                <a:latin typeface="Malgun Gothic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algun Gothic"/>
              </a:rPr>
              <a:t>고객사 의사결정 흐름에 맞춘 5섹션 구성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822960" cy="822960"/>
          </a:xfrm>
          <a:prstGeom prst="roundRect">
            <a:avLst>
              <a:gd name="adj" fmla="val 10000"/>
            </a:avLst>
          </a:prstGeom>
          <a:solidFill>
            <a:srgbClr val="2E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0020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2E5C9E"/>
                </a:solidFill>
                <a:latin typeface="Malgun Gothic"/>
              </a:rPr>
              <a:t>Why us — 왜 우리인가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5740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algun Gothic"/>
              </a:rPr>
              <a:t>Pain Point · As-Is/To-Be · KPI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822960" cy="822960"/>
          </a:xfrm>
          <a:prstGeom prst="roundRect">
            <a:avLst>
              <a:gd name="adj" fmla="val 10000"/>
            </a:avLst>
          </a:prstGeom>
          <a:solidFill>
            <a:srgbClr val="1F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56032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1F3A66"/>
                </a:solidFill>
                <a:latin typeface="Malgun Gothic"/>
              </a:rPr>
              <a:t>What we offer — 무엇을 제공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0175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algun Gothic"/>
              </a:rPr>
              <a:t>라인 평면도 · 폐쇄루프 · 라인 구성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74720"/>
            <a:ext cx="822960" cy="822960"/>
          </a:xfrm>
          <a:prstGeom prst="roundRect">
            <a:avLst>
              <a:gd name="adj" fmla="val 10000"/>
            </a:avLst>
          </a:prstGeom>
          <a:solidFill>
            <a:srgbClr val="D4A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520439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D4A24C"/>
                </a:solidFill>
                <a:latin typeface="Malgun Gothic"/>
              </a:rPr>
              <a:t>How it works — 어떻게 작동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977639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algun Gothic"/>
              </a:rPr>
              <a:t>Cost Crusher · 200K 보증 · Digital Brain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434840"/>
            <a:ext cx="822960" cy="822960"/>
          </a:xfrm>
          <a:prstGeom prst="roundRect">
            <a:avLst>
              <a:gd name="adj" fmla="val 10000"/>
            </a:avLst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43484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8056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2E8B57"/>
                </a:solidFill>
                <a:latin typeface="Malgun Gothic"/>
              </a:rPr>
              <a:t>Proof — 입증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93776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algun Gothic"/>
              </a:rPr>
              <a:t>보안 · 안전 · CAPA · 차별화 · TCO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394960"/>
            <a:ext cx="822960" cy="82296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394960"/>
            <a:ext cx="822960" cy="8229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544068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C0392B"/>
                </a:solidFill>
                <a:latin typeface="Malgun Gothic"/>
              </a:rPr>
              <a:t>Next step — 다음 단계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8978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Malgun Gothic"/>
              </a:rPr>
              <a:t>Call to Action · 일정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algun Gothic"/>
              </a:rPr>
              <a:t>M&amp;C Electronics Vina   |   Confidential — 고객 제안용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66"/>
                </a:solidFill>
                <a:latin typeface="Malgun Gothic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algun Gothic"/>
              </a:rPr>
              <a:t>자동화 라인이 만드는 4대 가치</a:t>
            </a:r>
          </a:p>
        </p:txBody>
      </p:sp>
      <p:pic>
        <p:nvPicPr>
          <p:cNvPr id="5" name="Picture 4" descr="01_kpi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11430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76072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Malgun Gothic"/>
              </a:rPr>
              <a:t>출처: 외주 시세 · MoldBao 도입 후 OEE 85% 평균 · 무인 24h 모니터링 — 부록의 산식 시트 참조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algun Gothic"/>
              </a:rPr>
              <a:t>M&amp;C Electronics Vina   |   Confidential — 고객 제안용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C0392B"/>
                </a:solidFill>
                <a:latin typeface="Malgun Gothic"/>
              </a:rPr>
              <a:t>고객사 Pain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algun Gothic"/>
              </a:rPr>
              <a:t>글로벌 단가 압력 · 외주 변동성 · 안전 사고 · 납기 지연</a:t>
            </a:r>
          </a:p>
        </p:txBody>
      </p:sp>
      <p:pic>
        <p:nvPicPr>
          <p:cNvPr id="5" name="Picture 4" descr="02_pain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4937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algun Gothic"/>
              </a:rPr>
              <a:t>M&amp;C Electronics Vina   |   Confidential — 고객 제안용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66"/>
                </a:solidFill>
                <a:latin typeface="Malgun Gothic"/>
              </a:rPr>
              <a:t>As-Is vs To-Be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algun Gothic"/>
              </a:rPr>
              <a:t>단가 · 품질 · 납기 · 추적성 · BCP — 5축 비교</a:t>
            </a:r>
          </a:p>
        </p:txBody>
      </p:sp>
      <p:pic>
        <p:nvPicPr>
          <p:cNvPr id="5" name="Picture 4" descr="03_radar_asis_t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59436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141732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F3A66"/>
                </a:solidFill>
                <a:latin typeface="Malgun Gothic"/>
              </a:rPr>
              <a:t>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141732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Malgun Gothic"/>
              </a:rPr>
              <a:t>As-Is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1417320"/>
            <a:ext cx="1828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2E8B57"/>
                </a:solidFill>
                <a:latin typeface="Malgun Gothic"/>
              </a:rPr>
              <a:t>To-Be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920240"/>
            <a:ext cx="5029200" cy="77724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011680"/>
            <a:ext cx="10972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F3A66"/>
                </a:solidFill>
                <a:latin typeface="Malgun Gothic"/>
              </a:rPr>
              <a:t>단가 경쟁력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011680"/>
            <a:ext cx="173736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Malgun Gothic"/>
              </a:rPr>
              <a:t>외주 변동·인하 압력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0" y="2011680"/>
            <a:ext cx="20116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Malgun Gothic"/>
              </a:rPr>
              <a:t>△25% 안정 인하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2761488"/>
            <a:ext cx="50292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0" y="2852928"/>
            <a:ext cx="10972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F3A66"/>
                </a:solidFill>
                <a:latin typeface="Malgun Gothic"/>
              </a:rPr>
              <a:t>품질·수명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852928"/>
            <a:ext cx="173736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Malgun Gothic"/>
              </a:rPr>
              <a:t>100K Shot, 수기 검사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2852928"/>
            <a:ext cx="20116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Malgun Gothic"/>
              </a:rPr>
              <a:t>200K Shot, CMM 100%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3602736"/>
            <a:ext cx="5029200" cy="77724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3694176"/>
            <a:ext cx="10972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F3A66"/>
                </a:solidFill>
                <a:latin typeface="Malgun Gothic"/>
              </a:rPr>
              <a:t>납기 안정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694176"/>
            <a:ext cx="173736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Malgun Gothic"/>
              </a:rPr>
              <a:t>외주·인력 종속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0" y="3694176"/>
            <a:ext cx="20116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Malgun Gothic"/>
              </a:rPr>
              <a:t>월 300만개 자동 가동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443984"/>
            <a:ext cx="502920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4535424"/>
            <a:ext cx="10972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F3A66"/>
                </a:solidFill>
                <a:latin typeface="Malgun Gothic"/>
              </a:rPr>
              <a:t>데이터 추적성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4535424"/>
            <a:ext cx="173736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Malgun Gothic"/>
              </a:rPr>
              <a:t>수기·종이 BOM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4535424"/>
            <a:ext cx="20116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Malgun Gothic"/>
              </a:rPr>
              <a:t>MES 100% 디지털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5285232"/>
            <a:ext cx="5029200" cy="777240"/>
          </a:xfrm>
          <a:prstGeom prst="rect">
            <a:avLst/>
          </a:prstGeom>
          <a:solidFill>
            <a:srgbClr val="EC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5376672"/>
            <a:ext cx="10972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1F3A66"/>
                </a:solidFill>
                <a:latin typeface="Malgun Gothic"/>
              </a:rPr>
              <a:t>BCP (연속성)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5376672"/>
            <a:ext cx="173736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0392B"/>
                </a:solidFill>
                <a:latin typeface="Malgun Gothic"/>
              </a:rPr>
              <a:t>사고·화재 위험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5376672"/>
            <a:ext cx="201168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Malgun Gothic"/>
              </a:rPr>
              <a:t>사고 ZERO 설계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algun Gothic"/>
              </a:rPr>
              <a:t>M&amp;C Electronics Vina   |   Confidential — 고객 제안용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66"/>
                </a:solidFill>
                <a:latin typeface="Malgun Gothic"/>
              </a:rPr>
              <a:t>라인 평면도(Closed-loop Layout)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algun Gothic"/>
              </a:rPr>
              <a:t>단일 라인 내 가공·검사·세척이 폐쇄 루프로 통합</a:t>
            </a:r>
          </a:p>
        </p:txBody>
      </p:sp>
      <p:pic>
        <p:nvPicPr>
          <p:cNvPr id="5" name="Picture 4" descr="04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5120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algun Gothic"/>
              </a:rPr>
              <a:t>M&amp;C Electronics Vina   |   Confidential — 고객 제안용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66"/>
                </a:solidFill>
                <a:latin typeface="Malgun Gothic"/>
              </a:rPr>
              <a:t>라인 구성 폐쇄 루프(Closed-loop)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algun Gothic"/>
              </a:rPr>
              <a:t>검사 결과 → BOM 자동 보정의 데이터 흐름</a:t>
            </a:r>
          </a:p>
        </p:txBody>
      </p:sp>
      <p:pic>
        <p:nvPicPr>
          <p:cNvPr id="5" name="Picture 4" descr="05_df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4389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65760" y="5669280"/>
            <a:ext cx="2743200" cy="868680"/>
          </a:xfrm>
          <a:prstGeom prst="roundRect">
            <a:avLst>
              <a:gd name="adj" fmla="val 10000"/>
            </a:avLst>
          </a:prstGeom>
          <a:solidFill>
            <a:srgbClr val="1F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CNC 전극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25603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algun Gothic"/>
              </a:rPr>
              <a:t>Komatech KT420A ×4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Malgun Gothic"/>
              </a:rPr>
              <a:t>전극 가공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5669280"/>
            <a:ext cx="2743200" cy="868680"/>
          </a:xfrm>
          <a:prstGeom prst="roundRect">
            <a:avLst>
              <a:gd name="adj" fmla="val 10000"/>
            </a:avLst>
          </a:prstGeom>
          <a:solidFill>
            <a:srgbClr val="2E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571500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CNC 강재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6035040"/>
            <a:ext cx="25603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algun Gothic"/>
              </a:rPr>
              <a:t>Makino V33i ×2 (30K rpm, 60ATC)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Malgun Gothic"/>
              </a:rPr>
              <a:t>강재 가공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5669280"/>
            <a:ext cx="2743200" cy="868680"/>
          </a:xfrm>
          <a:prstGeom prst="roundRect">
            <a:avLst>
              <a:gd name="adj" fmla="val 10000"/>
            </a:avLst>
          </a:prstGeom>
          <a:solidFill>
            <a:srgbClr val="1F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571500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EDM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6035040"/>
            <a:ext cx="25603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algun Gothic"/>
              </a:rPr>
              <a:t>Sodick AL40G ×4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Malgun Gothic"/>
              </a:rPr>
              <a:t>방전 가공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5669280"/>
            <a:ext cx="2743200" cy="868680"/>
          </a:xfrm>
          <a:prstGeom prst="roundRect">
            <a:avLst>
              <a:gd name="adj" fmla="val 10000"/>
            </a:avLst>
          </a:prstGeom>
          <a:solidFill>
            <a:srgbClr val="2E5C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5715000"/>
            <a:ext cx="25603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CMM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6035040"/>
            <a:ext cx="256032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Malgun Gothic"/>
              </a:rPr>
              <a:t>Deren HIT 8127C ×2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Malgun Gothic"/>
              </a:rPr>
              <a:t>전수 검사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algun Gothic"/>
              </a:rPr>
              <a:t>M&amp;C Electronics Vina   |   Confidential — 고객 제안용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66"/>
                </a:solidFill>
                <a:latin typeface="Malgun Gothic"/>
              </a:rPr>
              <a:t>Cost Crusher 메커니즘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algun Gothic"/>
              </a:rPr>
              <a:t>외주 USD 12,000 → 자동화 USD 9,000(△25%)의 3-Step</a:t>
            </a:r>
          </a:p>
        </p:txBody>
      </p:sp>
      <p:pic>
        <p:nvPicPr>
          <p:cNvPr id="5" name="Picture 4" descr="06_cost_crus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4023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486400"/>
            <a:ext cx="11247120" cy="91440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 w="25400">
            <a:solidFill>
              <a:srgbClr val="D4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532120"/>
            <a:ext cx="109728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1F3A66"/>
                </a:solidFill>
                <a:latin typeface="Malgun Gothic"/>
              </a:rPr>
              <a:t>왜 25%인가?  =  인건비 △22%  +  가동률 △15%  +  외주 마진 제거 △15%  +  수율 손실 △7%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43600"/>
            <a:ext cx="109728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algun Gothic"/>
              </a:rPr>
              <a:t>(상세 산식·가정·민감도는 부록 산식 시트 참조 — 회계·생산기술 공동 검증)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algun Gothic"/>
              </a:rPr>
              <a:t>M&amp;C Electronics Vina   |   Confidential — 고객 제안용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66"/>
                </a:solidFill>
                <a:latin typeface="Malgun Gothic"/>
              </a:rPr>
              <a:t>금형 수명 200,000 Shot 보증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algun Gothic"/>
              </a:rPr>
              <a:t>공학적 4축 + 보증 조항</a:t>
            </a:r>
          </a:p>
        </p:txBody>
      </p:sp>
      <p:pic>
        <p:nvPicPr>
          <p:cNvPr id="5" name="Picture 4" descr="07_warranty_200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85800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280160"/>
            <a:ext cx="4389120" cy="4937760"/>
          </a:xfrm>
          <a:prstGeom prst="roundRect">
            <a:avLst>
              <a:gd name="adj" fmla="val 10000"/>
            </a:avLst>
          </a:prstGeom>
          <a:solidFill>
            <a:srgbClr val="F8FBFF"/>
          </a:solidFill>
          <a:ln w="25400">
            <a:solidFill>
              <a:srgbClr val="D4A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371600"/>
            <a:ext cx="42062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D4A24C"/>
                </a:solidFill>
                <a:latin typeface="Malgun Gothic"/>
              </a:rPr>
              <a:t>보증 조항 (Warranty Clause)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828800"/>
            <a:ext cx="420624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>
                <a:solidFill>
                  <a:srgbClr val="555555"/>
                </a:solidFill>
                <a:latin typeface="Malgun Gothic"/>
              </a:rPr>
              <a:t>1. 적용 대상 — 본 라인 제작 정밀 금형(○○ 시리즈)</a:t>
            </a:r>
          </a:p>
          <a:p>
            <a:pPr algn="l"/>
            <a:r>
              <a:rPr sz="1050" b="0">
                <a:solidFill>
                  <a:srgbClr val="555555"/>
                </a:solidFill>
                <a:latin typeface="Malgun Gothic"/>
              </a:rPr>
              <a:t>2. 보증 수량 — 표준 운영 조건에서 200,000 Shot 까지 핵심 인서트·코어 균열·소착 없음</a:t>
            </a:r>
          </a:p>
          <a:p>
            <a:pPr algn="l"/>
            <a:r>
              <a:rPr sz="1050" b="0">
                <a:solidFill>
                  <a:srgbClr val="555555"/>
                </a:solidFill>
                <a:latin typeface="Malgun Gothic"/>
              </a:rPr>
              <a:t>3. 표준 운영 조건</a:t>
            </a:r>
          </a:p>
          <a:p>
            <a:pPr algn="l"/>
            <a:r>
              <a:rPr sz="1050" b="0">
                <a:solidFill>
                  <a:srgbClr val="555555"/>
                </a:solidFill>
                <a:latin typeface="Malgun Gothic"/>
              </a:rPr>
              <a:t>    · 사출온도 ○○℃ ± △℃</a:t>
            </a:r>
          </a:p>
          <a:p>
            <a:pPr algn="l"/>
            <a:r>
              <a:rPr sz="1050" b="0">
                <a:solidFill>
                  <a:srgbClr val="555555"/>
                </a:solidFill>
                <a:latin typeface="Malgun Gothic"/>
              </a:rPr>
              <a:t>    · 충전압 ○○ MPa 이하</a:t>
            </a:r>
          </a:p>
          <a:p>
            <a:pPr algn="l"/>
            <a:r>
              <a:rPr sz="1050" b="0">
                <a:solidFill>
                  <a:srgbClr val="555555"/>
                </a:solidFill>
                <a:latin typeface="Malgun Gothic"/>
              </a:rPr>
              <a:t>    · 이형제 사용, 일 1회 점검</a:t>
            </a:r>
          </a:p>
          <a:p>
            <a:pPr algn="l"/>
            <a:r>
              <a:rPr sz="1050" b="0">
                <a:solidFill>
                  <a:srgbClr val="555555"/>
                </a:solidFill>
                <a:latin typeface="Malgun Gothic"/>
              </a:rPr>
              <a:t>4. 면책 — 비표준 운영, 외부 충격, 비승인 부품 교체</a:t>
            </a:r>
          </a:p>
          <a:p>
            <a:pPr algn="l"/>
            <a:r>
              <a:rPr sz="1050" b="0">
                <a:solidFill>
                  <a:srgbClr val="555555"/>
                </a:solidFill>
                <a:latin typeface="Malgun Gothic"/>
              </a:rPr>
              <a:t>5. 미달 시 책임</a:t>
            </a:r>
          </a:p>
          <a:p>
            <a:pPr algn="l"/>
            <a:r>
              <a:rPr sz="1050" b="0">
                <a:solidFill>
                  <a:srgbClr val="555555"/>
                </a:solidFill>
                <a:latin typeface="Malgun Gothic"/>
              </a:rPr>
              <a:t>    · 100K~200K → 무상 보수</a:t>
            </a:r>
          </a:p>
          <a:p>
            <a:pPr algn="l"/>
            <a:r>
              <a:rPr sz="1050" b="0">
                <a:solidFill>
                  <a:srgbClr val="555555"/>
                </a:solidFill>
                <a:latin typeface="Malgun Gothic"/>
              </a:rPr>
              <a:t>    · 100K 미만 → 전액 교체 또는 비례 환불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algun Gothic"/>
              </a:rPr>
              <a:t>M&amp;C Electronics Vina   |   Confidential — 고객 제안용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66"/>
                </a:solidFill>
                <a:latin typeface="Malgun Gothic"/>
              </a:rPr>
              <a:t>Digital Brain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algun Gothic"/>
              </a:rPr>
              <a:t>MFMS · MES · 디지털 BOM · OEE 100% 가시화</a:t>
            </a:r>
          </a:p>
        </p:txBody>
      </p:sp>
      <p:pic>
        <p:nvPicPr>
          <p:cNvPr id="5" name="Picture 4" descr="08_digital_b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5120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algun Gothic"/>
              </a:rPr>
              <a:t>M&amp;C Electronics Vina   |   Confidential — 고객 제안용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2E5C9E"/>
                </a:solidFill>
                <a:latin typeface="Malgun Gothic"/>
              </a:rPr>
              <a:t>데이터 보안 · IP 보호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algun Gothic"/>
              </a:rPr>
              <a:t>사내 폐쇄망 운영 + 클라우드는 옵션</a:t>
            </a:r>
          </a:p>
        </p:txBody>
      </p:sp>
      <p:pic>
        <p:nvPicPr>
          <p:cNvPr id="5" name="Picture 4" descr="09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Malgun Gothic"/>
              </a:rPr>
              <a:t>삼성·현대 등 대형 고객사 보안 심사 기준 충족 — RBAC · 암호화 · 감사로그 · 2FA · 일방향 게이트웨이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algun Gothic"/>
              </a:rPr>
              <a:t>M&amp;C Electronics Vina   |   Confidential — 고객 제안용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2E8B57"/>
                </a:solidFill>
                <a:latin typeface="Malgun Gothic"/>
              </a:rPr>
              <a:t>안전 · 인증 · EHS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algun Gothic"/>
              </a:rPr>
              <a:t>화재 ZERO 설계 + 24h 무인 모니터링</a:t>
            </a:r>
          </a:p>
        </p:txBody>
      </p:sp>
      <p:pic>
        <p:nvPicPr>
          <p:cNvPr id="5" name="Picture 4" descr="10_safe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5120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algun Gothic"/>
              </a:rPr>
              <a:t>M&amp;C Electronics Vina   |   Confidential — 고객 제안용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66"/>
                </a:solidFill>
                <a:latin typeface="Malgun Gothic"/>
              </a:rPr>
              <a:t>월 300만 개 CAPA 보장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algun Gothic"/>
              </a:rPr>
              <a:t>산출 식 · 인력 변동 무관</a:t>
            </a:r>
          </a:p>
        </p:txBody>
      </p:sp>
      <p:pic>
        <p:nvPicPr>
          <p:cNvPr id="5" name="Picture 4" descr="11_c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Malgun Gothic"/>
              </a:rPr>
              <a:t>OEE 85%는 모더바오 도입 후 평균 가동률("設備有效稼動率") — 1,000여 글로벌 고객사 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algun Gothic"/>
              </a:rPr>
              <a:t>M&amp;C Electronics Vina   |   Confidential — 고객 제안용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66"/>
                </a:solidFill>
                <a:latin typeface="Malgun Gothic"/>
              </a:rPr>
              <a:t>셋업 마일스톤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algun Gothic"/>
              </a:rPr>
              <a:t>5~6개월 내 양산 검증 완료</a:t>
            </a:r>
          </a:p>
        </p:txBody>
      </p:sp>
      <p:pic>
        <p:nvPicPr>
          <p:cNvPr id="5" name="Picture 4" descr="12_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1F3A66"/>
                </a:solidFill>
                <a:latin typeface="Malgun Gothic"/>
              </a:rPr>
              <a:t>M+0 계약·KOM → M+2 HW 운송 → M+4 SW 셋업 → M+5.5 시운전 → M+6 Pilot 양산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algun Gothic"/>
              </a:rPr>
              <a:t>M&amp;C Electronics Vina   |   Confidential — 고객 제안용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C0392B"/>
                </a:solidFill>
                <a:latin typeface="Malgun Gothic"/>
              </a:rPr>
              <a:t>차별화 — 경쟁사 vs 본 자동화 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algun Gothic"/>
              </a:rPr>
              <a:t>5축 비교 한눈에</a:t>
            </a:r>
          </a:p>
        </p:txBody>
      </p:sp>
      <p:pic>
        <p:nvPicPr>
          <p:cNvPr id="5" name="Picture 4" descr="13_di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5029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algun Gothic"/>
              </a:rPr>
              <a:t>M&amp;C Electronics Vina   |   Confidential — 고객 제안용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66"/>
                </a:solidFill>
                <a:latin typeface="Malgun Gothic"/>
              </a:rPr>
              <a:t>5년 TCO 시뮬레이션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algun Gothic"/>
              </a:rPr>
              <a:t>투자 회수 후 본격 누적 절감</a:t>
            </a:r>
          </a:p>
        </p:txBody>
      </p:sp>
      <p:pic>
        <p:nvPicPr>
          <p:cNvPr id="5" name="Picture 4" descr="14_t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Malgun Gothic"/>
              </a:rPr>
              <a:t>가정: 자동화 투자 USD 551K(라인+지그) · 외주 단가 USD 12,000 · 자동화 단가 USD 9,000 · 월 30 금형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  <a:latin typeface="Malgun Gothic"/>
              </a:rPr>
              <a:t>(시리즈별·물량별 시뮬레이션은 부록 엑셀 모델 참조)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algun Gothic"/>
              </a:rPr>
              <a:t>M&amp;C Electronics Vina   |   Confidential — 고객 제안용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1F3A66"/>
                </a:solidFill>
                <a:latin typeface="Malgun Gothic"/>
              </a:rPr>
              <a:t>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41248"/>
            <a:ext cx="11430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Malgun Gothic"/>
              </a:rPr>
              <a:t>협력업체 등록 → Pilot → 양산 → 장기 파트너십</a:t>
            </a:r>
          </a:p>
        </p:txBody>
      </p:sp>
      <p:pic>
        <p:nvPicPr>
          <p:cNvPr id="5" name="Picture 4" descr="15_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11430000" cy="4023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486400"/>
            <a:ext cx="11247120" cy="1097280"/>
          </a:xfrm>
          <a:prstGeom prst="roundRect">
            <a:avLst>
              <a:gd name="adj" fmla="val 10000"/>
            </a:avLst>
          </a:prstGeom>
          <a:solidFill>
            <a:srgbClr val="1F3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577840"/>
            <a:ext cx="10972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>
                <a:solidFill>
                  <a:srgbClr val="D4A24C"/>
                </a:solidFill>
                <a:latin typeface="Malgun Gothic"/>
              </a:rPr>
              <a:t>다음 단계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algun Gothic"/>
              </a:rPr>
              <a:t>5월 6일 대면 미팅 → NDA 체결 → 협력업체 등록 신청서 제출 → Pilot 발주 RFQ 협의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6446520"/>
            <a:ext cx="5943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Malgun Gothic"/>
              </a:rPr>
              <a:t>M&amp;C Electronics Vina   |   Confidential — 고객 제안용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>
                <a:solidFill>
                  <a:srgbClr val="555555"/>
                </a:solidFill>
                <a:latin typeface="Malgun Gothic"/>
              </a:rPr>
              <a:t>17 /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Malgun Gothic"/>
              </a:rPr>
              <a:t>감사합니다.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000" b="0">
                <a:solidFill>
                  <a:srgbClr val="D4A24C"/>
                </a:solidFill>
                <a:latin typeface="Malgun Gothic"/>
              </a:rPr>
              <a:t>Thank you  ·  谢谢  ·  Cảm 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B5C7D8"/>
                </a:solidFill>
                <a:latin typeface="Malgun Gothic"/>
              </a:rPr>
              <a:t>M&amp;C Electronics Vina   |   생산·제조시스템 부문   |   2026.04.26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